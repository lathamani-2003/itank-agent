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68" r:id="rId2"/>
    <p:sldId id="341" r:id="rId3"/>
    <p:sldId id="342" r:id="rId4"/>
    <p:sldId id="343" r:id="rId5"/>
    <p:sldId id="329" r:id="rId6"/>
    <p:sldId id="380" r:id="rId7"/>
    <p:sldId id="425" r:id="rId8"/>
    <p:sldId id="417" r:id="rId9"/>
    <p:sldId id="413" r:id="rId10"/>
    <p:sldId id="405" r:id="rId11"/>
    <p:sldId id="423" r:id="rId12"/>
    <p:sldId id="424" r:id="rId13"/>
    <p:sldId id="427" r:id="rId14"/>
    <p:sldId id="422" r:id="rId15"/>
    <p:sldId id="410" r:id="rId16"/>
    <p:sldId id="418" r:id="rId17"/>
    <p:sldId id="332" r:id="rId18"/>
    <p:sldId id="335" r:id="rId19"/>
    <p:sldId id="419" r:id="rId20"/>
    <p:sldId id="420" r:id="rId21"/>
    <p:sldId id="378" r:id="rId22"/>
    <p:sldId id="403" r:id="rId23"/>
    <p:sldId id="406" r:id="rId24"/>
    <p:sldId id="408" r:id="rId25"/>
    <p:sldId id="401" r:id="rId26"/>
    <p:sldId id="402" r:id="rId27"/>
    <p:sldId id="426" r:id="rId28"/>
    <p:sldId id="416" r:id="rId29"/>
    <p:sldId id="377" r:id="rId30"/>
    <p:sldId id="428" r:id="rId31"/>
    <p:sldId id="383" r:id="rId32"/>
    <p:sldId id="404" r:id="rId33"/>
    <p:sldId id="386" r:id="rId34"/>
    <p:sldId id="388" r:id="rId35"/>
    <p:sldId id="399" r:id="rId36"/>
    <p:sldId id="400" r:id="rId37"/>
    <p:sldId id="389" r:id="rId38"/>
    <p:sldId id="339" r:id="rId39"/>
    <p:sldId id="390" r:id="rId40"/>
    <p:sldId id="391" r:id="rId41"/>
    <p:sldId id="392" r:id="rId42"/>
    <p:sldId id="393" r:id="rId43"/>
    <p:sldId id="394" r:id="rId44"/>
    <p:sldId id="395" r:id="rId45"/>
    <p:sldId id="348" r:id="rId46"/>
    <p:sldId id="349" r:id="rId47"/>
    <p:sldId id="350" r:id="rId48"/>
    <p:sldId id="369" r:id="rId49"/>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CCE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8" autoAdjust="0"/>
    <p:restoredTop sz="58581" autoAdjust="0"/>
  </p:normalViewPr>
  <p:slideViewPr>
    <p:cSldViewPr snapToGrid="0">
      <p:cViewPr varScale="1">
        <p:scale>
          <a:sx n="112" d="100"/>
          <a:sy n="112" d="100"/>
        </p:scale>
        <p:origin x="660" y="108"/>
      </p:cViewPr>
      <p:guideLst>
        <p:guide orient="horz" pos="2137"/>
        <p:guide pos="38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1FBC7DEB-7A80-4BD5-B6E2-648D19C1A52F}" type="datetimeFigureOut">
              <a:rPr lang="en-IN" smtClean="0"/>
              <a:pPr/>
              <a:t>17-08-2026</a:t>
            </a:fld>
            <a:endParaRPr lang="en-IN"/>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8975" y="4759325"/>
            <a:ext cx="5510213" cy="4510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464E3BE0-BFAF-4323-9926-E1E819648E01}" type="slidenum">
              <a:rPr lang="en-IN" smtClean="0"/>
              <a:pPr/>
              <a:t>‹#›</a:t>
            </a:fld>
            <a:endParaRPr lang="en-IN"/>
          </a:p>
        </p:txBody>
      </p:sp>
    </p:spTree>
    <p:extLst>
      <p:ext uri="{BB962C8B-B14F-4D97-AF65-F5344CB8AC3E}">
        <p14:creationId xmlns:p14="http://schemas.microsoft.com/office/powerpoint/2010/main" val="88927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8</a:t>
            </a:fld>
            <a:endParaRPr lang="en-IN"/>
          </a:p>
        </p:txBody>
      </p:sp>
    </p:spTree>
    <p:extLst>
      <p:ext uri="{BB962C8B-B14F-4D97-AF65-F5344CB8AC3E}">
        <p14:creationId xmlns:p14="http://schemas.microsoft.com/office/powerpoint/2010/main" val="542061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10</a:t>
            </a:fld>
            <a:endParaRPr lang="en-IN"/>
          </a:p>
        </p:txBody>
      </p:sp>
    </p:spTree>
    <p:extLst>
      <p:ext uri="{BB962C8B-B14F-4D97-AF65-F5344CB8AC3E}">
        <p14:creationId xmlns:p14="http://schemas.microsoft.com/office/powerpoint/2010/main" val="606454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12</a:t>
            </a:fld>
            <a:endParaRPr lang="en-IN"/>
          </a:p>
        </p:txBody>
      </p:sp>
    </p:spTree>
    <p:extLst>
      <p:ext uri="{BB962C8B-B14F-4D97-AF65-F5344CB8AC3E}">
        <p14:creationId xmlns:p14="http://schemas.microsoft.com/office/powerpoint/2010/main" val="3221652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14</a:t>
            </a:fld>
            <a:endParaRPr lang="en-IN"/>
          </a:p>
        </p:txBody>
      </p:sp>
    </p:spTree>
    <p:extLst>
      <p:ext uri="{BB962C8B-B14F-4D97-AF65-F5344CB8AC3E}">
        <p14:creationId xmlns:p14="http://schemas.microsoft.com/office/powerpoint/2010/main" val="606454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16</a:t>
            </a:fld>
            <a:endParaRPr lang="en-IN"/>
          </a:p>
        </p:txBody>
      </p:sp>
    </p:spTree>
    <p:extLst>
      <p:ext uri="{BB962C8B-B14F-4D97-AF65-F5344CB8AC3E}">
        <p14:creationId xmlns:p14="http://schemas.microsoft.com/office/powerpoint/2010/main" val="362119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22</a:t>
            </a:fld>
            <a:endParaRPr lang="en-IN"/>
          </a:p>
        </p:txBody>
      </p:sp>
    </p:spTree>
    <p:extLst>
      <p:ext uri="{BB962C8B-B14F-4D97-AF65-F5344CB8AC3E}">
        <p14:creationId xmlns:p14="http://schemas.microsoft.com/office/powerpoint/2010/main" val="2461137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24</a:t>
            </a:fld>
            <a:endParaRPr lang="en-IN"/>
          </a:p>
        </p:txBody>
      </p:sp>
    </p:spTree>
    <p:extLst>
      <p:ext uri="{BB962C8B-B14F-4D97-AF65-F5344CB8AC3E}">
        <p14:creationId xmlns:p14="http://schemas.microsoft.com/office/powerpoint/2010/main" val="504022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26</a:t>
            </a:fld>
            <a:endParaRPr lang="en-IN"/>
          </a:p>
        </p:txBody>
      </p:sp>
    </p:spTree>
    <p:extLst>
      <p:ext uri="{BB962C8B-B14F-4D97-AF65-F5344CB8AC3E}">
        <p14:creationId xmlns:p14="http://schemas.microsoft.com/office/powerpoint/2010/main" val="2606623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27</a:t>
            </a:fld>
            <a:endParaRPr lang="en-IN"/>
          </a:p>
        </p:txBody>
      </p:sp>
    </p:spTree>
    <p:extLst>
      <p:ext uri="{BB962C8B-B14F-4D97-AF65-F5344CB8AC3E}">
        <p14:creationId xmlns:p14="http://schemas.microsoft.com/office/powerpoint/2010/main" val="3402803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41</a:t>
            </a:fld>
            <a:endParaRPr lang="en-IN"/>
          </a:p>
        </p:txBody>
      </p:sp>
    </p:spTree>
    <p:extLst>
      <p:ext uri="{BB962C8B-B14F-4D97-AF65-F5344CB8AC3E}">
        <p14:creationId xmlns:p14="http://schemas.microsoft.com/office/powerpoint/2010/main" val="346658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2A819E1-6B78-4DBC-B89A-36E88700F062}" type="slidenum">
              <a:rPr lang="en-GB" smtClean="0"/>
              <a:pPr/>
              <a:t>42</a:t>
            </a:fld>
            <a:endParaRPr lang="en-GB"/>
          </a:p>
        </p:txBody>
      </p:sp>
    </p:spTree>
    <p:extLst>
      <p:ext uri="{BB962C8B-B14F-4D97-AF65-F5344CB8AC3E}">
        <p14:creationId xmlns:p14="http://schemas.microsoft.com/office/powerpoint/2010/main" val="171239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3" name="Rounded Rectangle 12"/>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ubtitle 8"/>
          <p:cNvSpPr>
            <a:spLocks noGrp="1"/>
          </p:cNvSpPr>
          <p:nvPr>
            <p:ph type="subTitle" idx="1"/>
          </p:nvPr>
        </p:nvSpPr>
        <p:spPr>
          <a:xfrm>
            <a:off x="1727200" y="3200400"/>
            <a:ext cx="8534400" cy="160020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050">
                <a:solidFill>
                  <a:srgbClr val="FFFFFF"/>
                </a:solidFill>
              </a:defRPr>
            </a:lvl1pPr>
          </a:lstStyle>
          <a:p>
            <a:fld id="{A312240D-01E2-402A-A404-35981060E447}" type="slidenum">
              <a:rPr lang="en-IN" smtClean="0"/>
              <a:pPr/>
              <a:t>‹#›</a:t>
            </a:fld>
            <a:endParaRPr lang="en-IN"/>
          </a:p>
        </p:txBody>
      </p:sp>
      <p:sp>
        <p:nvSpPr>
          <p:cNvPr id="7" name="Rectangle 6"/>
          <p:cNvSpPr/>
          <p:nvPr/>
        </p:nvSpPr>
        <p:spPr>
          <a:xfrm>
            <a:off x="83910" y="1449306"/>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83910"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Rectangle 10"/>
          <p:cNvSpPr/>
          <p:nvPr/>
        </p:nvSpPr>
        <p:spPr>
          <a:xfrm>
            <a:off x="83910"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Title 7"/>
          <p:cNvSpPr>
            <a:spLocks noGrp="1"/>
          </p:cNvSpPr>
          <p:nvPr>
            <p:ph type="ctrTitle"/>
          </p:nvPr>
        </p:nvSpPr>
        <p:spPr>
          <a:xfrm>
            <a:off x="609600" y="1505933"/>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823965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5499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0" name="Rounded Rectangle 9"/>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963084" y="952503"/>
            <a:ext cx="10363200" cy="1362075"/>
          </a:xfrm>
        </p:spPr>
        <p:txBody>
          <a:bodyPr anchor="b" anchorCtr="0"/>
          <a:lstStyle>
            <a:lvl1pPr algn="l">
              <a:buNone/>
              <a:defRPr sz="3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1"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2197" y="2341478"/>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Rectangle 8"/>
          <p:cNvSpPr/>
          <p:nvPr/>
        </p:nvSpPr>
        <p:spPr>
          <a:xfrm>
            <a:off x="91077"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6" name="Slide Number Placeholder 5"/>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44166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3093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58631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49031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179853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1219200" y="273050"/>
            <a:ext cx="10363200" cy="1143000"/>
          </a:xfrm>
        </p:spPr>
        <p:txBody>
          <a:bodyPr anchor="b" anchorCtr="0"/>
          <a:lstStyle>
            <a:lvl1pPr algn="l">
              <a:buNone/>
              <a:defRPr sz="3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350"/>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99009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1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20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a:xfrm>
            <a:off x="91346" y="4650477"/>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Rectangle 12"/>
          <p:cNvSpPr/>
          <p:nvPr/>
        </p:nvSpPr>
        <p:spPr>
          <a:xfrm>
            <a:off x="91349" y="4773227"/>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 name="Picture Placeholder 2"/>
          <p:cNvSpPr>
            <a:spLocks noGrp="1"/>
          </p:cNvSpPr>
          <p:nvPr>
            <p:ph type="pic" idx="1"/>
          </p:nvPr>
        </p:nvSpPr>
        <p:spPr>
          <a:xfrm>
            <a:off x="91080" y="66678"/>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2400"/>
            </a:lvl1pPr>
          </a:lstStyle>
          <a:p>
            <a:r>
              <a:rPr kumimoji="0" lang="en-US"/>
              <a:t>Click icon to add picture</a:t>
            </a:r>
            <a:endParaRPr kumimoji="0" lang="en-US" dirty="0"/>
          </a:p>
        </p:txBody>
      </p:sp>
    </p:spTree>
    <p:extLst>
      <p:ext uri="{BB962C8B-B14F-4D97-AF65-F5344CB8AC3E}">
        <p14:creationId xmlns:p14="http://schemas.microsoft.com/office/powerpoint/2010/main" val="65039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269069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4"/>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3"/>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51183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050">
                <a:solidFill>
                  <a:schemeClr val="tx2"/>
                </a:solidFill>
              </a:defRPr>
            </a:lvl1pPr>
          </a:lstStyle>
          <a:p>
            <a:fld id="{476A0C6B-A652-4015-B88E-7E26A9FDB063}" type="datetimeFigureOut">
              <a:rPr lang="en-IN" smtClean="0"/>
              <a:pPr/>
              <a:t>17-08-2026</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05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050">
                <a:solidFill>
                  <a:srgbClr val="FFFFFF"/>
                </a:solidFill>
                <a:latin typeface="+mj-lt"/>
                <a:ea typeface="+mj-ea"/>
                <a:cs typeface="+mj-cs"/>
              </a:defRPr>
            </a:lvl1pPr>
          </a:lstStyle>
          <a:p>
            <a:fld id="{A312240D-01E2-402A-A404-35981060E447}" type="slidenum">
              <a:rPr lang="en-IN" smtClean="0"/>
              <a:pPr/>
              <a:t>‹#›</a:t>
            </a:fld>
            <a:endParaRPr lang="en-IN"/>
          </a:p>
        </p:txBody>
      </p:sp>
    </p:spTree>
    <p:extLst>
      <p:ext uri="{BB962C8B-B14F-4D97-AF65-F5344CB8AC3E}">
        <p14:creationId xmlns:p14="http://schemas.microsoft.com/office/powerpoint/2010/main" val="236939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kern="1200">
          <a:solidFill>
            <a:schemeClr val="tx2"/>
          </a:solidFill>
          <a:latin typeface="+mj-lt"/>
          <a:ea typeface="+mj-ea"/>
          <a:cs typeface="+mj-cs"/>
        </a:defRPr>
      </a:lvl1pPr>
    </p:titleStyle>
    <p:bodyStyle>
      <a:lvl1pPr marL="205740" indent="-205740" algn="l" rtl="0" eaLnBrk="1" latinLnBrk="0" hangingPunct="1">
        <a:spcBef>
          <a:spcPts val="435"/>
        </a:spcBef>
        <a:buClr>
          <a:schemeClr val="accent1"/>
        </a:buClr>
        <a:buSzPct val="85000"/>
        <a:buFont typeface="Wingdings 2"/>
        <a:buChar char=""/>
        <a:defRPr kumimoji="0" sz="1950" kern="1200">
          <a:solidFill>
            <a:schemeClr val="tx1"/>
          </a:solidFill>
          <a:latin typeface="+mn-lt"/>
          <a:ea typeface="+mn-ea"/>
          <a:cs typeface="+mn-cs"/>
        </a:defRPr>
      </a:lvl1pPr>
      <a:lvl2pPr marL="411480" indent="-171450" algn="l" rtl="0" eaLnBrk="1" latinLnBrk="0" hangingPunct="1">
        <a:spcBef>
          <a:spcPts val="278"/>
        </a:spcBef>
        <a:buClr>
          <a:schemeClr val="accent2"/>
        </a:buClr>
        <a:buSzPct val="85000"/>
        <a:buFont typeface="Wingdings 2"/>
        <a:buChar char=""/>
        <a:defRPr kumimoji="0" sz="1800" kern="1200">
          <a:solidFill>
            <a:schemeClr val="tx1"/>
          </a:solidFill>
          <a:latin typeface="+mn-lt"/>
          <a:ea typeface="+mn-ea"/>
          <a:cs typeface="+mn-cs"/>
        </a:defRPr>
      </a:lvl2pPr>
      <a:lvl3pPr marL="617220" indent="-171450" algn="l" rtl="0" eaLnBrk="1" latinLnBrk="0" hangingPunct="1">
        <a:spcBef>
          <a:spcPts val="278"/>
        </a:spcBef>
        <a:buClr>
          <a:schemeClr val="accent1">
            <a:tint val="60000"/>
          </a:schemeClr>
        </a:buClr>
        <a:buSzPct val="85000"/>
        <a:buFont typeface="Wingdings 2"/>
        <a:buChar char=""/>
        <a:defRPr kumimoji="0" sz="1500" kern="1200">
          <a:solidFill>
            <a:schemeClr val="tx1"/>
          </a:solidFill>
          <a:latin typeface="+mn-lt"/>
          <a:ea typeface="+mn-ea"/>
          <a:cs typeface="+mn-cs"/>
        </a:defRPr>
      </a:lvl3pPr>
      <a:lvl4pPr marL="822960" indent="-171450" algn="l" rtl="0" eaLnBrk="1" latinLnBrk="0" hangingPunct="1">
        <a:spcBef>
          <a:spcPts val="278"/>
        </a:spcBef>
        <a:buClr>
          <a:schemeClr val="accent3"/>
        </a:buClr>
        <a:buSzPct val="80000"/>
        <a:buFont typeface="Wingdings 2"/>
        <a:buChar char=""/>
        <a:defRPr kumimoji="0" sz="1500" kern="1200">
          <a:solidFill>
            <a:schemeClr val="tx1"/>
          </a:solidFill>
          <a:latin typeface="+mn-lt"/>
          <a:ea typeface="+mn-ea"/>
          <a:cs typeface="+mn-cs"/>
        </a:defRPr>
      </a:lvl4pPr>
      <a:lvl5pPr marL="1028700" indent="-171450" algn="l" rtl="0" eaLnBrk="1" latinLnBrk="0" hangingPunct="1">
        <a:spcBef>
          <a:spcPts val="278"/>
        </a:spcBef>
        <a:buClr>
          <a:schemeClr val="accent3"/>
        </a:buClr>
        <a:buFontTx/>
        <a:buChar char="o"/>
        <a:defRPr kumimoji="0"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9.jpeg"/><Relationship Id="rId10" Type="http://schemas.openxmlformats.org/officeDocument/2006/relationships/image" Target="../media/image4.png"/><Relationship Id="rId4" Type="http://schemas.openxmlformats.org/officeDocument/2006/relationships/image" Target="../media/image8.jpe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jpe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4.png"/><Relationship Id="rId9"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22.jp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22.jp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1.png"/><Relationship Id="rId7" Type="http://schemas.openxmlformats.org/officeDocument/2006/relationships/image" Target="../media/image30.png"/><Relationship Id="rId12" Type="http://schemas.openxmlformats.org/officeDocument/2006/relationships/image" Target="../media/image10.png"/><Relationship Id="rId2" Type="http://schemas.openxmlformats.org/officeDocument/2006/relationships/image" Target="../media/image27.png"/><Relationship Id="rId1" Type="http://schemas.openxmlformats.org/officeDocument/2006/relationships/slideLayout" Target="../slideLayouts/slideLayout6.xml"/><Relationship Id="rId6" Type="http://schemas.openxmlformats.org/officeDocument/2006/relationships/image" Target="../media/image29.png"/><Relationship Id="rId11" Type="http://schemas.openxmlformats.org/officeDocument/2006/relationships/image" Target="../media/image14.png"/><Relationship Id="rId5" Type="http://schemas.openxmlformats.org/officeDocument/2006/relationships/image" Target="../media/image28.png"/><Relationship Id="rId10" Type="http://schemas.openxmlformats.org/officeDocument/2006/relationships/image" Target="../media/image11.png"/><Relationship Id="rId4" Type="http://schemas.openxmlformats.org/officeDocument/2006/relationships/image" Target="../media/image16.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1.png"/><Relationship Id="rId7" Type="http://schemas.openxmlformats.org/officeDocument/2006/relationships/image" Target="../media/image14.png"/><Relationship Id="rId2" Type="http://schemas.openxmlformats.org/officeDocument/2006/relationships/image" Target="../media/image27.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6.jpe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4.png"/><Relationship Id="rId4" Type="http://schemas.openxmlformats.org/officeDocument/2006/relationships/image" Target="../media/image23.jpeg"/><Relationship Id="rId9" Type="http://schemas.openxmlformats.org/officeDocument/2006/relationships/image" Target="../media/image38.jpe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39.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0.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6.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1.png"/><Relationship Id="rId7" Type="http://schemas.openxmlformats.org/officeDocument/2006/relationships/image" Target="../media/image47.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50.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image" Target="../media/image45.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53.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jpeg"/><Relationship Id="rId18" Type="http://schemas.openxmlformats.org/officeDocument/2006/relationships/image" Target="../media/image71.jpeg"/><Relationship Id="rId3" Type="http://schemas.openxmlformats.org/officeDocument/2006/relationships/image" Target="../media/image56.png"/><Relationship Id="rId21" Type="http://schemas.openxmlformats.org/officeDocument/2006/relationships/image" Target="../media/image74.png"/><Relationship Id="rId7" Type="http://schemas.openxmlformats.org/officeDocument/2006/relationships/image" Target="../media/image60.png"/><Relationship Id="rId12" Type="http://schemas.openxmlformats.org/officeDocument/2006/relationships/image" Target="../media/image65.jpeg"/><Relationship Id="rId17" Type="http://schemas.openxmlformats.org/officeDocument/2006/relationships/image" Target="../media/image70.jpeg"/><Relationship Id="rId2" Type="http://schemas.openxmlformats.org/officeDocument/2006/relationships/image" Target="../media/image55.jpeg"/><Relationship Id="rId16" Type="http://schemas.openxmlformats.org/officeDocument/2006/relationships/image" Target="../media/image69.jpeg"/><Relationship Id="rId20" Type="http://schemas.openxmlformats.org/officeDocument/2006/relationships/image" Target="../media/image73.jpeg"/><Relationship Id="rId1" Type="http://schemas.openxmlformats.org/officeDocument/2006/relationships/slideLayout" Target="../slideLayouts/slideLayout7.xml"/><Relationship Id="rId6" Type="http://schemas.openxmlformats.org/officeDocument/2006/relationships/image" Target="../media/image59.jpeg"/><Relationship Id="rId11" Type="http://schemas.openxmlformats.org/officeDocument/2006/relationships/image" Target="../media/image64.jpeg"/><Relationship Id="rId5" Type="http://schemas.openxmlformats.org/officeDocument/2006/relationships/image" Target="../media/image58.png"/><Relationship Id="rId15" Type="http://schemas.openxmlformats.org/officeDocument/2006/relationships/image" Target="../media/image68.jpeg"/><Relationship Id="rId10" Type="http://schemas.openxmlformats.org/officeDocument/2006/relationships/image" Target="../media/image63.jpeg"/><Relationship Id="rId19" Type="http://schemas.openxmlformats.org/officeDocument/2006/relationships/image" Target="../media/image72.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 Id="rId22" Type="http://schemas.openxmlformats.org/officeDocument/2006/relationships/image" Target="../media/image4.png"/></Relationships>
</file>

<file path=ppt/slides/_rels/slide40.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4.png"/><Relationship Id="rId3" Type="http://schemas.openxmlformats.org/officeDocument/2006/relationships/image" Target="../media/image76.png"/><Relationship Id="rId21" Type="http://schemas.openxmlformats.org/officeDocument/2006/relationships/image" Target="../media/image93.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 Type="http://schemas.openxmlformats.org/officeDocument/2006/relationships/image" Target="../media/image75.jpeg"/><Relationship Id="rId16" Type="http://schemas.openxmlformats.org/officeDocument/2006/relationships/image" Target="../media/image89.jpeg"/><Relationship Id="rId20"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79.jpeg"/><Relationship Id="rId11" Type="http://schemas.openxmlformats.org/officeDocument/2006/relationships/image" Target="../media/image84.jpeg"/><Relationship Id="rId5" Type="http://schemas.openxmlformats.org/officeDocument/2006/relationships/image" Target="../media/image78.jpeg"/><Relationship Id="rId15" Type="http://schemas.openxmlformats.org/officeDocument/2006/relationships/image" Target="../media/image88.jpeg"/><Relationship Id="rId10" Type="http://schemas.openxmlformats.org/officeDocument/2006/relationships/image" Target="../media/image83.jpeg"/><Relationship Id="rId19" Type="http://schemas.openxmlformats.org/officeDocument/2006/relationships/image" Target="../media/image91.png"/><Relationship Id="rId4" Type="http://schemas.openxmlformats.org/officeDocument/2006/relationships/image" Target="../media/image77.jpeg"/><Relationship Id="rId9" Type="http://schemas.openxmlformats.org/officeDocument/2006/relationships/image" Target="../media/image82.jpeg"/><Relationship Id="rId14" Type="http://schemas.openxmlformats.org/officeDocument/2006/relationships/image" Target="../media/image87.jpeg"/><Relationship Id="rId22" Type="http://schemas.openxmlformats.org/officeDocument/2006/relationships/image" Target="../media/image94.png"/></Relationships>
</file>

<file path=ppt/slides/_rels/slide41.xml.rels><?xml version="1.0" encoding="UTF-8" standalone="yes"?>
<Relationships xmlns="http://schemas.openxmlformats.org/package/2006/relationships"><Relationship Id="rId8" Type="http://schemas.openxmlformats.org/officeDocument/2006/relationships/image" Target="../media/image100.jpeg"/><Relationship Id="rId13" Type="http://schemas.openxmlformats.org/officeDocument/2006/relationships/image" Target="../media/image105.jpeg"/><Relationship Id="rId18" Type="http://schemas.openxmlformats.org/officeDocument/2006/relationships/image" Target="../media/image110.jpeg"/><Relationship Id="rId3" Type="http://schemas.openxmlformats.org/officeDocument/2006/relationships/image" Target="../media/image95.png"/><Relationship Id="rId21" Type="http://schemas.openxmlformats.org/officeDocument/2006/relationships/image" Target="../media/image112.png"/><Relationship Id="rId7" Type="http://schemas.openxmlformats.org/officeDocument/2006/relationships/image" Target="../media/image99.png"/><Relationship Id="rId12" Type="http://schemas.openxmlformats.org/officeDocument/2006/relationships/image" Target="../media/image104.jpeg"/><Relationship Id="rId17" Type="http://schemas.openxmlformats.org/officeDocument/2006/relationships/image" Target="../media/image109.jpeg"/><Relationship Id="rId2" Type="http://schemas.openxmlformats.org/officeDocument/2006/relationships/notesSlide" Target="../notesSlides/notesSlide10.xml"/><Relationship Id="rId16" Type="http://schemas.openxmlformats.org/officeDocument/2006/relationships/image" Target="../media/image108.jpeg"/><Relationship Id="rId20"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98.png"/><Relationship Id="rId11" Type="http://schemas.openxmlformats.org/officeDocument/2006/relationships/image" Target="../media/image103.jpeg"/><Relationship Id="rId5" Type="http://schemas.openxmlformats.org/officeDocument/2006/relationships/image" Target="../media/image97.jpeg"/><Relationship Id="rId15" Type="http://schemas.openxmlformats.org/officeDocument/2006/relationships/image" Target="../media/image107.jpeg"/><Relationship Id="rId23" Type="http://schemas.openxmlformats.org/officeDocument/2006/relationships/image" Target="../media/image114.png"/><Relationship Id="rId10" Type="http://schemas.openxmlformats.org/officeDocument/2006/relationships/image" Target="../media/image102.png"/><Relationship Id="rId19" Type="http://schemas.openxmlformats.org/officeDocument/2006/relationships/image" Target="../media/image4.png"/><Relationship Id="rId4" Type="http://schemas.openxmlformats.org/officeDocument/2006/relationships/image" Target="../media/image96.jpeg"/><Relationship Id="rId9" Type="http://schemas.openxmlformats.org/officeDocument/2006/relationships/image" Target="../media/image101.png"/><Relationship Id="rId14" Type="http://schemas.openxmlformats.org/officeDocument/2006/relationships/image" Target="../media/image106.jpeg"/><Relationship Id="rId22" Type="http://schemas.openxmlformats.org/officeDocument/2006/relationships/image" Target="../media/image113.png"/></Relationships>
</file>

<file path=ppt/slides/_rels/slide42.xml.rels><?xml version="1.0" encoding="UTF-8" standalone="yes"?>
<Relationships xmlns="http://schemas.openxmlformats.org/package/2006/relationships"><Relationship Id="rId8" Type="http://schemas.openxmlformats.org/officeDocument/2006/relationships/image" Target="../media/image119.jpeg"/><Relationship Id="rId13" Type="http://schemas.openxmlformats.org/officeDocument/2006/relationships/image" Target="../media/image124.png"/><Relationship Id="rId18" Type="http://schemas.openxmlformats.org/officeDocument/2006/relationships/image" Target="../media/image65.jpeg"/><Relationship Id="rId26" Type="http://schemas.openxmlformats.org/officeDocument/2006/relationships/image" Target="../media/image4.png"/><Relationship Id="rId3" Type="http://schemas.openxmlformats.org/officeDocument/2006/relationships/image" Target="../media/image104.jpeg"/><Relationship Id="rId21" Type="http://schemas.openxmlformats.org/officeDocument/2006/relationships/image" Target="../media/image130.png"/><Relationship Id="rId7" Type="http://schemas.openxmlformats.org/officeDocument/2006/relationships/image" Target="../media/image118.jpeg"/><Relationship Id="rId12" Type="http://schemas.openxmlformats.org/officeDocument/2006/relationships/image" Target="../media/image123.png"/><Relationship Id="rId17" Type="http://schemas.openxmlformats.org/officeDocument/2006/relationships/image" Target="../media/image88.jpeg"/><Relationship Id="rId25" Type="http://schemas.openxmlformats.org/officeDocument/2006/relationships/image" Target="../media/image134.png"/><Relationship Id="rId2" Type="http://schemas.openxmlformats.org/officeDocument/2006/relationships/notesSlide" Target="../notesSlides/notesSlide11.xml"/><Relationship Id="rId16" Type="http://schemas.openxmlformats.org/officeDocument/2006/relationships/image" Target="../media/image127.jpeg"/><Relationship Id="rId20" Type="http://schemas.openxmlformats.org/officeDocument/2006/relationships/image" Target="../media/image129.jpeg"/><Relationship Id="rId1" Type="http://schemas.openxmlformats.org/officeDocument/2006/relationships/slideLayout" Target="../slideLayouts/slideLayout7.xml"/><Relationship Id="rId6" Type="http://schemas.openxmlformats.org/officeDocument/2006/relationships/image" Target="../media/image117.jpeg"/><Relationship Id="rId11" Type="http://schemas.openxmlformats.org/officeDocument/2006/relationships/image" Target="../media/image122.png"/><Relationship Id="rId24" Type="http://schemas.openxmlformats.org/officeDocument/2006/relationships/image" Target="../media/image133.jpeg"/><Relationship Id="rId5" Type="http://schemas.openxmlformats.org/officeDocument/2006/relationships/image" Target="../media/image116.png"/><Relationship Id="rId15" Type="http://schemas.openxmlformats.org/officeDocument/2006/relationships/image" Target="../media/image126.jpeg"/><Relationship Id="rId23" Type="http://schemas.openxmlformats.org/officeDocument/2006/relationships/image" Target="../media/image132.jpeg"/><Relationship Id="rId10" Type="http://schemas.openxmlformats.org/officeDocument/2006/relationships/image" Target="../media/image121.png"/><Relationship Id="rId19" Type="http://schemas.openxmlformats.org/officeDocument/2006/relationships/image" Target="../media/image128.png"/><Relationship Id="rId4" Type="http://schemas.openxmlformats.org/officeDocument/2006/relationships/image" Target="../media/image115.jpeg"/><Relationship Id="rId9" Type="http://schemas.openxmlformats.org/officeDocument/2006/relationships/image" Target="../media/image120.png"/><Relationship Id="rId14" Type="http://schemas.openxmlformats.org/officeDocument/2006/relationships/image" Target="../media/image125.png"/><Relationship Id="rId22" Type="http://schemas.openxmlformats.org/officeDocument/2006/relationships/image" Target="../media/image131.png"/></Relationships>
</file>

<file path=ppt/slides/_rels/slide4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7.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4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7.xml"/><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43.png"/></Relationships>
</file>

<file path=ppt/slides/_rels/slide46.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image" Target="../media/image144.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realtech.in/"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3E14B1-B269-4662-91C1-6E48246C276A}"/>
              </a:ext>
            </a:extLst>
          </p:cNvPr>
          <p:cNvSpPr>
            <a:spLocks noGrp="1"/>
          </p:cNvSpPr>
          <p:nvPr>
            <p:ph type="subTitle" idx="1"/>
          </p:nvPr>
        </p:nvSpPr>
        <p:spPr>
          <a:xfrm>
            <a:off x="1801744" y="335909"/>
            <a:ext cx="8534400" cy="788041"/>
          </a:xfrm>
          <a:solidFill>
            <a:schemeClr val="bg1">
              <a:lumMod val="95000"/>
            </a:schemeClr>
          </a:solidFill>
        </p:spPr>
        <p:txBody>
          <a:bodyPr>
            <a:normAutofit/>
          </a:bodyPr>
          <a:lstStyle/>
          <a:p>
            <a:r>
              <a:rPr lang="en-IN" sz="4400" b="1" dirty="0">
                <a:solidFill>
                  <a:srgbClr val="002060"/>
                </a:solidFill>
                <a:latin typeface="Times New Roman" pitchFamily="18" charset="0"/>
                <a:cs typeface="Times New Roman" pitchFamily="18" charset="0"/>
              </a:rPr>
              <a:t>Smart Water Management System</a:t>
            </a:r>
          </a:p>
        </p:txBody>
      </p:sp>
      <p:sp>
        <p:nvSpPr>
          <p:cNvPr id="2" name="Title 1">
            <a:extLst>
              <a:ext uri="{FF2B5EF4-FFF2-40B4-BE49-F238E27FC236}">
                <a16:creationId xmlns:a16="http://schemas.microsoft.com/office/drawing/2014/main" id="{3997AA46-EED6-4F0C-B70A-E17F53ECB6DE}"/>
              </a:ext>
            </a:extLst>
          </p:cNvPr>
          <p:cNvSpPr>
            <a:spLocks noGrp="1"/>
          </p:cNvSpPr>
          <p:nvPr>
            <p:ph type="ctrTitle"/>
          </p:nvPr>
        </p:nvSpPr>
        <p:spPr/>
        <p:txBody>
          <a:bodyPr>
            <a:normAutofit/>
          </a:bodyPr>
          <a:lstStyle/>
          <a:p>
            <a:r>
              <a:rPr lang="en-US" sz="4800" b="1" dirty="0">
                <a:latin typeface="Times New Roman" pitchFamily="18" charset="0"/>
                <a:cs typeface="Times New Roman" pitchFamily="18" charset="0"/>
              </a:rPr>
              <a:t>YYYYYYYYYYYY</a:t>
            </a:r>
            <a:endParaRPr lang="en-IN" sz="48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B896898E-54BF-44DF-AD9D-7BBDC5CD7C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433" y="3171465"/>
            <a:ext cx="4330699" cy="1265253"/>
          </a:xfrm>
          <a:prstGeom prst="rect">
            <a:avLst/>
          </a:prstGeom>
        </p:spPr>
      </p:pic>
      <p:sp>
        <p:nvSpPr>
          <p:cNvPr id="12" name="TextBox 11">
            <a:extLst>
              <a:ext uri="{FF2B5EF4-FFF2-40B4-BE49-F238E27FC236}">
                <a16:creationId xmlns:a16="http://schemas.microsoft.com/office/drawing/2014/main" id="{64FFA02F-96A8-41A7-A0E8-F5DBCDBB8E11}"/>
              </a:ext>
            </a:extLst>
          </p:cNvPr>
          <p:cNvSpPr txBox="1"/>
          <p:nvPr/>
        </p:nvSpPr>
        <p:spPr>
          <a:xfrm>
            <a:off x="5045683" y="5970943"/>
            <a:ext cx="2046522" cy="707886"/>
          </a:xfrm>
          <a:prstGeom prst="rect">
            <a:avLst/>
          </a:prstGeom>
          <a:noFill/>
        </p:spPr>
        <p:txBody>
          <a:bodyPr wrap="none" rtlCol="0">
            <a:spAutoFit/>
          </a:bodyPr>
          <a:lstStyle/>
          <a:p>
            <a:pPr algn="ctr"/>
            <a:r>
              <a:rPr lang="en-US" sz="2000" b="1" dirty="0">
                <a:solidFill>
                  <a:schemeClr val="accent1"/>
                </a:solidFill>
                <a:latin typeface="Times New Roman" pitchFamily="18" charset="0"/>
                <a:cs typeface="Times New Roman" pitchFamily="18" charset="0"/>
              </a:rPr>
              <a:t>FOR SUPPORT:</a:t>
            </a:r>
            <a:endParaRPr lang="en-IN" sz="2000" b="1" dirty="0">
              <a:solidFill>
                <a:schemeClr val="accent1"/>
              </a:solidFill>
              <a:latin typeface="Times New Roman" pitchFamily="18" charset="0"/>
              <a:cs typeface="Times New Roman" pitchFamily="18" charset="0"/>
            </a:endParaRPr>
          </a:p>
          <a:p>
            <a:pPr algn="ctr"/>
            <a:r>
              <a:rPr lang="en-IN" sz="2000" b="1" dirty="0">
                <a:solidFill>
                  <a:srgbClr val="2DA0E7"/>
                </a:solidFill>
                <a:latin typeface="Times New Roman" pitchFamily="18" charset="0"/>
                <a:cs typeface="Times New Roman" pitchFamily="18" charset="0"/>
              </a:rPr>
              <a:t>@</a:t>
            </a:r>
            <a:r>
              <a:rPr lang="en-IN" sz="2000" b="1" dirty="0">
                <a:solidFill>
                  <a:schemeClr val="accent1"/>
                </a:solidFill>
                <a:latin typeface="Times New Roman" pitchFamily="18" charset="0"/>
                <a:cs typeface="Times New Roman" pitchFamily="18" charset="0"/>
              </a:rPr>
              <a:t> </a:t>
            </a:r>
            <a:r>
              <a:rPr lang="en-IN" sz="2000" b="1" dirty="0">
                <a:solidFill>
                  <a:srgbClr val="00B050"/>
                </a:solidFill>
                <a:latin typeface="Times New Roman" pitchFamily="18" charset="0"/>
                <a:cs typeface="Times New Roman" pitchFamily="18" charset="0"/>
              </a:rPr>
              <a:t>9865212396</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1462" y="4617650"/>
            <a:ext cx="1296364" cy="1296364"/>
          </a:xfrm>
          <a:prstGeom prst="rect">
            <a:avLst/>
          </a:prstGeom>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8713272" y="3171465"/>
            <a:ext cx="2195208" cy="1080876"/>
          </a:xfrm>
          <a:prstGeom prst="rect">
            <a:avLst/>
          </a:prstGeom>
          <a:noFill/>
        </p:spPr>
      </p:pic>
      <p:pic>
        <p:nvPicPr>
          <p:cNvPr id="4" name="Picture 3">
            <a:extLst>
              <a:ext uri="{FF2B5EF4-FFF2-40B4-BE49-F238E27FC236}">
                <a16:creationId xmlns:a16="http://schemas.microsoft.com/office/drawing/2014/main" id="{D67791D3-1893-FE82-0E6F-F357EC9EA1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3905" y="4733190"/>
            <a:ext cx="1237753" cy="1237753"/>
          </a:xfrm>
          <a:prstGeom prst="rect">
            <a:avLst/>
          </a:prstGeom>
        </p:spPr>
      </p:pic>
    </p:spTree>
    <p:extLst>
      <p:ext uri="{BB962C8B-B14F-4D97-AF65-F5344CB8AC3E}">
        <p14:creationId xmlns:p14="http://schemas.microsoft.com/office/powerpoint/2010/main" val="100331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71972" y="69194"/>
            <a:ext cx="10363200" cy="612654"/>
          </a:xfrm>
          <a:prstGeom prst="rect">
            <a:avLst/>
          </a:prstGeom>
        </p:spPr>
        <p:txBody>
          <a:bodyPr bIns="91440" anchor="b" anchorCtr="0">
            <a:no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About i</a:t>
            </a:r>
            <a:r>
              <a:rPr lang="en-US" sz="3200" b="1" u="sng" dirty="0">
                <a:solidFill>
                  <a:srgbClr val="002060"/>
                </a:solidFill>
                <a:latin typeface="Times New Roman" pitchFamily="18" charset="0"/>
                <a:ea typeface="+mj-ea"/>
                <a:cs typeface="Times New Roman" pitchFamily="18" charset="0"/>
              </a:rPr>
              <a:t>-</a:t>
            </a:r>
            <a:r>
              <a:rPr kumimoji="0" lang="en-US" sz="3200" b="1"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p>
        </p:txBody>
      </p:sp>
      <p:sp>
        <p:nvSpPr>
          <p:cNvPr id="7" name="Rectangle 6"/>
          <p:cNvSpPr/>
          <p:nvPr/>
        </p:nvSpPr>
        <p:spPr>
          <a:xfrm>
            <a:off x="159661" y="812797"/>
            <a:ext cx="11858171" cy="5170646"/>
          </a:xfrm>
          <a:prstGeom prst="rect">
            <a:avLst/>
          </a:prstGeom>
        </p:spPr>
        <p:txBody>
          <a:bodyPr wrap="square">
            <a:spAutoFit/>
          </a:bodyPr>
          <a:lstStyle/>
          <a:p>
            <a:pPr>
              <a:lnSpc>
                <a:spcPct val="150000"/>
              </a:lnSpc>
            </a:pPr>
            <a:r>
              <a:rPr lang="en-US" sz="2200" dirty="0">
                <a:latin typeface="Times New Roman" pitchFamily="18" charset="0"/>
                <a:cs typeface="Times New Roman" pitchFamily="18" charset="0"/>
              </a:rPr>
              <a:t>The i-Tank,</a:t>
            </a:r>
          </a:p>
          <a:p>
            <a:pPr algn="just">
              <a:lnSpc>
                <a:spcPct val="150000"/>
              </a:lnSpc>
            </a:pPr>
            <a:r>
              <a:rPr lang="en-US" sz="2200" dirty="0">
                <a:latin typeface="Times New Roman" pitchFamily="18" charset="0"/>
                <a:cs typeface="Times New Roman" pitchFamily="18" charset="0"/>
              </a:rPr>
              <a:t>	An adaptive solution of versatile, modular based and IOT integrated system for automating and reporting water level in tanks at large scale area and numerous in numbers.</a:t>
            </a:r>
          </a:p>
          <a:p>
            <a:pPr>
              <a:lnSpc>
                <a:spcPct val="150000"/>
              </a:lnSpc>
            </a:pPr>
            <a:endParaRPr lang="en-US" sz="2200" dirty="0">
              <a:latin typeface="Times New Roman" pitchFamily="18" charset="0"/>
              <a:cs typeface="Times New Roman" pitchFamily="18" charset="0"/>
            </a:endParaRPr>
          </a:p>
          <a:p>
            <a:pPr>
              <a:lnSpc>
                <a:spcPct val="150000"/>
              </a:lnSpc>
            </a:pPr>
            <a:r>
              <a:rPr lang="en-US" sz="2200" dirty="0">
                <a:latin typeface="Times New Roman" pitchFamily="18" charset="0"/>
                <a:cs typeface="Times New Roman" pitchFamily="18" charset="0"/>
              </a:rPr>
              <a:t>Distinctiveness,</a:t>
            </a:r>
          </a:p>
          <a:p>
            <a:pPr algn="just">
              <a:lnSpc>
                <a:spcPct val="150000"/>
              </a:lnSpc>
            </a:pPr>
            <a:r>
              <a:rPr lang="en-US" sz="2200" dirty="0">
                <a:latin typeface="Times New Roman" pitchFamily="18" charset="0"/>
                <a:cs typeface="Times New Roman" pitchFamily="18" charset="0"/>
              </a:rPr>
              <a:t>	Commercial solutions available for controlling water level in the tanks won't suite present scenarios especially when the tanks are largely spaced. Hence so the i-Tank is with its unique feature of wired and wireless connectivity. Because of this it overcomes complications in wiring and integrating a large scale water distribution system. As the system is with current wireless technology the tanks and pumping stations can even be separated at most to a distance of 5Km &amp; 50+ tanks can be monitored.</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18792"/>
            <a:ext cx="818090" cy="402811"/>
          </a:xfrm>
          <a:prstGeom prst="rect">
            <a:avLst/>
          </a:prstGeom>
          <a:noFill/>
        </p:spPr>
      </p:pic>
    </p:spTree>
    <p:extLst>
      <p:ext uri="{BB962C8B-B14F-4D97-AF65-F5344CB8AC3E}">
        <p14:creationId xmlns:p14="http://schemas.microsoft.com/office/powerpoint/2010/main" val="147224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7993" y="-8467"/>
            <a:ext cx="10363200" cy="687228"/>
          </a:xfrm>
          <a:prstGeom prst="rect">
            <a:avLst/>
          </a:prstGeom>
        </p:spPr>
        <p:txBody>
          <a:bodyPr bIns="91440" anchor="b" anchorCtr="0">
            <a:normAutofit/>
          </a:bodyPr>
          <a:lstStyle/>
          <a:p>
            <a:pPr algn="ctr">
              <a:lnSpc>
                <a:spcPct val="90000"/>
              </a:lnSpc>
              <a:spcBef>
                <a:spcPct val="0"/>
              </a:spcBef>
              <a:defRPr/>
            </a:pPr>
            <a:r>
              <a:rPr lang="en-US" sz="3200" b="1" u="sng" dirty="0">
                <a:solidFill>
                  <a:srgbClr val="002060"/>
                </a:solidFill>
                <a:latin typeface="Times New Roman" pitchFamily="18" charset="0"/>
                <a:cs typeface="Times New Roman" pitchFamily="18" charset="0"/>
              </a:rPr>
              <a:t>i-Tank Features</a:t>
            </a:r>
          </a:p>
        </p:txBody>
      </p:sp>
      <p:sp>
        <p:nvSpPr>
          <p:cNvPr id="11" name="Rectangle 10"/>
          <p:cNvSpPr/>
          <p:nvPr/>
        </p:nvSpPr>
        <p:spPr>
          <a:xfrm>
            <a:off x="203205" y="571581"/>
            <a:ext cx="11901715" cy="6186309"/>
          </a:xfrm>
          <a:prstGeom prst="rect">
            <a:avLst/>
          </a:prstGeom>
        </p:spPr>
        <p:txBody>
          <a:bodyPr wrap="square">
            <a:spAutoFit/>
          </a:bodyPr>
          <a:lstStyle/>
          <a:p>
            <a:pPr>
              <a:buFont typeface="Arial" pitchFamily="34" charset="0"/>
              <a:buChar char="•"/>
            </a:pPr>
            <a:r>
              <a:rPr lang="en-US" sz="2200" dirty="0">
                <a:latin typeface="Times New Roman" pitchFamily="18" charset="0"/>
                <a:cs typeface="Times New Roman" pitchFamily="18" charset="0"/>
              </a:rPr>
              <a:t> Water overflow &amp; dry run is completely prevented.</a:t>
            </a:r>
          </a:p>
          <a:p>
            <a:pPr>
              <a:buFont typeface="Arial" pitchFamily="34" charset="0"/>
              <a:buChar char="•"/>
            </a:pP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All time linear sensor with real time level.</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Manual, Semi-Automatic and Automatic modes.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Valve control for automatic tank switching and refilling.</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Wired or wireless modules up to the range of 5Km, Up to 50+ tanks in total including multiple sump.</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Alarm for high level and low level thresholds.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Consumption report and internet based level monitoring using application and web page.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Motor status, power non-linearity protection and starter actuation status, SMS configuration and      alerts, Suitable for urban, rural and hilly regions.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Inert materialized sensor makes suitable for chemical level measurements also.</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85083"/>
            <a:ext cx="818090" cy="402811"/>
          </a:xfrm>
          <a:prstGeom prst="rect">
            <a:avLst/>
          </a:prstGeom>
          <a:noFill/>
        </p:spPr>
      </p:pic>
    </p:spTree>
    <p:extLst>
      <p:ext uri="{BB962C8B-B14F-4D97-AF65-F5344CB8AC3E}">
        <p14:creationId xmlns:p14="http://schemas.microsoft.com/office/powerpoint/2010/main" val="185611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89F88-4C32-4DA4-BCE7-FA1A7A182454}"/>
              </a:ext>
            </a:extLst>
          </p:cNvPr>
          <p:cNvSpPr>
            <a:spLocks noGrp="1"/>
          </p:cNvSpPr>
          <p:nvPr>
            <p:ph sz="quarter" idx="1"/>
          </p:nvPr>
        </p:nvSpPr>
        <p:spPr>
          <a:xfrm>
            <a:off x="849762" y="895350"/>
            <a:ext cx="4396394" cy="5008418"/>
          </a:xfrm>
        </p:spPr>
        <p:txBody>
          <a:bodyPr>
            <a:normAutofit/>
          </a:bodyPr>
          <a:lstStyle/>
          <a:p>
            <a:pPr marL="0" indent="0" algn="ctr">
              <a:buNone/>
            </a:pPr>
            <a:r>
              <a:rPr lang="en-IN" sz="3300" b="1" u="sng" dirty="0">
                <a:solidFill>
                  <a:srgbClr val="FF0000"/>
                </a:solidFill>
                <a:latin typeface="Times New Roman" pitchFamily="18" charset="0"/>
                <a:cs typeface="Times New Roman" pitchFamily="18" charset="0"/>
              </a:rPr>
              <a:t>Challenges</a:t>
            </a:r>
          </a:p>
          <a:p>
            <a:pPr marL="0" indent="0" algn="ctr">
              <a:buNone/>
            </a:pPr>
            <a:endParaRPr lang="en-IN" sz="2800" b="1" u="sng" dirty="0">
              <a:solidFill>
                <a:srgbClr val="FF0000"/>
              </a:solidFill>
              <a:latin typeface="Times New Roman" pitchFamily="18" charset="0"/>
              <a:cs typeface="Times New Roman" pitchFamily="18" charset="0"/>
            </a:endParaRPr>
          </a:p>
          <a:p>
            <a:r>
              <a:rPr lang="en-IN" sz="2200" dirty="0">
                <a:latin typeface="Times New Roman" pitchFamily="18" charset="0"/>
                <a:cs typeface="Times New Roman" pitchFamily="18" charset="0"/>
              </a:rPr>
              <a:t>Over Flow in OHT</a:t>
            </a:r>
          </a:p>
          <a:p>
            <a:r>
              <a:rPr lang="en-IN" sz="2200" dirty="0">
                <a:latin typeface="Times New Roman" pitchFamily="18" charset="0"/>
                <a:cs typeface="Times New Roman" pitchFamily="18" charset="0"/>
              </a:rPr>
              <a:t>Dry Run</a:t>
            </a:r>
          </a:p>
          <a:p>
            <a:r>
              <a:rPr lang="en-IN" sz="2200" dirty="0">
                <a:latin typeface="Times New Roman" pitchFamily="18" charset="0"/>
                <a:cs typeface="Times New Roman" pitchFamily="18" charset="0"/>
              </a:rPr>
              <a:t>Wastage of Electricity</a:t>
            </a:r>
          </a:p>
          <a:p>
            <a:r>
              <a:rPr lang="en-IN" sz="2200" dirty="0">
                <a:latin typeface="Times New Roman" pitchFamily="18" charset="0"/>
                <a:cs typeface="Times New Roman" pitchFamily="18" charset="0"/>
              </a:rPr>
              <a:t>Man Power Usage</a:t>
            </a:r>
          </a:p>
          <a:p>
            <a:r>
              <a:rPr lang="en-IN" sz="2200" dirty="0">
                <a:latin typeface="Times New Roman" pitchFamily="18" charset="0"/>
                <a:cs typeface="Times New Roman" pitchFamily="18" charset="0"/>
              </a:rPr>
              <a:t>Wastage of Water</a:t>
            </a:r>
          </a:p>
          <a:p>
            <a:r>
              <a:rPr lang="en-IN" sz="2200" dirty="0">
                <a:latin typeface="Times New Roman" pitchFamily="18" charset="0"/>
                <a:cs typeface="Times New Roman" pitchFamily="18" charset="0"/>
              </a:rPr>
              <a:t>Tank Level Not Known</a:t>
            </a:r>
          </a:p>
          <a:p>
            <a:endParaRPr lang="en-IN" sz="2800" b="1"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72EF38D4-2E8E-4D1D-AD76-917C28CC6802}"/>
              </a:ext>
            </a:extLst>
          </p:cNvPr>
          <p:cNvSpPr>
            <a:spLocks noGrp="1"/>
          </p:cNvSpPr>
          <p:nvPr>
            <p:ph sz="quarter" idx="2"/>
          </p:nvPr>
        </p:nvSpPr>
        <p:spPr>
          <a:xfrm>
            <a:off x="5434605" y="909321"/>
            <a:ext cx="6521570" cy="3975947"/>
          </a:xfrm>
        </p:spPr>
        <p:txBody>
          <a:bodyPr>
            <a:normAutofit/>
          </a:bodyPr>
          <a:lstStyle/>
          <a:p>
            <a:pPr marL="0" indent="0" algn="ctr">
              <a:buNone/>
            </a:pPr>
            <a:r>
              <a:rPr lang="en-IN" sz="3300" b="1" u="sng" dirty="0">
                <a:solidFill>
                  <a:srgbClr val="92D050"/>
                </a:solidFill>
                <a:latin typeface="Times New Roman" pitchFamily="18" charset="0"/>
                <a:cs typeface="Times New Roman" pitchFamily="18" charset="0"/>
              </a:rPr>
              <a:t>Solutions from </a:t>
            </a:r>
            <a:r>
              <a:rPr lang="en-US" sz="3300" b="1" u="sng" dirty="0">
                <a:solidFill>
                  <a:srgbClr val="92D050"/>
                </a:solidFill>
                <a:latin typeface="Times New Roman" pitchFamily="18" charset="0"/>
                <a:cs typeface="Times New Roman" pitchFamily="18" charset="0"/>
              </a:rPr>
              <a:t>i</a:t>
            </a:r>
            <a:r>
              <a:rPr lang="en-IN" sz="3300" b="1" u="sng" dirty="0">
                <a:solidFill>
                  <a:srgbClr val="92D050"/>
                </a:solidFill>
                <a:latin typeface="Times New Roman" pitchFamily="18" charset="0"/>
                <a:cs typeface="Times New Roman" pitchFamily="18" charset="0"/>
              </a:rPr>
              <a:t>-Tank</a:t>
            </a:r>
          </a:p>
          <a:p>
            <a:pPr marL="0" indent="0" algn="ctr">
              <a:buNone/>
            </a:pPr>
            <a:endParaRPr lang="en-IN" sz="2800" b="1" u="sng" dirty="0">
              <a:solidFill>
                <a:srgbClr val="92D050"/>
              </a:solidFill>
              <a:latin typeface="Times New Roman" pitchFamily="18" charset="0"/>
              <a:cs typeface="Times New Roman" pitchFamily="18" charset="0"/>
            </a:endParaRPr>
          </a:p>
          <a:p>
            <a:r>
              <a:rPr lang="en-IN" sz="2200" dirty="0">
                <a:latin typeface="Times New Roman" pitchFamily="18" charset="0"/>
                <a:cs typeface="Times New Roman" pitchFamily="18" charset="0"/>
              </a:rPr>
              <a:t>Stops Over Flow</a:t>
            </a:r>
          </a:p>
          <a:p>
            <a:r>
              <a:rPr lang="en-IN" sz="2200" dirty="0">
                <a:latin typeface="Times New Roman" pitchFamily="18" charset="0"/>
                <a:cs typeface="Times New Roman" pitchFamily="18" charset="0"/>
              </a:rPr>
              <a:t>Stops Dry Run</a:t>
            </a:r>
          </a:p>
          <a:p>
            <a:r>
              <a:rPr lang="en-IN" sz="2200" dirty="0">
                <a:latin typeface="Times New Roman" pitchFamily="18" charset="0"/>
                <a:cs typeface="Times New Roman" pitchFamily="18" charset="0"/>
              </a:rPr>
              <a:t>Save Usage of Electricity</a:t>
            </a:r>
          </a:p>
          <a:p>
            <a:r>
              <a:rPr lang="en-IN" sz="2200" dirty="0">
                <a:latin typeface="Times New Roman" pitchFamily="18" charset="0"/>
                <a:cs typeface="Times New Roman" pitchFamily="18" charset="0"/>
              </a:rPr>
              <a:t>Accountability for Water Consumption</a:t>
            </a:r>
          </a:p>
          <a:p>
            <a:r>
              <a:rPr lang="en-IN" sz="2200" dirty="0">
                <a:latin typeface="Times New Roman" pitchFamily="18" charset="0"/>
                <a:cs typeface="Times New Roman" pitchFamily="18" charset="0"/>
              </a:rPr>
              <a:t>Tank Level show as </a:t>
            </a:r>
            <a:r>
              <a:rPr lang="en-IN" sz="2200" dirty="0" err="1">
                <a:latin typeface="Times New Roman" pitchFamily="18" charset="0"/>
                <a:cs typeface="Times New Roman" pitchFamily="18" charset="0"/>
              </a:rPr>
              <a:t>cm,ltrs</a:t>
            </a:r>
            <a:r>
              <a:rPr lang="en-IN" sz="2200" dirty="0">
                <a:latin typeface="Times New Roman" pitchFamily="18" charset="0"/>
                <a:cs typeface="Times New Roman" pitchFamily="18" charset="0"/>
              </a:rPr>
              <a:t>,%</a:t>
            </a:r>
          </a:p>
          <a:p>
            <a:r>
              <a:rPr lang="en-IN" sz="2200" dirty="0">
                <a:latin typeface="Times New Roman" pitchFamily="18" charset="0"/>
                <a:cs typeface="Times New Roman" pitchFamily="18" charset="0"/>
              </a:rPr>
              <a:t>Tank Level Alert for Low &amp; High</a:t>
            </a:r>
          </a:p>
          <a:p>
            <a:r>
              <a:rPr lang="en-IN" sz="2200" dirty="0">
                <a:latin typeface="Times New Roman" pitchFamily="18" charset="0"/>
                <a:cs typeface="Times New Roman" pitchFamily="18" charset="0"/>
              </a:rPr>
              <a:t>Manual, Semi &amp; Automatic System</a:t>
            </a:r>
          </a:p>
        </p:txBody>
      </p:sp>
      <p:pic>
        <p:nvPicPr>
          <p:cNvPr id="5"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819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572416" y="1002127"/>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843" t="16931" r="8479" b="18065"/>
          <a:stretch/>
        </p:blipFill>
        <p:spPr>
          <a:xfrm>
            <a:off x="7999440" y="976499"/>
            <a:ext cx="595037" cy="542952"/>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746060">
            <a:off x="8012814" y="4232181"/>
            <a:ext cx="743429" cy="685009"/>
          </a:xfrm>
          <a:prstGeom prst="rect">
            <a:avLst/>
          </a:prstGeom>
        </p:spPr>
      </p:pic>
      <p:sp>
        <p:nvSpPr>
          <p:cNvPr id="12" name="Flowchart: Process 11">
            <a:extLst>
              <a:ext uri="{FF2B5EF4-FFF2-40B4-BE49-F238E27FC236}">
                <a16:creationId xmlns:a16="http://schemas.microsoft.com/office/drawing/2014/main" id="{DE47567A-8AEB-4470-ABC8-DD727125A46A}"/>
              </a:ext>
            </a:extLst>
          </p:cNvPr>
          <p:cNvSpPr/>
          <p:nvPr/>
        </p:nvSpPr>
        <p:spPr>
          <a:xfrm>
            <a:off x="4058315" y="1014599"/>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MASTER</a:t>
            </a:r>
          </a:p>
        </p:txBody>
      </p:sp>
      <p:sp>
        <p:nvSpPr>
          <p:cNvPr id="13" name="Flowchart: Process 12">
            <a:extLst>
              <a:ext uri="{FF2B5EF4-FFF2-40B4-BE49-F238E27FC236}">
                <a16:creationId xmlns:a16="http://schemas.microsoft.com/office/drawing/2014/main" id="{DE47567A-8AEB-4470-ABC8-DD727125A46A}"/>
              </a:ext>
            </a:extLst>
          </p:cNvPr>
          <p:cNvSpPr/>
          <p:nvPr/>
        </p:nvSpPr>
        <p:spPr>
          <a:xfrm>
            <a:off x="2572415" y="180516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T</a:t>
            </a:r>
          </a:p>
        </p:txBody>
      </p:sp>
      <p:sp>
        <p:nvSpPr>
          <p:cNvPr id="14" name="Flowchart: Process 13">
            <a:extLst>
              <a:ext uri="{FF2B5EF4-FFF2-40B4-BE49-F238E27FC236}">
                <a16:creationId xmlns:a16="http://schemas.microsoft.com/office/drawing/2014/main" id="{DE47567A-8AEB-4470-ABC8-DD727125A46A}"/>
              </a:ext>
            </a:extLst>
          </p:cNvPr>
          <p:cNvSpPr/>
          <p:nvPr/>
        </p:nvSpPr>
        <p:spPr>
          <a:xfrm>
            <a:off x="4067192" y="1805165"/>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TRANSMITTER</a:t>
            </a:r>
          </a:p>
        </p:txBody>
      </p:sp>
      <p:sp>
        <p:nvSpPr>
          <p:cNvPr id="15" name="Flowchart: Process 14">
            <a:extLst>
              <a:ext uri="{FF2B5EF4-FFF2-40B4-BE49-F238E27FC236}">
                <a16:creationId xmlns:a16="http://schemas.microsoft.com/office/drawing/2014/main" id="{DE47567A-8AEB-4470-ABC8-DD727125A46A}"/>
              </a:ext>
            </a:extLst>
          </p:cNvPr>
          <p:cNvSpPr/>
          <p:nvPr/>
        </p:nvSpPr>
        <p:spPr>
          <a:xfrm>
            <a:off x="2572416" y="4294828"/>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LLS</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4079758" y="429482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LINEAR LEVEL SENSOR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sp>
        <p:nvSpPr>
          <p:cNvPr id="23" name="Flowchart: Process 22">
            <a:extLst>
              <a:ext uri="{FF2B5EF4-FFF2-40B4-BE49-F238E27FC236}">
                <a16:creationId xmlns:a16="http://schemas.microsoft.com/office/drawing/2014/main" id="{DE47567A-8AEB-4470-ABC8-DD727125A46A}"/>
              </a:ext>
            </a:extLst>
          </p:cNvPr>
          <p:cNvSpPr/>
          <p:nvPr/>
        </p:nvSpPr>
        <p:spPr>
          <a:xfrm>
            <a:off x="2575674" y="5021758"/>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MV</a:t>
            </a:r>
          </a:p>
        </p:txBody>
      </p:sp>
      <p:sp>
        <p:nvSpPr>
          <p:cNvPr id="24" name="Flowchart: Process 23">
            <a:extLst>
              <a:ext uri="{FF2B5EF4-FFF2-40B4-BE49-F238E27FC236}">
                <a16:creationId xmlns:a16="http://schemas.microsoft.com/office/drawing/2014/main" id="{DE47567A-8AEB-4470-ABC8-DD727125A46A}"/>
              </a:ext>
            </a:extLst>
          </p:cNvPr>
          <p:cNvSpPr/>
          <p:nvPr/>
        </p:nvSpPr>
        <p:spPr>
          <a:xfrm>
            <a:off x="4067841" y="502175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 MOTORIZED VALVE</a:t>
            </a:r>
          </a:p>
        </p:txBody>
      </p:sp>
      <p:sp>
        <p:nvSpPr>
          <p:cNvPr id="25" name="Flowchart: Process 24">
            <a:extLst>
              <a:ext uri="{FF2B5EF4-FFF2-40B4-BE49-F238E27FC236}">
                <a16:creationId xmlns:a16="http://schemas.microsoft.com/office/drawing/2014/main" id="{DE47567A-8AEB-4470-ABC8-DD727125A46A}"/>
              </a:ext>
            </a:extLst>
          </p:cNvPr>
          <p:cNvSpPr/>
          <p:nvPr/>
        </p:nvSpPr>
        <p:spPr>
          <a:xfrm>
            <a:off x="2575673" y="5754110"/>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VCU</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4084194" y="5736133"/>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 UNIT</a:t>
            </a:r>
          </a:p>
        </p:txBody>
      </p:sp>
      <p:pic>
        <p:nvPicPr>
          <p:cNvPr id="27" name="Picture 2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39956" y="5754110"/>
            <a:ext cx="855809" cy="514577"/>
          </a:xfrm>
          <a:prstGeom prst="rect">
            <a:avLst/>
          </a:prstGeom>
        </p:spPr>
      </p:pic>
      <p:sp>
        <p:nvSpPr>
          <p:cNvPr id="32" name="Flowchart: Process 31">
            <a:extLst>
              <a:ext uri="{FF2B5EF4-FFF2-40B4-BE49-F238E27FC236}">
                <a16:creationId xmlns:a16="http://schemas.microsoft.com/office/drawing/2014/main" id="{DE47567A-8AEB-4470-ABC8-DD727125A46A}"/>
              </a:ext>
            </a:extLst>
          </p:cNvPr>
          <p:cNvSpPr/>
          <p:nvPr/>
        </p:nvSpPr>
        <p:spPr>
          <a:xfrm>
            <a:off x="2575673" y="3483071"/>
            <a:ext cx="943906" cy="603995"/>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FF0000"/>
                </a:solidFill>
                <a:latin typeface="Times New Roman" pitchFamily="18" charset="0"/>
                <a:cs typeface="Times New Roman" pitchFamily="18" charset="0"/>
              </a:rPr>
              <a:t>DWG</a:t>
            </a:r>
          </a:p>
        </p:txBody>
      </p:sp>
      <p:sp>
        <p:nvSpPr>
          <p:cNvPr id="33" name="Flowchart: Process 32">
            <a:extLst>
              <a:ext uri="{FF2B5EF4-FFF2-40B4-BE49-F238E27FC236}">
                <a16:creationId xmlns:a16="http://schemas.microsoft.com/office/drawing/2014/main" id="{DE47567A-8AEB-4470-ABC8-DD727125A46A}"/>
              </a:ext>
            </a:extLst>
          </p:cNvPr>
          <p:cNvSpPr/>
          <p:nvPr/>
        </p:nvSpPr>
        <p:spPr>
          <a:xfrm>
            <a:off x="4086552" y="350521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0070C0"/>
                </a:solidFill>
                <a:latin typeface="Times New Roman" pitchFamily="18" charset="0"/>
                <a:cs typeface="Times New Roman" pitchFamily="18" charset="0"/>
              </a:rPr>
              <a:t>DISPLAY WITH GSM</a:t>
            </a:r>
          </a:p>
        </p:txBody>
      </p:sp>
      <p:pic>
        <p:nvPicPr>
          <p:cNvPr id="22" name="Picture 21"/>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23912"/>
          <a:stretch/>
        </p:blipFill>
        <p:spPr>
          <a:xfrm>
            <a:off x="8172179" y="2552274"/>
            <a:ext cx="496616" cy="663471"/>
          </a:xfrm>
          <a:prstGeom prst="rect">
            <a:avLst/>
          </a:prstGeom>
        </p:spPr>
      </p:pic>
      <p:sp>
        <p:nvSpPr>
          <p:cNvPr id="28" name="Flowchart: Process 27">
            <a:extLst>
              <a:ext uri="{FF2B5EF4-FFF2-40B4-BE49-F238E27FC236}">
                <a16:creationId xmlns:a16="http://schemas.microsoft.com/office/drawing/2014/main" id="{DE47567A-8AEB-4470-ABC8-DD727125A46A}"/>
              </a:ext>
            </a:extLst>
          </p:cNvPr>
          <p:cNvSpPr/>
          <p:nvPr/>
        </p:nvSpPr>
        <p:spPr>
          <a:xfrm>
            <a:off x="2569547" y="2656271"/>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R</a:t>
            </a:r>
          </a:p>
        </p:txBody>
      </p:sp>
      <p:sp>
        <p:nvSpPr>
          <p:cNvPr id="30" name="Flowchart: Process 29">
            <a:extLst>
              <a:ext uri="{FF2B5EF4-FFF2-40B4-BE49-F238E27FC236}">
                <a16:creationId xmlns:a16="http://schemas.microsoft.com/office/drawing/2014/main" id="{DE47567A-8AEB-4470-ABC8-DD727125A46A}"/>
              </a:ext>
            </a:extLst>
          </p:cNvPr>
          <p:cNvSpPr/>
          <p:nvPr/>
        </p:nvSpPr>
        <p:spPr>
          <a:xfrm>
            <a:off x="4064324" y="265627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REPEATER</a:t>
            </a: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rot="16200000">
            <a:off x="8049196" y="5137393"/>
            <a:ext cx="630286" cy="396815"/>
          </a:xfrm>
          <a:prstGeom prst="rect">
            <a:avLst/>
          </a:prstGeom>
        </p:spPr>
      </p:pic>
      <p:pic>
        <p:nvPicPr>
          <p:cNvPr id="4" name="Picture 3"/>
          <p:cNvPicPr>
            <a:picLocks noChangeAspect="1"/>
          </p:cNvPicPr>
          <p:nvPr/>
        </p:nvPicPr>
        <p:blipFill rotWithShape="1">
          <a:blip r:embed="rId8" cstate="print">
            <a:extLst>
              <a:ext uri="{28A0092B-C50C-407E-A947-70E740481C1C}">
                <a14:useLocalDpi xmlns:a14="http://schemas.microsoft.com/office/drawing/2010/main" val="0"/>
              </a:ext>
            </a:extLst>
          </a:blip>
          <a:srcRect l="2134" t="10314" r="3677" b="10314"/>
          <a:stretch/>
        </p:blipFill>
        <p:spPr>
          <a:xfrm>
            <a:off x="7970949" y="3498329"/>
            <a:ext cx="878854" cy="592475"/>
          </a:xfrm>
          <a:prstGeom prst="rect">
            <a:avLst/>
          </a:prstGeom>
        </p:spPr>
      </p:pic>
      <p:pic>
        <p:nvPicPr>
          <p:cNvPr id="29" name="Picture 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45330" y="1731325"/>
            <a:ext cx="449147" cy="70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422400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339514" y="1029932"/>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SMC</a:t>
            </a:r>
          </a:p>
        </p:txBody>
      </p:sp>
      <p:sp>
        <p:nvSpPr>
          <p:cNvPr id="12" name="Flowchart: Process 11">
            <a:extLst>
              <a:ext uri="{FF2B5EF4-FFF2-40B4-BE49-F238E27FC236}">
                <a16:creationId xmlns:a16="http://schemas.microsoft.com/office/drawing/2014/main" id="{DE47567A-8AEB-4470-ABC8-DD727125A46A}"/>
              </a:ext>
            </a:extLst>
          </p:cNvPr>
          <p:cNvSpPr/>
          <p:nvPr/>
        </p:nvSpPr>
        <p:spPr>
          <a:xfrm>
            <a:off x="3851291" y="1014599"/>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SMART MOTOR CONTROLLER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pic>
        <p:nvPicPr>
          <p:cNvPr id="1026" name="Picture 2" descr="D:\ITANK ITANK\I Tank Symbol\HD Photos\SMC.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9397" b="10783"/>
          <a:stretch/>
        </p:blipFill>
        <p:spPr bwMode="auto">
          <a:xfrm>
            <a:off x="8867953" y="1009960"/>
            <a:ext cx="707037" cy="564355"/>
          </a:xfrm>
          <a:prstGeom prst="rect">
            <a:avLst/>
          </a:prstGeom>
          <a:noFill/>
          <a:extLst>
            <a:ext uri="{909E8E84-426E-40DD-AFC4-6F175D3DCCD1}">
              <a14:hiddenFill xmlns:a14="http://schemas.microsoft.com/office/drawing/2010/main">
                <a:solidFill>
                  <a:srgbClr val="FFFFFF"/>
                </a:solidFill>
              </a14:hiddenFill>
            </a:ext>
          </a:extLst>
        </p:spPr>
      </p:pic>
      <p:sp>
        <p:nvSpPr>
          <p:cNvPr id="29" name="Flowchart: Process 28">
            <a:extLst>
              <a:ext uri="{FF2B5EF4-FFF2-40B4-BE49-F238E27FC236}">
                <a16:creationId xmlns:a16="http://schemas.microsoft.com/office/drawing/2014/main" id="{DE47567A-8AEB-4470-ABC8-DD727125A46A}"/>
              </a:ext>
            </a:extLst>
          </p:cNvPr>
          <p:cNvSpPr/>
          <p:nvPr/>
        </p:nvSpPr>
        <p:spPr>
          <a:xfrm>
            <a:off x="2336646" y="1855160"/>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VCT</a:t>
            </a:r>
          </a:p>
        </p:txBody>
      </p:sp>
      <p:sp>
        <p:nvSpPr>
          <p:cNvPr id="31" name="Flowchart: Process 30">
            <a:extLst>
              <a:ext uri="{FF2B5EF4-FFF2-40B4-BE49-F238E27FC236}">
                <a16:creationId xmlns:a16="http://schemas.microsoft.com/office/drawing/2014/main" id="{DE47567A-8AEB-4470-ABC8-DD727125A46A}"/>
              </a:ext>
            </a:extLst>
          </p:cNvPr>
          <p:cNvSpPr/>
          <p:nvPr/>
        </p:nvSpPr>
        <p:spPr>
          <a:xfrm>
            <a:off x="3848423" y="1839827"/>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CONTROLLER</a:t>
            </a:r>
          </a:p>
        </p:txBody>
      </p:sp>
      <p:pic>
        <p:nvPicPr>
          <p:cNvPr id="1027" name="Picture 3" descr="D:\ITANK ITANK\I Tank Symbol\HD Photos\VC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631" t="12971" r="26014" b="9374"/>
          <a:stretch/>
        </p:blipFill>
        <p:spPr bwMode="auto">
          <a:xfrm>
            <a:off x="8901899" y="1770314"/>
            <a:ext cx="639144" cy="6987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76457"/>
            <a:ext cx="818090" cy="402811"/>
          </a:xfrm>
          <a:prstGeom prst="rect">
            <a:avLst/>
          </a:prstGeom>
          <a:noFill/>
        </p:spPr>
      </p:pic>
      <p:sp>
        <p:nvSpPr>
          <p:cNvPr id="15" name="Flowchart: Process 14">
            <a:extLst>
              <a:ext uri="{FF2B5EF4-FFF2-40B4-BE49-F238E27FC236}">
                <a16:creationId xmlns:a16="http://schemas.microsoft.com/office/drawing/2014/main" id="{DE47567A-8AEB-4470-ABC8-DD727125A46A}"/>
              </a:ext>
            </a:extLst>
          </p:cNvPr>
          <p:cNvSpPr/>
          <p:nvPr/>
        </p:nvSpPr>
        <p:spPr>
          <a:xfrm>
            <a:off x="2336640" y="264219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D</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3843982" y="2642195"/>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DISPLAY</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1899" y="2608328"/>
            <a:ext cx="895475" cy="647790"/>
          </a:xfrm>
          <a:prstGeom prst="rect">
            <a:avLst/>
          </a:prstGeom>
        </p:spPr>
      </p:pic>
      <p:sp>
        <p:nvSpPr>
          <p:cNvPr id="18" name="Flowchart: Process 17">
            <a:extLst>
              <a:ext uri="{FF2B5EF4-FFF2-40B4-BE49-F238E27FC236}">
                <a16:creationId xmlns:a16="http://schemas.microsoft.com/office/drawing/2014/main" id="{DE47567A-8AEB-4470-ABC8-DD727125A46A}"/>
              </a:ext>
            </a:extLst>
          </p:cNvPr>
          <p:cNvSpPr/>
          <p:nvPr/>
        </p:nvSpPr>
        <p:spPr>
          <a:xfrm>
            <a:off x="2336634" y="4174716"/>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PRV</a:t>
            </a:r>
          </a:p>
        </p:txBody>
      </p:sp>
      <p:sp>
        <p:nvSpPr>
          <p:cNvPr id="19" name="Flowchart: Process 18">
            <a:extLst>
              <a:ext uri="{FF2B5EF4-FFF2-40B4-BE49-F238E27FC236}">
                <a16:creationId xmlns:a16="http://schemas.microsoft.com/office/drawing/2014/main" id="{DE47567A-8AEB-4470-ABC8-DD727125A46A}"/>
              </a:ext>
            </a:extLst>
          </p:cNvPr>
          <p:cNvSpPr/>
          <p:nvPr/>
        </p:nvSpPr>
        <p:spPr>
          <a:xfrm>
            <a:off x="3843976" y="4174716"/>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PRESSURE RELIEF VALVE</a:t>
            </a:r>
          </a:p>
        </p:txBody>
      </p:sp>
      <p:sp>
        <p:nvSpPr>
          <p:cNvPr id="20" name="Flowchart: Process 19">
            <a:extLst>
              <a:ext uri="{FF2B5EF4-FFF2-40B4-BE49-F238E27FC236}">
                <a16:creationId xmlns:a16="http://schemas.microsoft.com/office/drawing/2014/main" id="{DE47567A-8AEB-4470-ABC8-DD727125A46A}"/>
              </a:ext>
            </a:extLst>
          </p:cNvPr>
          <p:cNvSpPr/>
          <p:nvPr/>
        </p:nvSpPr>
        <p:spPr>
          <a:xfrm>
            <a:off x="2336628" y="4996009"/>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NRV</a:t>
            </a:r>
          </a:p>
        </p:txBody>
      </p:sp>
      <p:sp>
        <p:nvSpPr>
          <p:cNvPr id="22" name="Flowchart: Process 21">
            <a:extLst>
              <a:ext uri="{FF2B5EF4-FFF2-40B4-BE49-F238E27FC236}">
                <a16:creationId xmlns:a16="http://schemas.microsoft.com/office/drawing/2014/main" id="{DE47567A-8AEB-4470-ABC8-DD727125A46A}"/>
              </a:ext>
            </a:extLst>
          </p:cNvPr>
          <p:cNvSpPr/>
          <p:nvPr/>
        </p:nvSpPr>
        <p:spPr>
          <a:xfrm>
            <a:off x="3843970" y="4996009"/>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NON-RETURN VALVE</a:t>
            </a:r>
          </a:p>
        </p:txBody>
      </p:sp>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r="4071" b="13918"/>
          <a:stretch/>
        </p:blipFill>
        <p:spPr>
          <a:xfrm>
            <a:off x="8901899" y="4174716"/>
            <a:ext cx="719702" cy="483748"/>
          </a:xfrm>
          <a:prstGeom prst="rect">
            <a:avLst/>
          </a:prstGeom>
        </p:spPr>
      </p:pic>
      <p:pic>
        <p:nvPicPr>
          <p:cNvPr id="24" name="Picture 3" descr="D:\ITANK ITANK\I Tank Symbol\nrv.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5795" y="4996009"/>
            <a:ext cx="551351" cy="551351"/>
          </a:xfrm>
          <a:prstGeom prst="rect">
            <a:avLst/>
          </a:prstGeom>
          <a:noFill/>
          <a:extLst>
            <a:ext uri="{909E8E84-426E-40DD-AFC4-6F175D3DCCD1}">
              <a14:hiddenFill xmlns:a14="http://schemas.microsoft.com/office/drawing/2010/main">
                <a:solidFill>
                  <a:srgbClr val="FFFFFF"/>
                </a:solidFill>
              </a14:hiddenFill>
            </a:ext>
          </a:extLst>
        </p:spPr>
      </p:pic>
      <p:sp>
        <p:nvSpPr>
          <p:cNvPr id="25" name="Flowchart: Process 24">
            <a:extLst>
              <a:ext uri="{FF2B5EF4-FFF2-40B4-BE49-F238E27FC236}">
                <a16:creationId xmlns:a16="http://schemas.microsoft.com/office/drawing/2014/main" id="{DE47567A-8AEB-4470-ABC8-DD727125A46A}"/>
              </a:ext>
            </a:extLst>
          </p:cNvPr>
          <p:cNvSpPr/>
          <p:nvPr/>
        </p:nvSpPr>
        <p:spPr>
          <a:xfrm>
            <a:off x="2336634" y="3429620"/>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FM</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3843976" y="3429620"/>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FLOWMETER</a:t>
            </a:r>
          </a:p>
        </p:txBody>
      </p:sp>
      <p:pic>
        <p:nvPicPr>
          <p:cNvPr id="27" name="Picture 26"/>
          <p:cNvPicPr>
            <a:picLocks noChangeAspect="1"/>
          </p:cNvPicPr>
          <p:nvPr/>
        </p:nvPicPr>
        <p:blipFill rotWithShape="1">
          <a:blip r:embed="rId8" cstate="print">
            <a:extLst>
              <a:ext uri="{28A0092B-C50C-407E-A947-70E740481C1C}">
                <a14:useLocalDpi xmlns:a14="http://schemas.microsoft.com/office/drawing/2010/main" val="0"/>
              </a:ext>
            </a:extLst>
          </a:blip>
          <a:srcRect l="3812" t="5599" r="-2"/>
          <a:stretch/>
        </p:blipFill>
        <p:spPr>
          <a:xfrm>
            <a:off x="9061510" y="3443235"/>
            <a:ext cx="615888" cy="582272"/>
          </a:xfrm>
          <a:prstGeom prst="rect">
            <a:avLst/>
          </a:prstGeom>
        </p:spPr>
      </p:pic>
      <p:pic>
        <p:nvPicPr>
          <p:cNvPr id="28" name="Picture 27" descr="Full Bore Electromagnetic Liquid Flow Meter | tradekorea">
            <a:extLst>
              <a:ext uri="{FF2B5EF4-FFF2-40B4-BE49-F238E27FC236}">
                <a16:creationId xmlns:a16="http://schemas.microsoft.com/office/drawing/2014/main" id="{BDF8363F-8DC5-4D00-AE82-E75C761E9C3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8748" t="10608" r="17378" b="8526"/>
          <a:stretch/>
        </p:blipFill>
        <p:spPr bwMode="auto">
          <a:xfrm>
            <a:off x="9825860" y="3487121"/>
            <a:ext cx="450293" cy="56286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D52F204-5D54-BC6C-3524-24B90F5E7597}"/>
              </a:ext>
            </a:extLst>
          </p:cNvPr>
          <p:cNvPicPr>
            <a:picLocks noChangeAspect="1"/>
          </p:cNvPicPr>
          <p:nvPr/>
        </p:nvPicPr>
        <p:blipFill>
          <a:blip r:embed="rId10"/>
          <a:stretch>
            <a:fillRect/>
          </a:stretch>
        </p:blipFill>
        <p:spPr>
          <a:xfrm rot="1099291">
            <a:off x="10491236" y="3519586"/>
            <a:ext cx="657857" cy="529955"/>
          </a:xfrm>
          <a:prstGeom prst="rect">
            <a:avLst/>
          </a:prstGeom>
        </p:spPr>
      </p:pic>
    </p:spTree>
    <p:extLst>
      <p:ext uri="{BB962C8B-B14F-4D97-AF65-F5344CB8AC3E}">
        <p14:creationId xmlns:p14="http://schemas.microsoft.com/office/powerpoint/2010/main" val="44814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flipV="1">
            <a:off x="1418604" y="1073133"/>
            <a:ext cx="7716406" cy="4671"/>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1433522" y="1077804"/>
            <a:ext cx="0" cy="39967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2E560853-2C82-3275-9F64-BCA43B6CED26}"/>
              </a:ext>
            </a:extLst>
          </p:cNvPr>
          <p:cNvSpPr/>
          <p:nvPr/>
        </p:nvSpPr>
        <p:spPr>
          <a:xfrm rot="16200000">
            <a:off x="8924091" y="2946243"/>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109371" y="1073133"/>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9030949" y="169820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Process 14">
            <a:extLst>
              <a:ext uri="{FF2B5EF4-FFF2-40B4-BE49-F238E27FC236}">
                <a16:creationId xmlns:a16="http://schemas.microsoft.com/office/drawing/2014/main" id="{3815A10E-F1BA-5E8C-A804-50C1F1517635}"/>
              </a:ext>
            </a:extLst>
          </p:cNvPr>
          <p:cNvSpPr/>
          <p:nvPr/>
        </p:nvSpPr>
        <p:spPr>
          <a:xfrm>
            <a:off x="9281461" y="1593209"/>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281460" y="1286440"/>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Tx</a:t>
            </a:r>
          </a:p>
        </p:txBody>
      </p:sp>
      <p:pic>
        <p:nvPicPr>
          <p:cNvPr id="10" name="Picture 9" descr="A water drop in a container&#10;&#10;AI-generated content may be incorrect.">
            <a:extLst>
              <a:ext uri="{FF2B5EF4-FFF2-40B4-BE49-F238E27FC236}">
                <a16:creationId xmlns:a16="http://schemas.microsoft.com/office/drawing/2014/main" id="{3C4A0228-417F-EE8A-BD3B-853FA788589A}"/>
              </a:ext>
            </a:extLst>
          </p:cNvPr>
          <p:cNvPicPr>
            <a:picLocks noChangeAspect="1"/>
          </p:cNvPicPr>
          <p:nvPr/>
        </p:nvPicPr>
        <p:blipFill>
          <a:blip r:embed="rId3">
            <a:extLst>
              <a:ext uri="{28A0092B-C50C-407E-A947-70E740481C1C}">
                <a14:useLocalDpi xmlns:a14="http://schemas.microsoft.com/office/drawing/2010/main" val="0"/>
              </a:ext>
            </a:extLst>
          </a:blip>
          <a:srcRect l="20411" r="20569"/>
          <a:stretch/>
        </p:blipFill>
        <p:spPr>
          <a:xfrm>
            <a:off x="8731376" y="1885350"/>
            <a:ext cx="762468" cy="1291905"/>
          </a:xfrm>
          <a:prstGeom prst="rect">
            <a:avLst/>
          </a:prstGeom>
        </p:spPr>
      </p:pic>
      <p:pic>
        <p:nvPicPr>
          <p:cNvPr id="4" name="Picture 3" descr="A concrete square box with a pipe in it&#10;&#10;AI-generated content may be incorrect.">
            <a:extLst>
              <a:ext uri="{FF2B5EF4-FFF2-40B4-BE49-F238E27FC236}">
                <a16:creationId xmlns:a16="http://schemas.microsoft.com/office/drawing/2014/main" id="{675B5D43-F037-2003-4FF1-52D85079E691}"/>
              </a:ext>
            </a:extLst>
          </p:cNvPr>
          <p:cNvPicPr>
            <a:picLocks noChangeAspect="1"/>
          </p:cNvPicPr>
          <p:nvPr/>
        </p:nvPicPr>
        <p:blipFill>
          <a:blip r:embed="rId4">
            <a:extLst>
              <a:ext uri="{28A0092B-C50C-407E-A947-70E740481C1C}">
                <a14:useLocalDpi xmlns:a14="http://schemas.microsoft.com/office/drawing/2010/main" val="0"/>
              </a:ext>
            </a:extLst>
          </a:blip>
          <a:srcRect l="17873" t="28931" r="16266"/>
          <a:stretch/>
        </p:blipFill>
        <p:spPr>
          <a:xfrm>
            <a:off x="724060" y="5091623"/>
            <a:ext cx="1425400" cy="1153563"/>
          </a:xfrm>
          <a:prstGeom prst="rect">
            <a:avLst/>
          </a:prstGeom>
        </p:spPr>
      </p:pic>
      <p:sp>
        <p:nvSpPr>
          <p:cNvPr id="26" name="Flowchart: Process 25">
            <a:extLst>
              <a:ext uri="{FF2B5EF4-FFF2-40B4-BE49-F238E27FC236}">
                <a16:creationId xmlns:a16="http://schemas.microsoft.com/office/drawing/2014/main" id="{DBBAF223-7524-550F-170B-BC4208AF1FA7}"/>
              </a:ext>
            </a:extLst>
          </p:cNvPr>
          <p:cNvSpPr/>
          <p:nvPr/>
        </p:nvSpPr>
        <p:spPr>
          <a:xfrm>
            <a:off x="1563181" y="4776591"/>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28" name="Flowchart: Process 27">
            <a:extLst>
              <a:ext uri="{FF2B5EF4-FFF2-40B4-BE49-F238E27FC236}">
                <a16:creationId xmlns:a16="http://schemas.microsoft.com/office/drawing/2014/main" id="{1D910C4B-3802-DBF1-1A4B-677025E6EFD7}"/>
              </a:ext>
            </a:extLst>
          </p:cNvPr>
          <p:cNvSpPr/>
          <p:nvPr/>
        </p:nvSpPr>
        <p:spPr>
          <a:xfrm>
            <a:off x="1571726" y="4486914"/>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0" name="Flowchart: Process 29">
            <a:extLst>
              <a:ext uri="{FF2B5EF4-FFF2-40B4-BE49-F238E27FC236}">
                <a16:creationId xmlns:a16="http://schemas.microsoft.com/office/drawing/2014/main" id="{D8AB8295-64A1-7BBF-38C7-F48DB3529C24}"/>
              </a:ext>
            </a:extLst>
          </p:cNvPr>
          <p:cNvSpPr/>
          <p:nvPr/>
        </p:nvSpPr>
        <p:spPr>
          <a:xfrm rot="16200000">
            <a:off x="1297892" y="617927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SUMP</a:t>
            </a:r>
          </a:p>
        </p:txBody>
      </p:sp>
    </p:spTree>
    <p:extLst>
      <p:ext uri="{BB962C8B-B14F-4D97-AF65-F5344CB8AC3E}">
        <p14:creationId xmlns:p14="http://schemas.microsoft.com/office/powerpoint/2010/main" val="1206554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132483"/>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416492644"/>
              </p:ext>
            </p:extLst>
          </p:nvPr>
        </p:nvGraphicFramePr>
        <p:xfrm>
          <a:off x="347049" y="865158"/>
          <a:ext cx="11487149" cy="3783753"/>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499462">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352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I TANK MASTER GATEWAY CONTROLLER – 4G</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16,500</a:t>
                      </a:r>
                    </a:p>
                  </a:txBody>
                  <a:tcPr marL="9525" marR="9525" marT="9525" marB="0" anchor="ctr"/>
                </a:tc>
                <a:extLst>
                  <a:ext uri="{0D108BD9-81ED-4DB2-BD59-A6C34878D82A}">
                    <a16:rowId xmlns:a16="http://schemas.microsoft.com/office/drawing/2014/main" val="10001"/>
                  </a:ext>
                </a:extLst>
              </a:tr>
              <a:tr h="50823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39176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baseline="0" dirty="0">
                          <a:latin typeface="Times New Roman" pitchFamily="18" charset="0"/>
                          <a:cs typeface="Times New Roman" pitchFamily="18" charset="0"/>
                        </a:rPr>
                        <a:t>WIRELESS LONG RANGE TRANSMITTER</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14,500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14,500</a:t>
                      </a:r>
                    </a:p>
                  </a:txBody>
                  <a:tcPr marL="9525" marR="9525" marT="9525" marB="0" anchor="ctr"/>
                </a:tc>
                <a:extLst>
                  <a:ext uri="{0D108BD9-81ED-4DB2-BD59-A6C34878D82A}">
                    <a16:rowId xmlns:a16="http://schemas.microsoft.com/office/drawing/2014/main" val="10003"/>
                  </a:ext>
                </a:extLst>
              </a:tr>
              <a:tr h="356976">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7,950</a:t>
                      </a:r>
                    </a:p>
                  </a:txBody>
                  <a:tcPr marL="9525" marR="9525" marT="9525" marB="0" anchor="ctr"/>
                </a:tc>
                <a:extLst>
                  <a:ext uri="{0D108BD9-81ED-4DB2-BD59-A6C34878D82A}">
                    <a16:rowId xmlns:a16="http://schemas.microsoft.com/office/drawing/2014/main" val="1000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400" b="1" i="0" u="none" strike="noStrike" dirty="0">
                          <a:solidFill>
                            <a:srgbClr val="000000"/>
                          </a:solidFill>
                          <a:effectLst/>
                          <a:latin typeface="Times New Roman" panose="02020603050405020304" pitchFamily="18" charset="0"/>
                        </a:rPr>
                        <a:t>60,950 </a:t>
                      </a:r>
                    </a:p>
                  </a:txBody>
                  <a:tcPr marL="9525" marR="9525" marT="9525" marB="0" anchor="ctr">
                    <a:solidFill>
                      <a:srgbClr val="00B050"/>
                    </a:solidFill>
                  </a:tcPr>
                </a:tc>
                <a:extLst>
                  <a:ext uri="{0D108BD9-81ED-4DB2-BD59-A6C34878D82A}">
                    <a16:rowId xmlns:a16="http://schemas.microsoft.com/office/drawing/2014/main" val="10009"/>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400" b="1" i="0" u="none" strike="noStrike" dirty="0">
                          <a:solidFill>
                            <a:srgbClr val="000000"/>
                          </a:solidFill>
                          <a:effectLst/>
                          <a:latin typeface="Times New Roman" panose="02020603050405020304" pitchFamily="18" charset="0"/>
                        </a:rPr>
                        <a:t>10,971 </a:t>
                      </a:r>
                    </a:p>
                  </a:txBody>
                  <a:tcPr marL="9525" marR="9525" marT="9525" marB="0" anchor="ctr">
                    <a:solidFill>
                      <a:srgbClr val="00B050"/>
                    </a:solidFill>
                  </a:tcPr>
                </a:tc>
                <a:extLst>
                  <a:ext uri="{0D108BD9-81ED-4DB2-BD59-A6C34878D82A}">
                    <a16:rowId xmlns:a16="http://schemas.microsoft.com/office/drawing/2014/main" val="274311434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400" b="1" i="0" u="none" strike="noStrike" dirty="0">
                          <a:solidFill>
                            <a:srgbClr val="000000"/>
                          </a:solidFill>
                          <a:effectLst/>
                          <a:latin typeface="Times New Roman" panose="02020603050405020304" pitchFamily="18" charset="0"/>
                        </a:rPr>
                        <a:t>71,921 </a:t>
                      </a:r>
                    </a:p>
                  </a:txBody>
                  <a:tcPr marL="9525" marR="9525" marT="9525" marB="0" anchor="ctr">
                    <a:solidFill>
                      <a:srgbClr val="00B050"/>
                    </a:solidFill>
                  </a:tcPr>
                </a:tc>
                <a:extLst>
                  <a:ext uri="{0D108BD9-81ED-4DB2-BD59-A6C34878D82A}">
                    <a16:rowId xmlns:a16="http://schemas.microsoft.com/office/drawing/2014/main" val="2109816264"/>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1073485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flipV="1">
            <a:off x="1809539" y="1066750"/>
            <a:ext cx="7846764"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630932" y="178411"/>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WIRED FULLY AUTOMATION – </a:t>
            </a:r>
            <a:r>
              <a:rPr lang="en-US" sz="2000" b="1" u="sng" dirty="0">
                <a:solidFill>
                  <a:srgbClr val="002060"/>
                </a:solidFill>
                <a:latin typeface="Times New Roman" pitchFamily="18" charset="0"/>
                <a:cs typeface="Times New Roman" pitchFamily="18" charset="0"/>
              </a:rPr>
              <a:t>BORE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 name="Picture 1">
            <a:extLst>
              <a:ext uri="{FF2B5EF4-FFF2-40B4-BE49-F238E27FC236}">
                <a16:creationId xmlns:a16="http://schemas.microsoft.com/office/drawing/2014/main" id="{B76AA3FB-62BC-954D-AC1D-0574E02FCD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1113932" y="5070254"/>
            <a:ext cx="1425402" cy="1167154"/>
          </a:xfrm>
          <a:prstGeom prst="rect">
            <a:avLst/>
          </a:prstGeom>
        </p:spPr>
      </p:pic>
      <p:sp>
        <p:nvSpPr>
          <p:cNvPr id="5" name="Flowchart: Process 4">
            <a:extLst>
              <a:ext uri="{FF2B5EF4-FFF2-40B4-BE49-F238E27FC236}">
                <a16:creationId xmlns:a16="http://schemas.microsoft.com/office/drawing/2014/main" id="{55F4A07B-F907-DCCC-0882-7C232F52311F}"/>
              </a:ext>
            </a:extLst>
          </p:cNvPr>
          <p:cNvSpPr/>
          <p:nvPr/>
        </p:nvSpPr>
        <p:spPr>
          <a:xfrm rot="16200000">
            <a:off x="1699549" y="614276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a:t>
            </a:r>
          </a:p>
        </p:txBody>
      </p:sp>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1826631" y="1066750"/>
            <a:ext cx="0" cy="39967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2E560853-2C82-3275-9F64-BCA43B6CED26}"/>
              </a:ext>
            </a:extLst>
          </p:cNvPr>
          <p:cNvSpPr/>
          <p:nvPr/>
        </p:nvSpPr>
        <p:spPr>
          <a:xfrm rot="16200000">
            <a:off x="9453930" y="2937697"/>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639210" y="1064587"/>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9560788" y="168965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Process 14">
            <a:extLst>
              <a:ext uri="{FF2B5EF4-FFF2-40B4-BE49-F238E27FC236}">
                <a16:creationId xmlns:a16="http://schemas.microsoft.com/office/drawing/2014/main" id="{3815A10E-F1BA-5E8C-A804-50C1F1517635}"/>
              </a:ext>
            </a:extLst>
          </p:cNvPr>
          <p:cNvSpPr/>
          <p:nvPr/>
        </p:nvSpPr>
        <p:spPr>
          <a:xfrm>
            <a:off x="9828392" y="1601755"/>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819844" y="1294986"/>
            <a:ext cx="486385"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DWG</a:t>
            </a:r>
          </a:p>
        </p:txBody>
      </p:sp>
      <p:pic>
        <p:nvPicPr>
          <p:cNvPr id="10" name="Picture 9" descr="A water drop in a container&#10;&#10;AI-generated content may be incorrect.">
            <a:extLst>
              <a:ext uri="{FF2B5EF4-FFF2-40B4-BE49-F238E27FC236}">
                <a16:creationId xmlns:a16="http://schemas.microsoft.com/office/drawing/2014/main" id="{3C4A0228-417F-EE8A-BD3B-853FA788589A}"/>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9261215" y="1876804"/>
            <a:ext cx="762468" cy="1291905"/>
          </a:xfrm>
          <a:prstGeom prst="rect">
            <a:avLst/>
          </a:prstGeom>
        </p:spPr>
      </p:pic>
      <p:sp>
        <p:nvSpPr>
          <p:cNvPr id="26" name="Flowchart: Process 25">
            <a:extLst>
              <a:ext uri="{FF2B5EF4-FFF2-40B4-BE49-F238E27FC236}">
                <a16:creationId xmlns:a16="http://schemas.microsoft.com/office/drawing/2014/main" id="{DBBAF223-7524-550F-170B-BC4208AF1FA7}"/>
              </a:ext>
            </a:extLst>
          </p:cNvPr>
          <p:cNvSpPr/>
          <p:nvPr/>
        </p:nvSpPr>
        <p:spPr>
          <a:xfrm>
            <a:off x="1956289" y="4765537"/>
            <a:ext cx="453623"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spTree>
    <p:extLst>
      <p:ext uri="{BB962C8B-B14F-4D97-AF65-F5344CB8AC3E}">
        <p14:creationId xmlns:p14="http://schemas.microsoft.com/office/powerpoint/2010/main" val="19533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4" y="223638"/>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SYSTEM REQUIREMENTS AND ESTIMATE –  </a:t>
            </a:r>
            <a:r>
              <a:rPr lang="en-US" sz="1800" b="1" u="sng" dirty="0">
                <a:solidFill>
                  <a:srgbClr val="002060"/>
                </a:solidFill>
                <a:latin typeface="Times New Roman" pitchFamily="18" charset="0"/>
                <a:cs typeface="Times New Roman" pitchFamily="18" charset="0"/>
              </a:rPr>
              <a:t>BORE TO OVERHEAD TANK</a:t>
            </a:r>
            <a:endParaRPr lang="en-US" sz="18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128588064"/>
              </p:ext>
            </p:extLst>
          </p:nvPr>
        </p:nvGraphicFramePr>
        <p:xfrm>
          <a:off x="347048" y="1241174"/>
          <a:ext cx="11487149" cy="3972806"/>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0938">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770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WIRELESS SMART MOTOR CONTROLLER </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13,500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13,500</a:t>
                      </a:r>
                    </a:p>
                  </a:txBody>
                  <a:tcPr marL="9525" marR="9525" marT="9525" marB="0" anchor="ctr"/>
                </a:tc>
                <a:extLst>
                  <a:ext uri="{0D108BD9-81ED-4DB2-BD59-A6C34878D82A}">
                    <a16:rowId xmlns:a16="http://schemas.microsoft.com/office/drawing/2014/main" val="3688442082"/>
                  </a:ext>
                </a:extLst>
              </a:tr>
              <a:tr h="38956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MULTI SEGMENT GRAPHICS DISPLAY WITH GSM</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15,500</a:t>
                      </a:r>
                    </a:p>
                  </a:txBody>
                  <a:tcPr marL="9525" marR="9525" marT="9525" marB="0" anchor="ctr"/>
                </a:tc>
                <a:extLst>
                  <a:ext uri="{0D108BD9-81ED-4DB2-BD59-A6C34878D82A}">
                    <a16:rowId xmlns:a16="http://schemas.microsoft.com/office/drawing/2014/main" val="2120636151"/>
                  </a:ext>
                </a:extLst>
              </a:tr>
              <a:tr h="540258">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11,000</a:t>
                      </a:r>
                    </a:p>
                  </a:txBody>
                  <a:tcPr marL="9525" marR="9525" marT="9525" marB="0" anchor="ctr"/>
                </a:tc>
                <a:extLst>
                  <a:ext uri="{0D108BD9-81ED-4DB2-BD59-A6C34878D82A}">
                    <a16:rowId xmlns:a16="http://schemas.microsoft.com/office/drawing/2014/main" val="3360900633"/>
                  </a:ext>
                </a:extLst>
              </a:tr>
              <a:tr h="379472">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8,800</a:t>
                      </a:r>
                    </a:p>
                  </a:txBody>
                  <a:tcPr marL="9525" marR="9525" marT="9525" marB="0" anchor="ctr"/>
                </a:tc>
                <a:extLst>
                  <a:ext uri="{0D108BD9-81ED-4DB2-BD59-A6C34878D82A}">
                    <a16:rowId xmlns:a16="http://schemas.microsoft.com/office/drawing/2014/main" val="10006"/>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48,800 </a:t>
                      </a:r>
                    </a:p>
                  </a:txBody>
                  <a:tcPr marL="9525" marR="9525" marT="9525" marB="0" anchor="ctr">
                    <a:solidFill>
                      <a:srgbClr val="00B050"/>
                    </a:solidFill>
                  </a:tcPr>
                </a:tc>
                <a:extLst>
                  <a:ext uri="{0D108BD9-81ED-4DB2-BD59-A6C34878D82A}">
                    <a16:rowId xmlns:a16="http://schemas.microsoft.com/office/drawing/2014/main" val="10009"/>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8,784 </a:t>
                      </a:r>
                    </a:p>
                  </a:txBody>
                  <a:tcPr marL="9525" marR="9525" marT="9525" marB="0" anchor="ctr">
                    <a:solidFill>
                      <a:srgbClr val="00B050"/>
                    </a:solidFill>
                  </a:tcPr>
                </a:tc>
                <a:extLst>
                  <a:ext uri="{0D108BD9-81ED-4DB2-BD59-A6C34878D82A}">
                    <a16:rowId xmlns:a16="http://schemas.microsoft.com/office/drawing/2014/main" val="4162481690"/>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57,584 </a:t>
                      </a:r>
                    </a:p>
                  </a:txBody>
                  <a:tcPr marL="9525" marR="9525" marT="9525" marB="0" anchor="ctr">
                    <a:solidFill>
                      <a:srgbClr val="00B050"/>
                    </a:solidFill>
                  </a:tcPr>
                </a:tc>
                <a:extLst>
                  <a:ext uri="{0D108BD9-81ED-4DB2-BD59-A6C34878D82A}">
                    <a16:rowId xmlns:a16="http://schemas.microsoft.com/office/drawing/2014/main" val="10718180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296513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a:off x="4629651" y="1077804"/>
            <a:ext cx="4436991"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BORE TO SUMP, SUMP TO OHT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 name="Picture 1">
            <a:extLst>
              <a:ext uri="{FF2B5EF4-FFF2-40B4-BE49-F238E27FC236}">
                <a16:creationId xmlns:a16="http://schemas.microsoft.com/office/drawing/2014/main" id="{B76AA3FB-62BC-954D-AC1D-0574E02FCD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515725" y="5070254"/>
            <a:ext cx="1425402" cy="1167154"/>
          </a:xfrm>
          <a:prstGeom prst="rect">
            <a:avLst/>
          </a:prstGeom>
        </p:spPr>
      </p:pic>
      <p:sp>
        <p:nvSpPr>
          <p:cNvPr id="5" name="Flowchart: Process 4">
            <a:extLst>
              <a:ext uri="{FF2B5EF4-FFF2-40B4-BE49-F238E27FC236}">
                <a16:creationId xmlns:a16="http://schemas.microsoft.com/office/drawing/2014/main" id="{55F4A07B-F907-DCCC-0882-7C232F52311F}"/>
              </a:ext>
            </a:extLst>
          </p:cNvPr>
          <p:cNvSpPr/>
          <p:nvPr/>
        </p:nvSpPr>
        <p:spPr>
          <a:xfrm rot="16200000">
            <a:off x="1092796" y="614276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a:t>
            </a:r>
          </a:p>
        </p:txBody>
      </p:sp>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4646743" y="1077804"/>
            <a:ext cx="0" cy="39967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2E560853-2C82-3275-9F64-BCA43B6CED26}"/>
              </a:ext>
            </a:extLst>
          </p:cNvPr>
          <p:cNvSpPr/>
          <p:nvPr/>
        </p:nvSpPr>
        <p:spPr>
          <a:xfrm rot="16200000">
            <a:off x="8864269" y="2946243"/>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71" name="Flowchart: Process 70">
            <a:extLst>
              <a:ext uri="{FF2B5EF4-FFF2-40B4-BE49-F238E27FC236}">
                <a16:creationId xmlns:a16="http://schemas.microsoft.com/office/drawing/2014/main" id="{B4805066-4EAE-B030-B5A2-D02A1EF4DC32}"/>
              </a:ext>
            </a:extLst>
          </p:cNvPr>
          <p:cNvSpPr/>
          <p:nvPr/>
        </p:nvSpPr>
        <p:spPr>
          <a:xfrm>
            <a:off x="1308566" y="4776591"/>
            <a:ext cx="4763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049549" y="1073133"/>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8971127" y="169820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Flowchart: Process 14">
            <a:extLst>
              <a:ext uri="{FF2B5EF4-FFF2-40B4-BE49-F238E27FC236}">
                <a16:creationId xmlns:a16="http://schemas.microsoft.com/office/drawing/2014/main" id="{3815A10E-F1BA-5E8C-A804-50C1F1517635}"/>
              </a:ext>
            </a:extLst>
          </p:cNvPr>
          <p:cNvSpPr/>
          <p:nvPr/>
        </p:nvSpPr>
        <p:spPr>
          <a:xfrm>
            <a:off x="9221639" y="1593209"/>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230184" y="1303532"/>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Tx</a:t>
            </a:r>
          </a:p>
        </p:txBody>
      </p:sp>
      <p:pic>
        <p:nvPicPr>
          <p:cNvPr id="10" name="Picture 9" descr="A water drop in a container&#10;&#10;AI-generated content may be incorrect.">
            <a:extLst>
              <a:ext uri="{FF2B5EF4-FFF2-40B4-BE49-F238E27FC236}">
                <a16:creationId xmlns:a16="http://schemas.microsoft.com/office/drawing/2014/main" id="{3C4A0228-417F-EE8A-BD3B-853FA788589A}"/>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8671554" y="1885350"/>
            <a:ext cx="762468" cy="1291905"/>
          </a:xfrm>
          <a:prstGeom prst="rect">
            <a:avLst/>
          </a:prstGeom>
        </p:spPr>
      </p:pic>
      <p:pic>
        <p:nvPicPr>
          <p:cNvPr id="4" name="Picture 3" descr="A concrete square box with a pipe in it&#10;&#10;AI-generated content may be incorrect.">
            <a:extLst>
              <a:ext uri="{FF2B5EF4-FFF2-40B4-BE49-F238E27FC236}">
                <a16:creationId xmlns:a16="http://schemas.microsoft.com/office/drawing/2014/main" id="{675B5D43-F037-2003-4FF1-52D85079E691}"/>
              </a:ext>
            </a:extLst>
          </p:cNvPr>
          <p:cNvPicPr>
            <a:picLocks noChangeAspect="1"/>
          </p:cNvPicPr>
          <p:nvPr/>
        </p:nvPicPr>
        <p:blipFill>
          <a:blip r:embed="rId5">
            <a:extLst>
              <a:ext uri="{28A0092B-C50C-407E-A947-70E740481C1C}">
                <a14:useLocalDpi xmlns:a14="http://schemas.microsoft.com/office/drawing/2010/main" val="0"/>
              </a:ext>
            </a:extLst>
          </a:blip>
          <a:srcRect l="17873" t="28931" r="16266"/>
          <a:stretch/>
        </p:blipFill>
        <p:spPr>
          <a:xfrm>
            <a:off x="3937281" y="5091623"/>
            <a:ext cx="1425400" cy="1153563"/>
          </a:xfrm>
          <a:prstGeom prst="rect">
            <a:avLst/>
          </a:prstGeom>
        </p:spPr>
      </p:pic>
      <p:cxnSp>
        <p:nvCxnSpPr>
          <p:cNvPr id="6" name="Straight Connector 5">
            <a:extLst>
              <a:ext uri="{FF2B5EF4-FFF2-40B4-BE49-F238E27FC236}">
                <a16:creationId xmlns:a16="http://schemas.microsoft.com/office/drawing/2014/main" id="{37D14C15-163C-B304-D592-26C4F6E353B0}"/>
              </a:ext>
            </a:extLst>
          </p:cNvPr>
          <p:cNvCxnSpPr>
            <a:cxnSpLocks/>
          </p:cNvCxnSpPr>
          <p:nvPr/>
        </p:nvCxnSpPr>
        <p:spPr>
          <a:xfrm flipH="1">
            <a:off x="1941127" y="5653831"/>
            <a:ext cx="1886304"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2" name="Isosceles Triangle 11">
            <a:extLst>
              <a:ext uri="{FF2B5EF4-FFF2-40B4-BE49-F238E27FC236}">
                <a16:creationId xmlns:a16="http://schemas.microsoft.com/office/drawing/2014/main" id="{AA89554B-2B27-BA5E-3386-42A9EFB70B33}"/>
              </a:ext>
            </a:extLst>
          </p:cNvPr>
          <p:cNvSpPr/>
          <p:nvPr/>
        </p:nvSpPr>
        <p:spPr>
          <a:xfrm rot="16200000" flipH="1" flipV="1">
            <a:off x="3773832" y="556880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Flowchart: Process 25">
            <a:extLst>
              <a:ext uri="{FF2B5EF4-FFF2-40B4-BE49-F238E27FC236}">
                <a16:creationId xmlns:a16="http://schemas.microsoft.com/office/drawing/2014/main" id="{DBBAF223-7524-550F-170B-BC4208AF1FA7}"/>
              </a:ext>
            </a:extLst>
          </p:cNvPr>
          <p:cNvSpPr/>
          <p:nvPr/>
        </p:nvSpPr>
        <p:spPr>
          <a:xfrm>
            <a:off x="4776402" y="4776591"/>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28" name="Flowchart: Process 27">
            <a:extLst>
              <a:ext uri="{FF2B5EF4-FFF2-40B4-BE49-F238E27FC236}">
                <a16:creationId xmlns:a16="http://schemas.microsoft.com/office/drawing/2014/main" id="{1D910C4B-3802-DBF1-1A4B-677025E6EFD7}"/>
              </a:ext>
            </a:extLst>
          </p:cNvPr>
          <p:cNvSpPr/>
          <p:nvPr/>
        </p:nvSpPr>
        <p:spPr>
          <a:xfrm>
            <a:off x="4776401" y="4478368"/>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0" name="Flowchart: Process 29">
            <a:extLst>
              <a:ext uri="{FF2B5EF4-FFF2-40B4-BE49-F238E27FC236}">
                <a16:creationId xmlns:a16="http://schemas.microsoft.com/office/drawing/2014/main" id="{D8AB8295-64A1-7BBF-38C7-F48DB3529C24}"/>
              </a:ext>
            </a:extLst>
          </p:cNvPr>
          <p:cNvSpPr/>
          <p:nvPr/>
        </p:nvSpPr>
        <p:spPr>
          <a:xfrm rot="16200000">
            <a:off x="4511113" y="6179272"/>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SUMP</a:t>
            </a:r>
          </a:p>
        </p:txBody>
      </p:sp>
    </p:spTree>
    <p:extLst>
      <p:ext uri="{BB962C8B-B14F-4D97-AF65-F5344CB8AC3E}">
        <p14:creationId xmlns:p14="http://schemas.microsoft.com/office/powerpoint/2010/main" val="2138302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4" y="223638"/>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SYSTEM REQUIREMENTS AND ESTIMATE –  </a:t>
            </a:r>
            <a:r>
              <a:rPr lang="en-US" sz="1800" b="1" u="sng" dirty="0">
                <a:solidFill>
                  <a:srgbClr val="002060"/>
                </a:solidFill>
                <a:latin typeface="Times New Roman" pitchFamily="18" charset="0"/>
                <a:cs typeface="Times New Roman" pitchFamily="18" charset="0"/>
              </a:rPr>
              <a:t>BORE TO SUMP, SUMP TO OHT TANK</a:t>
            </a:r>
            <a:endParaRPr lang="en-US" sz="18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081391753"/>
              </p:ext>
            </p:extLst>
          </p:nvPr>
        </p:nvGraphicFramePr>
        <p:xfrm>
          <a:off x="347049" y="959161"/>
          <a:ext cx="11487149" cy="4481773"/>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0938">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770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I TANK MASTER GATEWAY CONTROLLER – 4G</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16,500</a:t>
                      </a:r>
                    </a:p>
                  </a:txBody>
                  <a:tcPr marL="9525" marR="9525" marT="9525" marB="0" anchor="ctr"/>
                </a:tc>
                <a:extLst>
                  <a:ext uri="{0D108BD9-81ED-4DB2-BD59-A6C34878D82A}">
                    <a16:rowId xmlns:a16="http://schemas.microsoft.com/office/drawing/2014/main" val="3688442082"/>
                  </a:ext>
                </a:extLst>
              </a:tr>
              <a:tr h="483564">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dirty="0">
                          <a:solidFill>
                            <a:schemeClr val="dk1"/>
                          </a:solidFill>
                          <a:latin typeface="Times New Roman" pitchFamily="18" charset="0"/>
                          <a:ea typeface="+mn-ea"/>
                          <a:cs typeface="Times New Roman" pitchFamily="18" charset="0"/>
                        </a:rPr>
                        <a:t>WIRELESS LONG RANGE TRANSMITTER</a:t>
                      </a:r>
                      <a:r>
                        <a:rPr kumimoji="0" lang="en-IN" sz="1800" b="0" i="0" u="none" strike="noStrike" kern="1200" baseline="0" dirty="0">
                          <a:solidFill>
                            <a:schemeClr val="dk1"/>
                          </a:solidFill>
                          <a:latin typeface="+mn-lt"/>
                          <a:ea typeface="+mn-ea"/>
                          <a:cs typeface="+mn-cs"/>
                        </a:rPr>
                        <a:t>	</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14,500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14,500</a:t>
                      </a:r>
                    </a:p>
                  </a:txBody>
                  <a:tcPr marL="9525" marR="9525" marT="9525" marB="0" anchor="ctr"/>
                </a:tc>
                <a:extLst>
                  <a:ext uri="{0D108BD9-81ED-4DB2-BD59-A6C34878D82A}">
                    <a16:rowId xmlns:a16="http://schemas.microsoft.com/office/drawing/2014/main" val="2120636151"/>
                  </a:ext>
                </a:extLst>
              </a:tr>
              <a:tr h="540258">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41496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WIRELESS SMART MOTOR CONTROLLER</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13,500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13,500</a:t>
                      </a:r>
                    </a:p>
                  </a:txBody>
                  <a:tcPr marL="9525" marR="9525" marT="9525" marB="0" anchor="ctr"/>
                </a:tc>
                <a:extLst>
                  <a:ext uri="{0D108BD9-81ED-4DB2-BD59-A6C34878D82A}">
                    <a16:rowId xmlns:a16="http://schemas.microsoft.com/office/drawing/2014/main" val="10005"/>
                  </a:ext>
                </a:extLst>
              </a:tr>
              <a:tr h="379472">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9,975</a:t>
                      </a:r>
                    </a:p>
                  </a:txBody>
                  <a:tcPr marL="9525" marR="9525" marT="9525" marB="0" anchor="ctr"/>
                </a:tc>
                <a:extLst>
                  <a:ext uri="{0D108BD9-81ED-4DB2-BD59-A6C34878D82A}">
                    <a16:rowId xmlns:a16="http://schemas.microsoft.com/office/drawing/2014/main" val="10006"/>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76,475 </a:t>
                      </a:r>
                    </a:p>
                  </a:txBody>
                  <a:tcPr marL="9525" marR="9525" marT="9525" marB="0" anchor="ctr">
                    <a:solidFill>
                      <a:srgbClr val="00B050"/>
                    </a:solidFill>
                  </a:tcPr>
                </a:tc>
                <a:extLst>
                  <a:ext uri="{0D108BD9-81ED-4DB2-BD59-A6C34878D82A}">
                    <a16:rowId xmlns:a16="http://schemas.microsoft.com/office/drawing/2014/main" val="10009"/>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13,766 </a:t>
                      </a:r>
                    </a:p>
                  </a:txBody>
                  <a:tcPr marL="9525" marR="9525" marT="9525" marB="0" anchor="ctr">
                    <a:solidFill>
                      <a:srgbClr val="00B050"/>
                    </a:solidFill>
                  </a:tcPr>
                </a:tc>
                <a:extLst>
                  <a:ext uri="{0D108BD9-81ED-4DB2-BD59-A6C34878D82A}">
                    <a16:rowId xmlns:a16="http://schemas.microsoft.com/office/drawing/2014/main" val="4162481690"/>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90,241 </a:t>
                      </a:r>
                    </a:p>
                  </a:txBody>
                  <a:tcPr marL="9525" marR="9525" marT="9525" marB="0" anchor="ctr">
                    <a:solidFill>
                      <a:srgbClr val="00B050"/>
                    </a:solidFill>
                  </a:tcPr>
                </a:tc>
                <a:extLst>
                  <a:ext uri="{0D108BD9-81ED-4DB2-BD59-A6C34878D82A}">
                    <a16:rowId xmlns:a16="http://schemas.microsoft.com/office/drawing/2014/main" val="10718180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320579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599DE90C-CEE3-6195-7EEC-536842513DB4}"/>
              </a:ext>
            </a:extLst>
          </p:cNvPr>
          <p:cNvCxnSpPr>
            <a:cxnSpLocks/>
          </p:cNvCxnSpPr>
          <p:nvPr/>
        </p:nvCxnSpPr>
        <p:spPr>
          <a:xfrm flipH="1">
            <a:off x="6426437" y="847430"/>
            <a:ext cx="2648751" cy="2"/>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DBA23395-7647-32A9-5E37-8854344AA039}"/>
              </a:ext>
            </a:extLst>
          </p:cNvPr>
          <p:cNvCxnSpPr>
            <a:cxnSpLocks/>
          </p:cNvCxnSpPr>
          <p:nvPr/>
        </p:nvCxnSpPr>
        <p:spPr>
          <a:xfrm>
            <a:off x="6434983" y="834213"/>
            <a:ext cx="0" cy="171080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922558" y="143800"/>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BORE TO MAIN BUILDING OHT &amp; CANTEEN OHT</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 name="Picture 1">
            <a:extLst>
              <a:ext uri="{FF2B5EF4-FFF2-40B4-BE49-F238E27FC236}">
                <a16:creationId xmlns:a16="http://schemas.microsoft.com/office/drawing/2014/main" id="{B76AA3FB-62BC-954D-AC1D-0574E02FCD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515725" y="5070254"/>
            <a:ext cx="1425402" cy="1167154"/>
          </a:xfrm>
          <a:prstGeom prst="rect">
            <a:avLst/>
          </a:prstGeom>
        </p:spPr>
      </p:pic>
      <p:sp>
        <p:nvSpPr>
          <p:cNvPr id="5" name="Flowchart: Process 4">
            <a:extLst>
              <a:ext uri="{FF2B5EF4-FFF2-40B4-BE49-F238E27FC236}">
                <a16:creationId xmlns:a16="http://schemas.microsoft.com/office/drawing/2014/main" id="{55F4A07B-F907-DCCC-0882-7C232F52311F}"/>
              </a:ext>
            </a:extLst>
          </p:cNvPr>
          <p:cNvSpPr/>
          <p:nvPr/>
        </p:nvSpPr>
        <p:spPr>
          <a:xfrm rot="16200000">
            <a:off x="1092796" y="6108578"/>
            <a:ext cx="271260" cy="55118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a:t>
            </a:r>
          </a:p>
        </p:txBody>
      </p:sp>
      <p:cxnSp>
        <p:nvCxnSpPr>
          <p:cNvPr id="8" name="Straight Connector 7">
            <a:extLst>
              <a:ext uri="{FF2B5EF4-FFF2-40B4-BE49-F238E27FC236}">
                <a16:creationId xmlns:a16="http://schemas.microsoft.com/office/drawing/2014/main" id="{11E187F6-3F25-62CA-9B8A-FDBF693C45F9}"/>
              </a:ext>
            </a:extLst>
          </p:cNvPr>
          <p:cNvCxnSpPr>
            <a:cxnSpLocks/>
          </p:cNvCxnSpPr>
          <p:nvPr/>
        </p:nvCxnSpPr>
        <p:spPr>
          <a:xfrm>
            <a:off x="1219880" y="2527928"/>
            <a:ext cx="0" cy="253805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122FAC68-F747-E24A-EE46-DDE9AD2A3C4D}"/>
              </a:ext>
            </a:extLst>
          </p:cNvPr>
          <p:cNvCxnSpPr>
            <a:cxnSpLocks/>
          </p:cNvCxnSpPr>
          <p:nvPr/>
        </p:nvCxnSpPr>
        <p:spPr>
          <a:xfrm>
            <a:off x="5561461" y="2549349"/>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1AD9CD93-8FC5-FD3D-9BA4-653AE998AE39}"/>
              </a:ext>
            </a:extLst>
          </p:cNvPr>
          <p:cNvCxnSpPr>
            <a:cxnSpLocks/>
          </p:cNvCxnSpPr>
          <p:nvPr/>
        </p:nvCxnSpPr>
        <p:spPr>
          <a:xfrm flipH="1" flipV="1">
            <a:off x="1219880" y="2545020"/>
            <a:ext cx="5215103"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22" name="Isosceles Triangle 21">
            <a:extLst>
              <a:ext uri="{FF2B5EF4-FFF2-40B4-BE49-F238E27FC236}">
                <a16:creationId xmlns:a16="http://schemas.microsoft.com/office/drawing/2014/main" id="{0159B163-008A-067A-B92D-3F132CD99220}"/>
              </a:ext>
            </a:extLst>
          </p:cNvPr>
          <p:cNvSpPr/>
          <p:nvPr/>
        </p:nvSpPr>
        <p:spPr>
          <a:xfrm flipH="1" flipV="1">
            <a:off x="5483039" y="3174419"/>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Flowchart: Process 23">
            <a:extLst>
              <a:ext uri="{FF2B5EF4-FFF2-40B4-BE49-F238E27FC236}">
                <a16:creationId xmlns:a16="http://schemas.microsoft.com/office/drawing/2014/main" id="{2E560853-2C82-3275-9F64-BCA43B6CED26}"/>
              </a:ext>
            </a:extLst>
          </p:cNvPr>
          <p:cNvSpPr/>
          <p:nvPr/>
        </p:nvSpPr>
        <p:spPr>
          <a:xfrm rot="16200000">
            <a:off x="8872815" y="2715869"/>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CANTEEN OHT</a:t>
            </a:r>
          </a:p>
        </p:txBody>
      </p:sp>
      <p:sp>
        <p:nvSpPr>
          <p:cNvPr id="43" name="Flowchart: Process 42">
            <a:extLst>
              <a:ext uri="{FF2B5EF4-FFF2-40B4-BE49-F238E27FC236}">
                <a16:creationId xmlns:a16="http://schemas.microsoft.com/office/drawing/2014/main" id="{338442F7-48C4-5D7B-086E-35DFF48FF606}"/>
              </a:ext>
            </a:extLst>
          </p:cNvPr>
          <p:cNvSpPr/>
          <p:nvPr/>
        </p:nvSpPr>
        <p:spPr>
          <a:xfrm rot="16200000">
            <a:off x="5372941" y="4426575"/>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MAIN BUILDING OHT </a:t>
            </a:r>
          </a:p>
        </p:txBody>
      </p:sp>
      <p:sp>
        <p:nvSpPr>
          <p:cNvPr id="71" name="Flowchart: Process 70">
            <a:extLst>
              <a:ext uri="{FF2B5EF4-FFF2-40B4-BE49-F238E27FC236}">
                <a16:creationId xmlns:a16="http://schemas.microsoft.com/office/drawing/2014/main" id="{B4805066-4EAE-B030-B5A2-D02A1EF4DC32}"/>
              </a:ext>
            </a:extLst>
          </p:cNvPr>
          <p:cNvSpPr/>
          <p:nvPr/>
        </p:nvSpPr>
        <p:spPr>
          <a:xfrm>
            <a:off x="1989405" y="5477336"/>
            <a:ext cx="4763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93" name="Picture 92">
            <a:extLst>
              <a:ext uri="{FF2B5EF4-FFF2-40B4-BE49-F238E27FC236}">
                <a16:creationId xmlns:a16="http://schemas.microsoft.com/office/drawing/2014/main" id="{0049ED02-5EAA-C236-A4FB-D825A6FFD8E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038" t="25213" r="22144" b="16408"/>
          <a:stretch/>
        </p:blipFill>
        <p:spPr>
          <a:xfrm rot="10800000" flipH="1">
            <a:off x="5467454" y="2760068"/>
            <a:ext cx="498749" cy="314002"/>
          </a:xfrm>
          <a:prstGeom prst="rect">
            <a:avLst/>
          </a:prstGeom>
        </p:spPr>
      </p:pic>
      <p:sp>
        <p:nvSpPr>
          <p:cNvPr id="95" name="Flowchart: Process 94">
            <a:extLst>
              <a:ext uri="{FF2B5EF4-FFF2-40B4-BE49-F238E27FC236}">
                <a16:creationId xmlns:a16="http://schemas.microsoft.com/office/drawing/2014/main" id="{6164D58D-266C-D2AB-5CDF-7FA347EF2C17}"/>
              </a:ext>
            </a:extLst>
          </p:cNvPr>
          <p:cNvSpPr/>
          <p:nvPr/>
        </p:nvSpPr>
        <p:spPr>
          <a:xfrm>
            <a:off x="4503860" y="2946881"/>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96" name="Flowchart: Process 95">
            <a:extLst>
              <a:ext uri="{FF2B5EF4-FFF2-40B4-BE49-F238E27FC236}">
                <a16:creationId xmlns:a16="http://schemas.microsoft.com/office/drawing/2014/main" id="{C10DD267-4D38-E556-5405-C6D155B8AB42}"/>
              </a:ext>
            </a:extLst>
          </p:cNvPr>
          <p:cNvSpPr/>
          <p:nvPr/>
        </p:nvSpPr>
        <p:spPr>
          <a:xfrm>
            <a:off x="4512405" y="2657204"/>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VCT</a:t>
            </a:r>
          </a:p>
        </p:txBody>
      </p:sp>
      <p:sp>
        <p:nvSpPr>
          <p:cNvPr id="100" name="Flowchart: Process 99">
            <a:extLst>
              <a:ext uri="{FF2B5EF4-FFF2-40B4-BE49-F238E27FC236}">
                <a16:creationId xmlns:a16="http://schemas.microsoft.com/office/drawing/2014/main" id="{D8C8583C-4A5B-1C9C-6300-701350FBFDAB}"/>
              </a:ext>
            </a:extLst>
          </p:cNvPr>
          <p:cNvSpPr/>
          <p:nvPr/>
        </p:nvSpPr>
        <p:spPr>
          <a:xfrm>
            <a:off x="4971356" y="2799857"/>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MV</a:t>
            </a:r>
          </a:p>
        </p:txBody>
      </p:sp>
      <p:cxnSp>
        <p:nvCxnSpPr>
          <p:cNvPr id="11" name="Straight Connector 10">
            <a:extLst>
              <a:ext uri="{FF2B5EF4-FFF2-40B4-BE49-F238E27FC236}">
                <a16:creationId xmlns:a16="http://schemas.microsoft.com/office/drawing/2014/main" id="{9C54F404-63CE-E17F-8706-90989FF1A8C1}"/>
              </a:ext>
            </a:extLst>
          </p:cNvPr>
          <p:cNvCxnSpPr>
            <a:cxnSpLocks/>
          </p:cNvCxnSpPr>
          <p:nvPr/>
        </p:nvCxnSpPr>
        <p:spPr>
          <a:xfrm>
            <a:off x="9058095" y="842759"/>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ABBF5164-D78F-8C91-8E1C-890A9F613107}"/>
              </a:ext>
            </a:extLst>
          </p:cNvPr>
          <p:cNvSpPr/>
          <p:nvPr/>
        </p:nvSpPr>
        <p:spPr>
          <a:xfrm flipH="1" flipV="1">
            <a:off x="8979673" y="1467829"/>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13">
            <a:extLst>
              <a:ext uri="{FF2B5EF4-FFF2-40B4-BE49-F238E27FC236}">
                <a16:creationId xmlns:a16="http://schemas.microsoft.com/office/drawing/2014/main" id="{0B2E5C13-FB1C-5FD0-B1FF-18179BE8C0D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038" t="25213" r="22144" b="16408"/>
          <a:stretch/>
        </p:blipFill>
        <p:spPr>
          <a:xfrm rot="10800000" flipH="1">
            <a:off x="8964088" y="1053478"/>
            <a:ext cx="498749" cy="314002"/>
          </a:xfrm>
          <a:prstGeom prst="rect">
            <a:avLst/>
          </a:prstGeom>
        </p:spPr>
      </p:pic>
      <p:sp>
        <p:nvSpPr>
          <p:cNvPr id="15" name="Flowchart: Process 14">
            <a:extLst>
              <a:ext uri="{FF2B5EF4-FFF2-40B4-BE49-F238E27FC236}">
                <a16:creationId xmlns:a16="http://schemas.microsoft.com/office/drawing/2014/main" id="{3815A10E-F1BA-5E8C-A804-50C1F1517635}"/>
              </a:ext>
            </a:extLst>
          </p:cNvPr>
          <p:cNvSpPr/>
          <p:nvPr/>
        </p:nvSpPr>
        <p:spPr>
          <a:xfrm>
            <a:off x="9556844" y="1246327"/>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9" name="Flowchart: Process 18">
            <a:extLst>
              <a:ext uri="{FF2B5EF4-FFF2-40B4-BE49-F238E27FC236}">
                <a16:creationId xmlns:a16="http://schemas.microsoft.com/office/drawing/2014/main" id="{FF7D1C47-742D-ACC1-5AF1-C6B5125462AD}"/>
              </a:ext>
            </a:extLst>
          </p:cNvPr>
          <p:cNvSpPr/>
          <p:nvPr/>
        </p:nvSpPr>
        <p:spPr>
          <a:xfrm>
            <a:off x="9565389" y="956650"/>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VCT</a:t>
            </a:r>
          </a:p>
        </p:txBody>
      </p:sp>
      <p:sp>
        <p:nvSpPr>
          <p:cNvPr id="20" name="Flowchart: Process 19">
            <a:extLst>
              <a:ext uri="{FF2B5EF4-FFF2-40B4-BE49-F238E27FC236}">
                <a16:creationId xmlns:a16="http://schemas.microsoft.com/office/drawing/2014/main" id="{B10BC4EE-BB22-598D-2BF9-36348DA4C45D}"/>
              </a:ext>
            </a:extLst>
          </p:cNvPr>
          <p:cNvSpPr/>
          <p:nvPr/>
        </p:nvSpPr>
        <p:spPr>
          <a:xfrm>
            <a:off x="10024340" y="1099303"/>
            <a:ext cx="424766"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MV</a:t>
            </a:r>
          </a:p>
        </p:txBody>
      </p:sp>
      <p:pic>
        <p:nvPicPr>
          <p:cNvPr id="4" name="Picture 3" descr="A black container with a lid&#10;&#10;AI-generated content may be incorrect.">
            <a:extLst>
              <a:ext uri="{FF2B5EF4-FFF2-40B4-BE49-F238E27FC236}">
                <a16:creationId xmlns:a16="http://schemas.microsoft.com/office/drawing/2014/main" id="{088C2F01-F37A-2F40-2D44-9EFD3670006A}"/>
              </a:ext>
            </a:extLst>
          </p:cNvPr>
          <p:cNvPicPr>
            <a:picLocks noChangeAspect="1"/>
          </p:cNvPicPr>
          <p:nvPr/>
        </p:nvPicPr>
        <p:blipFill>
          <a:blip r:embed="rId5">
            <a:extLst>
              <a:ext uri="{28A0092B-C50C-407E-A947-70E740481C1C}">
                <a14:useLocalDpi xmlns:a14="http://schemas.microsoft.com/office/drawing/2010/main" val="0"/>
              </a:ext>
            </a:extLst>
          </a:blip>
          <a:srcRect l="26174" t="15475" r="24925" b="18202"/>
          <a:stretch/>
        </p:blipFill>
        <p:spPr>
          <a:xfrm>
            <a:off x="8620449" y="1597528"/>
            <a:ext cx="909477" cy="1286457"/>
          </a:xfrm>
          <a:prstGeom prst="rect">
            <a:avLst/>
          </a:prstGeom>
        </p:spPr>
      </p:pic>
      <p:pic>
        <p:nvPicPr>
          <p:cNvPr id="7" name="Picture 6">
            <a:extLst>
              <a:ext uri="{FF2B5EF4-FFF2-40B4-BE49-F238E27FC236}">
                <a16:creationId xmlns:a16="http://schemas.microsoft.com/office/drawing/2014/main" id="{D218AB32-4483-EF70-F7D5-992F4C0751B8}"/>
              </a:ext>
            </a:extLst>
          </p:cNvPr>
          <p:cNvPicPr>
            <a:picLocks noChangeAspect="1"/>
          </p:cNvPicPr>
          <p:nvPr/>
        </p:nvPicPr>
        <p:blipFill>
          <a:blip r:embed="rId6"/>
          <a:srcRect l="7124" t="6956"/>
          <a:stretch/>
        </p:blipFill>
        <p:spPr>
          <a:xfrm>
            <a:off x="4495314" y="3358565"/>
            <a:ext cx="2155864" cy="1209236"/>
          </a:xfrm>
          <a:prstGeom prst="rect">
            <a:avLst/>
          </a:prstGeom>
        </p:spPr>
      </p:pic>
      <p:sp>
        <p:nvSpPr>
          <p:cNvPr id="12" name="Flowchart: Process 11">
            <a:extLst>
              <a:ext uri="{FF2B5EF4-FFF2-40B4-BE49-F238E27FC236}">
                <a16:creationId xmlns:a16="http://schemas.microsoft.com/office/drawing/2014/main" id="{6111C02E-02D1-AE29-E43D-CFD10AFAB62F}"/>
              </a:ext>
            </a:extLst>
          </p:cNvPr>
          <p:cNvSpPr/>
          <p:nvPr/>
        </p:nvSpPr>
        <p:spPr>
          <a:xfrm>
            <a:off x="8402585" y="1364919"/>
            <a:ext cx="561463" cy="259400"/>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5000 LTRS</a:t>
            </a:r>
          </a:p>
        </p:txBody>
      </p:sp>
      <p:sp>
        <p:nvSpPr>
          <p:cNvPr id="21" name="Flowchart: Process 20">
            <a:extLst>
              <a:ext uri="{FF2B5EF4-FFF2-40B4-BE49-F238E27FC236}">
                <a16:creationId xmlns:a16="http://schemas.microsoft.com/office/drawing/2014/main" id="{A199CAB7-A27E-48EB-299F-AE33707732DA}"/>
              </a:ext>
            </a:extLst>
          </p:cNvPr>
          <p:cNvSpPr/>
          <p:nvPr/>
        </p:nvSpPr>
        <p:spPr>
          <a:xfrm>
            <a:off x="6140282" y="3029619"/>
            <a:ext cx="561463" cy="259400"/>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25,000 LTRS</a:t>
            </a:r>
          </a:p>
        </p:txBody>
      </p:sp>
    </p:spTree>
    <p:extLst>
      <p:ext uri="{BB962C8B-B14F-4D97-AF65-F5344CB8AC3E}">
        <p14:creationId xmlns:p14="http://schemas.microsoft.com/office/powerpoint/2010/main" val="2826756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183756"/>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SYSTEM REQUIREMENTS AND ESTIMATE –  </a:t>
            </a:r>
            <a:r>
              <a:rPr lang="en-US" sz="1800" b="1" u="sng" dirty="0">
                <a:solidFill>
                  <a:srgbClr val="002060"/>
                </a:solidFill>
                <a:latin typeface="Times New Roman" pitchFamily="18" charset="0"/>
                <a:cs typeface="Times New Roman" pitchFamily="18" charset="0"/>
              </a:rPr>
              <a:t>BORE TO MAIN BUILDING OHT &amp; CANTEEN OHT</a:t>
            </a:r>
            <a:endParaRPr lang="en-US" sz="18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950001058"/>
              </p:ext>
            </p:extLst>
          </p:nvPr>
        </p:nvGraphicFramePr>
        <p:xfrm>
          <a:off x="347049" y="959161"/>
          <a:ext cx="11487149" cy="4416145"/>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0938">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7705">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GRAPHICS DISPLAY WITH VALVE INTERFACE CONTROLLER </a:t>
                      </a: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27,500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55,000</a:t>
                      </a:r>
                    </a:p>
                  </a:txBody>
                  <a:tcPr marL="9525" marR="9525" marT="9525" marB="0" anchor="ctr"/>
                </a:tc>
                <a:extLst>
                  <a:ext uri="{0D108BD9-81ED-4DB2-BD59-A6C34878D82A}">
                    <a16:rowId xmlns:a16="http://schemas.microsoft.com/office/drawing/2014/main" val="3688442082"/>
                  </a:ext>
                </a:extLst>
              </a:tr>
              <a:tr h="540258">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417936">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33,000</a:t>
                      </a:r>
                    </a:p>
                  </a:txBody>
                  <a:tcPr marL="9525" marR="9525" marT="9525" marB="0" anchor="ctr"/>
                </a:tc>
                <a:extLst>
                  <a:ext uri="{0D108BD9-81ED-4DB2-BD59-A6C34878D82A}">
                    <a16:rowId xmlns:a16="http://schemas.microsoft.com/office/drawing/2014/main" val="86719454"/>
                  </a:ext>
                </a:extLst>
              </a:tr>
              <a:tr h="41496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WIRELESS SMART MOTOR CONTROLLER</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15,500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15,500</a:t>
                      </a:r>
                    </a:p>
                  </a:txBody>
                  <a:tcPr marL="9525" marR="9525" marT="9525" marB="0" anchor="ctr"/>
                </a:tc>
                <a:extLst>
                  <a:ext uri="{0D108BD9-81ED-4DB2-BD59-A6C34878D82A}">
                    <a16:rowId xmlns:a16="http://schemas.microsoft.com/office/drawing/2014/main" val="10005"/>
                  </a:ext>
                </a:extLst>
              </a:tr>
              <a:tr h="379472">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18,825</a:t>
                      </a:r>
                    </a:p>
                  </a:txBody>
                  <a:tcPr marL="9525" marR="9525" marT="9525" marB="0" anchor="ctr"/>
                </a:tc>
                <a:extLst>
                  <a:ext uri="{0D108BD9-81ED-4DB2-BD59-A6C34878D82A}">
                    <a16:rowId xmlns:a16="http://schemas.microsoft.com/office/drawing/2014/main" val="10006"/>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1,44,325 </a:t>
                      </a:r>
                    </a:p>
                  </a:txBody>
                  <a:tcPr marL="9525" marR="9525" marT="9525" marB="0" anchor="ctr">
                    <a:solidFill>
                      <a:srgbClr val="00B050"/>
                    </a:solidFill>
                  </a:tcPr>
                </a:tc>
                <a:extLst>
                  <a:ext uri="{0D108BD9-81ED-4DB2-BD59-A6C34878D82A}">
                    <a16:rowId xmlns:a16="http://schemas.microsoft.com/office/drawing/2014/main" val="10009"/>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25,979 </a:t>
                      </a:r>
                    </a:p>
                  </a:txBody>
                  <a:tcPr marL="9525" marR="9525" marT="9525" marB="0" anchor="ctr">
                    <a:solidFill>
                      <a:srgbClr val="00B050"/>
                    </a:solidFill>
                  </a:tcPr>
                </a:tc>
                <a:extLst>
                  <a:ext uri="{0D108BD9-81ED-4DB2-BD59-A6C34878D82A}">
                    <a16:rowId xmlns:a16="http://schemas.microsoft.com/office/drawing/2014/main" val="4162481690"/>
                  </a:ext>
                </a:extLst>
              </a:tr>
              <a:tr h="568291">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1,70,304 </a:t>
                      </a:r>
                    </a:p>
                  </a:txBody>
                  <a:tcPr marL="9525" marR="9525" marT="9525" marB="0" anchor="ctr">
                    <a:solidFill>
                      <a:srgbClr val="00B050"/>
                    </a:solidFill>
                  </a:tcPr>
                </a:tc>
                <a:extLst>
                  <a:ext uri="{0D108BD9-81ED-4DB2-BD59-A6C34878D82A}">
                    <a16:rowId xmlns:a16="http://schemas.microsoft.com/office/drawing/2014/main" val="10718180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386393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203A5627-F14B-2503-E60F-4FA271FF3549}"/>
              </a:ext>
            </a:extLst>
          </p:cNvPr>
          <p:cNvCxnSpPr>
            <a:cxnSpLocks/>
          </p:cNvCxnSpPr>
          <p:nvPr/>
        </p:nvCxnSpPr>
        <p:spPr>
          <a:xfrm flipH="1">
            <a:off x="4689174" y="2311478"/>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C5298B46-14AE-C2D6-B521-2AE69FC2E602}"/>
              </a:ext>
            </a:extLst>
          </p:cNvPr>
          <p:cNvCxnSpPr>
            <a:cxnSpLocks/>
          </p:cNvCxnSpPr>
          <p:nvPr/>
        </p:nvCxnSpPr>
        <p:spPr>
          <a:xfrm>
            <a:off x="6930639" y="2020028"/>
            <a:ext cx="0" cy="1065004"/>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0" name="Title 1"/>
          <p:cNvSpPr txBox="1">
            <a:spLocks/>
          </p:cNvSpPr>
          <p:nvPr/>
        </p:nvSpPr>
        <p:spPr>
          <a:xfrm>
            <a:off x="2094413" y="196636"/>
            <a:ext cx="7895619"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4 BORE WELL TO OVERHEAD TANK</a:t>
            </a:r>
            <a:endParaRPr lang="en-US" sz="2000" b="1" u="sng" dirty="0">
              <a:solidFill>
                <a:schemeClr val="tx1"/>
              </a:solidFill>
              <a:latin typeface="Times New Roman" pitchFamily="18" charset="0"/>
              <a:cs typeface="Times New Roman" pitchFamily="18" charset="0"/>
            </a:endParaRPr>
          </a:p>
        </p:txBody>
      </p:sp>
      <p:sp>
        <p:nvSpPr>
          <p:cNvPr id="39" name="Rectangle 38"/>
          <p:cNvSpPr/>
          <p:nvPr/>
        </p:nvSpPr>
        <p:spPr>
          <a:xfrm>
            <a:off x="206311" y="259305"/>
            <a:ext cx="678147" cy="276999"/>
          </a:xfrm>
          <a:prstGeom prst="rect">
            <a:avLst/>
          </a:prstGeom>
          <a:solidFill>
            <a:srgbClr val="00B0F0"/>
          </a:solidFill>
        </p:spPr>
        <p:txBody>
          <a:bodyPr wrap="square">
            <a:spAutoFit/>
          </a:bodyPr>
          <a:lstStyle/>
          <a:p>
            <a:pPr algn="ctr"/>
            <a:r>
              <a:rPr lang="en-US" sz="1200" b="1" dirty="0">
                <a:latin typeface="Times New Roman" panose="02020603050405020304" pitchFamily="18" charset="0"/>
                <a:cs typeface="Times New Roman" panose="02020603050405020304" pitchFamily="18" charset="0"/>
              </a:rPr>
              <a:t>SET-3</a:t>
            </a:r>
          </a:p>
        </p:txBody>
      </p:sp>
      <p:pic>
        <p:nvPicPr>
          <p:cNvPr id="5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220405" y="6176457"/>
            <a:ext cx="818090" cy="402811"/>
          </a:xfrm>
          <a:prstGeom prst="rect">
            <a:avLst/>
          </a:prstGeom>
          <a:noFill/>
        </p:spPr>
      </p:pic>
      <p:sp>
        <p:nvSpPr>
          <p:cNvPr id="7" name="Flowchart: Process 6">
            <a:extLst>
              <a:ext uri="{FF2B5EF4-FFF2-40B4-BE49-F238E27FC236}">
                <a16:creationId xmlns:a16="http://schemas.microsoft.com/office/drawing/2014/main" id="{AC38A2DD-6140-B49C-2269-B9AEF0BFE1F8}"/>
              </a:ext>
            </a:extLst>
          </p:cNvPr>
          <p:cNvSpPr/>
          <p:nvPr/>
        </p:nvSpPr>
        <p:spPr>
          <a:xfrm rot="16200000">
            <a:off x="10385110" y="4223050"/>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TANK</a:t>
            </a:r>
          </a:p>
        </p:txBody>
      </p:sp>
      <p:pic>
        <p:nvPicPr>
          <p:cNvPr id="20" name="Picture 19" descr="A blue pipes connected to a tree&#10;&#10;AI-generated content may be incorrect.">
            <a:extLst>
              <a:ext uri="{FF2B5EF4-FFF2-40B4-BE49-F238E27FC236}">
                <a16:creationId xmlns:a16="http://schemas.microsoft.com/office/drawing/2014/main" id="{C0FBBEC7-7104-C2D4-CF83-BE314E4CC8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85" y="5313470"/>
            <a:ext cx="1298545" cy="950598"/>
          </a:xfrm>
          <a:prstGeom prst="rect">
            <a:avLst/>
          </a:prstGeom>
        </p:spPr>
      </p:pic>
      <p:sp>
        <p:nvSpPr>
          <p:cNvPr id="21" name="Flowchart: Process 20">
            <a:extLst>
              <a:ext uri="{FF2B5EF4-FFF2-40B4-BE49-F238E27FC236}">
                <a16:creationId xmlns:a16="http://schemas.microsoft.com/office/drawing/2014/main" id="{B13D8400-58C8-7C71-980E-922A2EA8D5B9}"/>
              </a:ext>
            </a:extLst>
          </p:cNvPr>
          <p:cNvSpPr/>
          <p:nvPr/>
        </p:nvSpPr>
        <p:spPr>
          <a:xfrm rot="16200000">
            <a:off x="699437" y="6007813"/>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cxnSp>
        <p:nvCxnSpPr>
          <p:cNvPr id="27" name="Straight Connector 26">
            <a:extLst>
              <a:ext uri="{FF2B5EF4-FFF2-40B4-BE49-F238E27FC236}">
                <a16:creationId xmlns:a16="http://schemas.microsoft.com/office/drawing/2014/main" id="{DF1FDDC6-7810-5E67-849E-EBDF1D7D0B87}"/>
              </a:ext>
            </a:extLst>
          </p:cNvPr>
          <p:cNvCxnSpPr>
            <a:cxnSpLocks/>
          </p:cNvCxnSpPr>
          <p:nvPr/>
        </p:nvCxnSpPr>
        <p:spPr>
          <a:xfrm flipH="1">
            <a:off x="6930639" y="2032644"/>
            <a:ext cx="276455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A9110939-B89B-4615-2F72-C0682F5D97CD}"/>
              </a:ext>
            </a:extLst>
          </p:cNvPr>
          <p:cNvCxnSpPr>
            <a:cxnSpLocks/>
          </p:cNvCxnSpPr>
          <p:nvPr/>
        </p:nvCxnSpPr>
        <p:spPr>
          <a:xfrm>
            <a:off x="5565350" y="2306800"/>
            <a:ext cx="0" cy="138767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C3331D25-1898-5E77-DA77-C56D34057E5B}"/>
              </a:ext>
            </a:extLst>
          </p:cNvPr>
          <p:cNvCxnSpPr/>
          <p:nvPr/>
        </p:nvCxnSpPr>
        <p:spPr>
          <a:xfrm>
            <a:off x="9678104" y="2025594"/>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5" name="Isosceles Triangle 34">
            <a:extLst>
              <a:ext uri="{FF2B5EF4-FFF2-40B4-BE49-F238E27FC236}">
                <a16:creationId xmlns:a16="http://schemas.microsoft.com/office/drawing/2014/main" id="{8F5EF53F-29CE-9FAE-08B1-B683381CD875}"/>
              </a:ext>
            </a:extLst>
          </p:cNvPr>
          <p:cNvSpPr/>
          <p:nvPr/>
        </p:nvSpPr>
        <p:spPr>
          <a:xfrm rot="10800000" flipH="1">
            <a:off x="9597531" y="250108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FBF442D7-1988-5D9C-7C41-875552DA394B}"/>
              </a:ext>
            </a:extLst>
          </p:cNvPr>
          <p:cNvSpPr/>
          <p:nvPr/>
        </p:nvSpPr>
        <p:spPr>
          <a:xfrm>
            <a:off x="10263805" y="2267022"/>
            <a:ext cx="1043670" cy="3122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EACH TANK 5,000 LTRS</a:t>
            </a:r>
          </a:p>
        </p:txBody>
      </p:sp>
      <p:sp>
        <p:nvSpPr>
          <p:cNvPr id="14" name="Flowchart: Process 13">
            <a:extLst>
              <a:ext uri="{FF2B5EF4-FFF2-40B4-BE49-F238E27FC236}">
                <a16:creationId xmlns:a16="http://schemas.microsoft.com/office/drawing/2014/main" id="{D7C2B782-6C9A-7A63-BABA-D9ADDCEE22E9}"/>
              </a:ext>
            </a:extLst>
          </p:cNvPr>
          <p:cNvSpPr/>
          <p:nvPr/>
        </p:nvSpPr>
        <p:spPr>
          <a:xfrm>
            <a:off x="4808059" y="1969654"/>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sp>
        <p:nvSpPr>
          <p:cNvPr id="16" name="Flowchart: Process 15">
            <a:extLst>
              <a:ext uri="{FF2B5EF4-FFF2-40B4-BE49-F238E27FC236}">
                <a16:creationId xmlns:a16="http://schemas.microsoft.com/office/drawing/2014/main" id="{45FC8A64-2A11-247F-723F-D01AE5EA0B6C}"/>
              </a:ext>
            </a:extLst>
          </p:cNvPr>
          <p:cNvSpPr/>
          <p:nvPr/>
        </p:nvSpPr>
        <p:spPr>
          <a:xfrm>
            <a:off x="8720915" y="2205473"/>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DWG</a:t>
            </a:r>
          </a:p>
        </p:txBody>
      </p:sp>
      <p:sp>
        <p:nvSpPr>
          <p:cNvPr id="17" name="Flowchart: Process 16">
            <a:extLst>
              <a:ext uri="{FF2B5EF4-FFF2-40B4-BE49-F238E27FC236}">
                <a16:creationId xmlns:a16="http://schemas.microsoft.com/office/drawing/2014/main" id="{97F97179-ECE2-8104-E3E4-25832326DD69}"/>
              </a:ext>
            </a:extLst>
          </p:cNvPr>
          <p:cNvSpPr/>
          <p:nvPr/>
        </p:nvSpPr>
        <p:spPr>
          <a:xfrm>
            <a:off x="9236572" y="2208300"/>
            <a:ext cx="384500"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pic>
        <p:nvPicPr>
          <p:cNvPr id="5" name="Picture 4" descr="A black container with a lid&#10;&#10;AI-generated content may be incorrect.">
            <a:extLst>
              <a:ext uri="{FF2B5EF4-FFF2-40B4-BE49-F238E27FC236}">
                <a16:creationId xmlns:a16="http://schemas.microsoft.com/office/drawing/2014/main" id="{336256CB-477D-B956-6273-64E0FE832379}"/>
              </a:ext>
            </a:extLst>
          </p:cNvPr>
          <p:cNvPicPr>
            <a:picLocks noChangeAspect="1"/>
          </p:cNvPicPr>
          <p:nvPr/>
        </p:nvPicPr>
        <p:blipFill>
          <a:blip r:embed="rId4">
            <a:extLst>
              <a:ext uri="{28A0092B-C50C-407E-A947-70E740481C1C}">
                <a14:useLocalDpi xmlns:a14="http://schemas.microsoft.com/office/drawing/2010/main" val="0"/>
              </a:ext>
            </a:extLst>
          </a:blip>
          <a:srcRect l="24317" t="16207" r="24374" b="18202"/>
          <a:stretch/>
        </p:blipFill>
        <p:spPr>
          <a:xfrm>
            <a:off x="9267761" y="2614120"/>
            <a:ext cx="1193563" cy="1591313"/>
          </a:xfrm>
          <a:prstGeom prst="rect">
            <a:avLst/>
          </a:prstGeom>
        </p:spPr>
      </p:pic>
      <p:pic>
        <p:nvPicPr>
          <p:cNvPr id="8" name="Picture 7" descr="A black container with a lid&#10;&#10;AI-generated content may be incorrect.">
            <a:extLst>
              <a:ext uri="{FF2B5EF4-FFF2-40B4-BE49-F238E27FC236}">
                <a16:creationId xmlns:a16="http://schemas.microsoft.com/office/drawing/2014/main" id="{4AB09A13-0E81-E949-5EF1-8BBCA62203F0}"/>
              </a:ext>
            </a:extLst>
          </p:cNvPr>
          <p:cNvPicPr>
            <a:picLocks noChangeAspect="1"/>
          </p:cNvPicPr>
          <p:nvPr/>
        </p:nvPicPr>
        <p:blipFill>
          <a:blip r:embed="rId4">
            <a:extLst>
              <a:ext uri="{28A0092B-C50C-407E-A947-70E740481C1C}">
                <a14:useLocalDpi xmlns:a14="http://schemas.microsoft.com/office/drawing/2010/main" val="0"/>
              </a:ext>
            </a:extLst>
          </a:blip>
          <a:srcRect l="24317" t="16207" r="24374" b="18202"/>
          <a:stretch/>
        </p:blipFill>
        <p:spPr>
          <a:xfrm>
            <a:off x="10625116" y="2612694"/>
            <a:ext cx="1193563" cy="1591313"/>
          </a:xfrm>
          <a:prstGeom prst="rect">
            <a:avLst/>
          </a:prstGeom>
        </p:spPr>
      </p:pic>
      <p:cxnSp>
        <p:nvCxnSpPr>
          <p:cNvPr id="9" name="Straight Connector 8">
            <a:extLst>
              <a:ext uri="{FF2B5EF4-FFF2-40B4-BE49-F238E27FC236}">
                <a16:creationId xmlns:a16="http://schemas.microsoft.com/office/drawing/2014/main" id="{A64824C4-8ED5-2366-FF4E-3435FA45BF3E}"/>
              </a:ext>
            </a:extLst>
          </p:cNvPr>
          <p:cNvCxnSpPr>
            <a:cxnSpLocks/>
          </p:cNvCxnSpPr>
          <p:nvPr/>
        </p:nvCxnSpPr>
        <p:spPr>
          <a:xfrm rot="5400000">
            <a:off x="10558348" y="3659077"/>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2E628C8F-A477-D2A6-B2E2-CB226D1E3FB3}"/>
              </a:ext>
            </a:extLst>
          </p:cNvPr>
          <p:cNvSpPr/>
          <p:nvPr/>
        </p:nvSpPr>
        <p:spPr>
          <a:xfrm>
            <a:off x="9934327" y="4112034"/>
            <a:ext cx="1193564" cy="3122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BOTTOM LINE INTERLINKED</a:t>
            </a:r>
            <a:endParaRPr lang="en-IN" sz="900" b="1" dirty="0">
              <a:solidFill>
                <a:schemeClr val="tx1"/>
              </a:solidFill>
              <a:latin typeface="Times New Roman" panose="02020603050405020304" pitchFamily="18" charset="0"/>
              <a:cs typeface="Times New Roman" panose="02020603050405020304" pitchFamily="18" charset="0"/>
            </a:endParaRPr>
          </a:p>
        </p:txBody>
      </p:sp>
      <p:pic>
        <p:nvPicPr>
          <p:cNvPr id="12" name="Picture 11" descr="A blue pipes connected to a tree&#10;&#10;AI-generated content may be incorrect.">
            <a:extLst>
              <a:ext uri="{FF2B5EF4-FFF2-40B4-BE49-F238E27FC236}">
                <a16:creationId xmlns:a16="http://schemas.microsoft.com/office/drawing/2014/main" id="{7A1BA04F-42CC-0242-B14A-0B2C8D607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85" y="3910859"/>
            <a:ext cx="1298545" cy="950598"/>
          </a:xfrm>
          <a:prstGeom prst="rect">
            <a:avLst/>
          </a:prstGeom>
        </p:spPr>
      </p:pic>
      <p:sp>
        <p:nvSpPr>
          <p:cNvPr id="13" name="Flowchart: Process 12">
            <a:extLst>
              <a:ext uri="{FF2B5EF4-FFF2-40B4-BE49-F238E27FC236}">
                <a16:creationId xmlns:a16="http://schemas.microsoft.com/office/drawing/2014/main" id="{CE4C2493-40E3-6161-52B1-7FD60B7695D9}"/>
              </a:ext>
            </a:extLst>
          </p:cNvPr>
          <p:cNvSpPr/>
          <p:nvPr/>
        </p:nvSpPr>
        <p:spPr>
          <a:xfrm rot="16200000">
            <a:off x="699437" y="4605202"/>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pic>
        <p:nvPicPr>
          <p:cNvPr id="15" name="Picture 14" descr="A blue pipes connected to a tree&#10;&#10;AI-generated content may be incorrect.">
            <a:extLst>
              <a:ext uri="{FF2B5EF4-FFF2-40B4-BE49-F238E27FC236}">
                <a16:creationId xmlns:a16="http://schemas.microsoft.com/office/drawing/2014/main" id="{7FDDC34C-EAA9-E60D-D93C-18C3F2021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175" y="3216415"/>
            <a:ext cx="1298545" cy="950598"/>
          </a:xfrm>
          <a:prstGeom prst="rect">
            <a:avLst/>
          </a:prstGeom>
        </p:spPr>
      </p:pic>
      <p:sp>
        <p:nvSpPr>
          <p:cNvPr id="18" name="Flowchart: Process 17">
            <a:extLst>
              <a:ext uri="{FF2B5EF4-FFF2-40B4-BE49-F238E27FC236}">
                <a16:creationId xmlns:a16="http://schemas.microsoft.com/office/drawing/2014/main" id="{E5CCFA29-6556-D0AD-04C9-CDC5EB402B79}"/>
              </a:ext>
            </a:extLst>
          </p:cNvPr>
          <p:cNvSpPr/>
          <p:nvPr/>
        </p:nvSpPr>
        <p:spPr>
          <a:xfrm rot="16200000">
            <a:off x="3863427" y="3910758"/>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pic>
        <p:nvPicPr>
          <p:cNvPr id="19" name="Picture 18" descr="A blue pipes connected to a tree&#10;&#10;AI-generated content may be incorrect.">
            <a:extLst>
              <a:ext uri="{FF2B5EF4-FFF2-40B4-BE49-F238E27FC236}">
                <a16:creationId xmlns:a16="http://schemas.microsoft.com/office/drawing/2014/main" id="{A3FE2BA1-B44F-87A8-D975-C9420CFAB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175" y="1831328"/>
            <a:ext cx="1298545" cy="950598"/>
          </a:xfrm>
          <a:prstGeom prst="rect">
            <a:avLst/>
          </a:prstGeom>
        </p:spPr>
      </p:pic>
      <p:sp>
        <p:nvSpPr>
          <p:cNvPr id="22" name="Flowchart: Process 21">
            <a:extLst>
              <a:ext uri="{FF2B5EF4-FFF2-40B4-BE49-F238E27FC236}">
                <a16:creationId xmlns:a16="http://schemas.microsoft.com/office/drawing/2014/main" id="{2445D921-7664-4238-23B2-9BC0C7143451}"/>
              </a:ext>
            </a:extLst>
          </p:cNvPr>
          <p:cNvSpPr/>
          <p:nvPr/>
        </p:nvSpPr>
        <p:spPr>
          <a:xfrm rot="16200000">
            <a:off x="3863427" y="2525671"/>
            <a:ext cx="312291" cy="96452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cxnSp>
        <p:nvCxnSpPr>
          <p:cNvPr id="29" name="Straight Connector 28">
            <a:extLst>
              <a:ext uri="{FF2B5EF4-FFF2-40B4-BE49-F238E27FC236}">
                <a16:creationId xmlns:a16="http://schemas.microsoft.com/office/drawing/2014/main" id="{A812950E-04A4-B6EF-AF04-1FA8B04E74A0}"/>
              </a:ext>
            </a:extLst>
          </p:cNvPr>
          <p:cNvCxnSpPr>
            <a:cxnSpLocks/>
          </p:cNvCxnSpPr>
          <p:nvPr/>
        </p:nvCxnSpPr>
        <p:spPr>
          <a:xfrm flipH="1">
            <a:off x="4697720" y="3694473"/>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DE6CBA26-617A-847C-9839-9337162B773A}"/>
              </a:ext>
            </a:extLst>
          </p:cNvPr>
          <p:cNvCxnSpPr>
            <a:cxnSpLocks/>
          </p:cNvCxnSpPr>
          <p:nvPr/>
        </p:nvCxnSpPr>
        <p:spPr>
          <a:xfrm flipH="1">
            <a:off x="5565350" y="3079176"/>
            <a:ext cx="1389734"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27C575B9-2153-54C9-0E5E-B131097C063C}"/>
              </a:ext>
            </a:extLst>
          </p:cNvPr>
          <p:cNvCxnSpPr>
            <a:cxnSpLocks/>
          </p:cNvCxnSpPr>
          <p:nvPr/>
        </p:nvCxnSpPr>
        <p:spPr>
          <a:xfrm flipH="1">
            <a:off x="3042303" y="1256232"/>
            <a:ext cx="700890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1E628E6D-AC52-A777-7FC5-0475786A43E3}"/>
              </a:ext>
            </a:extLst>
          </p:cNvPr>
          <p:cNvCxnSpPr>
            <a:cxnSpLocks/>
          </p:cNvCxnSpPr>
          <p:nvPr/>
        </p:nvCxnSpPr>
        <p:spPr>
          <a:xfrm>
            <a:off x="10029427" y="1256232"/>
            <a:ext cx="0" cy="1265179"/>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2" name="Isosceles Triangle 41">
            <a:extLst>
              <a:ext uri="{FF2B5EF4-FFF2-40B4-BE49-F238E27FC236}">
                <a16:creationId xmlns:a16="http://schemas.microsoft.com/office/drawing/2014/main" id="{B486DCBE-BD05-1934-A5D0-8E92ED3BBC8A}"/>
              </a:ext>
            </a:extLst>
          </p:cNvPr>
          <p:cNvSpPr/>
          <p:nvPr/>
        </p:nvSpPr>
        <p:spPr>
          <a:xfrm rot="10800000" flipH="1">
            <a:off x="9948854" y="250813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7" name="Straight Connector 46">
            <a:extLst>
              <a:ext uri="{FF2B5EF4-FFF2-40B4-BE49-F238E27FC236}">
                <a16:creationId xmlns:a16="http://schemas.microsoft.com/office/drawing/2014/main" id="{E4D864A8-6DDC-99CB-9B0A-FBE2E0AA7B37}"/>
              </a:ext>
            </a:extLst>
          </p:cNvPr>
          <p:cNvCxnSpPr>
            <a:cxnSpLocks/>
          </p:cNvCxnSpPr>
          <p:nvPr/>
        </p:nvCxnSpPr>
        <p:spPr>
          <a:xfrm>
            <a:off x="3042303" y="1241796"/>
            <a:ext cx="0" cy="3783131"/>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9" name="Flowchart: Process 48">
            <a:extLst>
              <a:ext uri="{FF2B5EF4-FFF2-40B4-BE49-F238E27FC236}">
                <a16:creationId xmlns:a16="http://schemas.microsoft.com/office/drawing/2014/main" id="{DFB51FB0-420E-029E-1B9D-CC2369F0CE89}"/>
              </a:ext>
            </a:extLst>
          </p:cNvPr>
          <p:cNvSpPr/>
          <p:nvPr/>
        </p:nvSpPr>
        <p:spPr>
          <a:xfrm>
            <a:off x="4808059" y="3369113"/>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cxnSp>
        <p:nvCxnSpPr>
          <p:cNvPr id="50" name="Straight Connector 49">
            <a:extLst>
              <a:ext uri="{FF2B5EF4-FFF2-40B4-BE49-F238E27FC236}">
                <a16:creationId xmlns:a16="http://schemas.microsoft.com/office/drawing/2014/main" id="{0B595772-FD85-C36C-A6C4-C9A05245CE36}"/>
              </a:ext>
            </a:extLst>
          </p:cNvPr>
          <p:cNvCxnSpPr>
            <a:cxnSpLocks/>
          </p:cNvCxnSpPr>
          <p:nvPr/>
        </p:nvCxnSpPr>
        <p:spPr>
          <a:xfrm>
            <a:off x="2389472" y="4394880"/>
            <a:ext cx="0" cy="138767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1" name="Flowchart: Process 50">
            <a:extLst>
              <a:ext uri="{FF2B5EF4-FFF2-40B4-BE49-F238E27FC236}">
                <a16:creationId xmlns:a16="http://schemas.microsoft.com/office/drawing/2014/main" id="{51E5A250-70EE-C808-1A46-3C1E2CF99A69}"/>
              </a:ext>
            </a:extLst>
          </p:cNvPr>
          <p:cNvSpPr/>
          <p:nvPr/>
        </p:nvSpPr>
        <p:spPr>
          <a:xfrm>
            <a:off x="1632181" y="4057734"/>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cxnSp>
        <p:nvCxnSpPr>
          <p:cNvPr id="52" name="Straight Connector 51">
            <a:extLst>
              <a:ext uri="{FF2B5EF4-FFF2-40B4-BE49-F238E27FC236}">
                <a16:creationId xmlns:a16="http://schemas.microsoft.com/office/drawing/2014/main" id="{ECE66640-46AB-B834-F0B5-D6A5C94EBF67}"/>
              </a:ext>
            </a:extLst>
          </p:cNvPr>
          <p:cNvCxnSpPr>
            <a:cxnSpLocks/>
          </p:cNvCxnSpPr>
          <p:nvPr/>
        </p:nvCxnSpPr>
        <p:spPr>
          <a:xfrm flipH="1">
            <a:off x="1513296" y="4399558"/>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53" name="Straight Connector 52">
            <a:extLst>
              <a:ext uri="{FF2B5EF4-FFF2-40B4-BE49-F238E27FC236}">
                <a16:creationId xmlns:a16="http://schemas.microsoft.com/office/drawing/2014/main" id="{023641CA-C722-55B6-9171-2A50200A9324}"/>
              </a:ext>
            </a:extLst>
          </p:cNvPr>
          <p:cNvCxnSpPr>
            <a:cxnSpLocks/>
          </p:cNvCxnSpPr>
          <p:nvPr/>
        </p:nvCxnSpPr>
        <p:spPr>
          <a:xfrm flipH="1">
            <a:off x="1521842" y="5782553"/>
            <a:ext cx="87617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4" name="Flowchart: Process 53">
            <a:extLst>
              <a:ext uri="{FF2B5EF4-FFF2-40B4-BE49-F238E27FC236}">
                <a16:creationId xmlns:a16="http://schemas.microsoft.com/office/drawing/2014/main" id="{031D31D9-3F82-7C49-86D8-BF7903EF4E1F}"/>
              </a:ext>
            </a:extLst>
          </p:cNvPr>
          <p:cNvSpPr/>
          <p:nvPr/>
        </p:nvSpPr>
        <p:spPr>
          <a:xfrm>
            <a:off x="1632181" y="5457193"/>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SMC</a:t>
            </a:r>
          </a:p>
        </p:txBody>
      </p:sp>
      <p:cxnSp>
        <p:nvCxnSpPr>
          <p:cNvPr id="56" name="Straight Connector 55">
            <a:extLst>
              <a:ext uri="{FF2B5EF4-FFF2-40B4-BE49-F238E27FC236}">
                <a16:creationId xmlns:a16="http://schemas.microsoft.com/office/drawing/2014/main" id="{7616922B-DBA1-23B6-14BD-4AC2B97E4A13}"/>
              </a:ext>
            </a:extLst>
          </p:cNvPr>
          <p:cNvCxnSpPr>
            <a:cxnSpLocks/>
          </p:cNvCxnSpPr>
          <p:nvPr/>
        </p:nvCxnSpPr>
        <p:spPr>
          <a:xfrm flipH="1">
            <a:off x="2406564" y="5024927"/>
            <a:ext cx="644285"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9" name="Flowchart: Process 58">
            <a:extLst>
              <a:ext uri="{FF2B5EF4-FFF2-40B4-BE49-F238E27FC236}">
                <a16:creationId xmlns:a16="http://schemas.microsoft.com/office/drawing/2014/main" id="{631DEE3C-F9AA-A0D2-147E-0F06F94C15BB}"/>
              </a:ext>
            </a:extLst>
          </p:cNvPr>
          <p:cNvSpPr/>
          <p:nvPr/>
        </p:nvSpPr>
        <p:spPr>
          <a:xfrm>
            <a:off x="9026778" y="1365141"/>
            <a:ext cx="481965"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DWG</a:t>
            </a:r>
          </a:p>
        </p:txBody>
      </p:sp>
      <p:sp>
        <p:nvSpPr>
          <p:cNvPr id="61" name="Flowchart: Process 60">
            <a:extLst>
              <a:ext uri="{FF2B5EF4-FFF2-40B4-BE49-F238E27FC236}">
                <a16:creationId xmlns:a16="http://schemas.microsoft.com/office/drawing/2014/main" id="{9F393885-07AE-6253-3E12-50369A5207E0}"/>
              </a:ext>
            </a:extLst>
          </p:cNvPr>
          <p:cNvSpPr/>
          <p:nvPr/>
        </p:nvSpPr>
        <p:spPr>
          <a:xfrm>
            <a:off x="9542435" y="1367968"/>
            <a:ext cx="384500"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Tree>
    <p:extLst>
      <p:ext uri="{BB962C8B-B14F-4D97-AF65-F5344CB8AC3E}">
        <p14:creationId xmlns:p14="http://schemas.microsoft.com/office/powerpoint/2010/main" val="3857228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132483"/>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US" sz="2000" b="1" u="sng" dirty="0">
                <a:solidFill>
                  <a:srgbClr val="002060"/>
                </a:solidFill>
                <a:latin typeface="Times New Roman" pitchFamily="18" charset="0"/>
                <a:cs typeface="Times New Roman" pitchFamily="18" charset="0"/>
              </a:rPr>
              <a:t>4 BORE WELL TO OVERHEAD TANK</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781711698"/>
              </p:ext>
            </p:extLst>
          </p:nvPr>
        </p:nvGraphicFramePr>
        <p:xfrm>
          <a:off x="347049" y="865158"/>
          <a:ext cx="11487149" cy="3783753"/>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499462">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23525">
                <a:tc>
                  <a:txBody>
                    <a:bodyPr/>
                    <a:lstStyle/>
                    <a:p>
                      <a:pPr algn="l">
                        <a:buFont typeface="Arial" pitchFamily="34" charset="0"/>
                        <a:buNone/>
                      </a:pPr>
                      <a:r>
                        <a:rPr lang="en-US" sz="1200" b="1" dirty="0">
                          <a:latin typeface="Times New Roman" pitchFamily="18" charset="0"/>
                          <a:cs typeface="Times New Roman" pitchFamily="18" charset="0"/>
                        </a:rPr>
                        <a:t>WIRELESS SMART MOTOR CONTROLLER</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4</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62,000</a:t>
                      </a:r>
                    </a:p>
                  </a:txBody>
                  <a:tcPr marL="9525" marR="9525" marT="9525" marB="0" anchor="ctr"/>
                </a:tc>
                <a:extLst>
                  <a:ext uri="{0D108BD9-81ED-4DB2-BD59-A6C34878D82A}">
                    <a16:rowId xmlns:a16="http://schemas.microsoft.com/office/drawing/2014/main" val="10001"/>
                  </a:ext>
                </a:extLst>
              </a:tr>
              <a:tr h="50823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22,000</a:t>
                      </a:r>
                    </a:p>
                  </a:txBody>
                  <a:tcPr marL="9525" marR="9525" marT="9525" marB="0" anchor="ctr"/>
                </a:tc>
                <a:extLst>
                  <a:ext uri="{0D108BD9-81ED-4DB2-BD59-A6C34878D82A}">
                    <a16:rowId xmlns:a16="http://schemas.microsoft.com/office/drawing/2014/main" val="3360900633"/>
                  </a:ext>
                </a:extLst>
              </a:tr>
              <a:tr h="391760">
                <a:tc>
                  <a:txBody>
                    <a:bodyPr/>
                    <a:lstStyle/>
                    <a:p>
                      <a:pPr algn="l">
                        <a:buFont typeface="Arial" pitchFamily="34" charset="0"/>
                        <a:buNone/>
                      </a:pPr>
                      <a:r>
                        <a:rPr lang="en-US" sz="1200" b="1" dirty="0">
                          <a:latin typeface="Times New Roman" pitchFamily="18" charset="0"/>
                          <a:cs typeface="Times New Roman" pitchFamily="18" charset="0"/>
                        </a:rPr>
                        <a:t>MULTI SEGMENT GRAPHICS DISPLAY WITH GSM</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2</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31,000</a:t>
                      </a:r>
                    </a:p>
                  </a:txBody>
                  <a:tcPr marL="9525" marR="9525" marT="9525" marB="0" anchor="ctr"/>
                </a:tc>
                <a:extLst>
                  <a:ext uri="{0D108BD9-81ED-4DB2-BD59-A6C34878D82A}">
                    <a16:rowId xmlns:a16="http://schemas.microsoft.com/office/drawing/2014/main" val="10003"/>
                  </a:ext>
                </a:extLst>
              </a:tr>
              <a:tr h="356976">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17,250</a:t>
                      </a:r>
                    </a:p>
                  </a:txBody>
                  <a:tcPr marL="9525" marR="9525" marT="9525" marB="0" anchor="ctr"/>
                </a:tc>
                <a:extLst>
                  <a:ext uri="{0D108BD9-81ED-4DB2-BD59-A6C34878D82A}">
                    <a16:rowId xmlns:a16="http://schemas.microsoft.com/office/drawing/2014/main" val="1000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1,32,250 </a:t>
                      </a:r>
                    </a:p>
                  </a:txBody>
                  <a:tcPr marL="9525" marR="9525" marT="9525" marB="0" anchor="ctr">
                    <a:solidFill>
                      <a:srgbClr val="00B050"/>
                    </a:solidFill>
                  </a:tcPr>
                </a:tc>
                <a:extLst>
                  <a:ext uri="{0D108BD9-81ED-4DB2-BD59-A6C34878D82A}">
                    <a16:rowId xmlns:a16="http://schemas.microsoft.com/office/drawing/2014/main" val="10009"/>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23,805 </a:t>
                      </a:r>
                    </a:p>
                  </a:txBody>
                  <a:tcPr marL="9525" marR="9525" marT="9525" marB="0" anchor="ctr">
                    <a:solidFill>
                      <a:srgbClr val="00B050"/>
                    </a:solidFill>
                  </a:tcPr>
                </a:tc>
                <a:extLst>
                  <a:ext uri="{0D108BD9-81ED-4DB2-BD59-A6C34878D82A}">
                    <a16:rowId xmlns:a16="http://schemas.microsoft.com/office/drawing/2014/main" val="2743114346"/>
                  </a:ext>
                </a:extLst>
              </a:tr>
              <a:tr h="534600">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1,56,055 </a:t>
                      </a:r>
                    </a:p>
                  </a:txBody>
                  <a:tcPr marL="9525" marR="9525" marT="9525" marB="0" anchor="ctr">
                    <a:solidFill>
                      <a:srgbClr val="00B050"/>
                    </a:solidFill>
                  </a:tcPr>
                </a:tc>
                <a:extLst>
                  <a:ext uri="{0D108BD9-81ED-4DB2-BD59-A6C34878D82A}">
                    <a16:rowId xmlns:a16="http://schemas.microsoft.com/office/drawing/2014/main" val="2109816264"/>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36514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 name="Straight Connector 113"/>
          <p:cNvCxnSpPr/>
          <p:nvPr/>
        </p:nvCxnSpPr>
        <p:spPr>
          <a:xfrm flipV="1">
            <a:off x="2380772" y="5339132"/>
            <a:ext cx="11455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2" name="Straight Connector 11"/>
          <p:cNvCxnSpPr/>
          <p:nvPr/>
        </p:nvCxnSpPr>
        <p:spPr>
          <a:xfrm flipH="1" flipV="1">
            <a:off x="4025879" y="1402496"/>
            <a:ext cx="7312660" cy="8890"/>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p:cNvCxnSpPr/>
          <p:nvPr/>
        </p:nvCxnSpPr>
        <p:spPr>
          <a:xfrm flipH="1" flipV="1">
            <a:off x="4049449" y="1437212"/>
            <a:ext cx="2540" cy="2525395"/>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sp>
        <p:nvSpPr>
          <p:cNvPr id="37" name="Title 1"/>
          <p:cNvSpPr txBox="1"/>
          <p:nvPr/>
        </p:nvSpPr>
        <p:spPr>
          <a:xfrm>
            <a:off x="483954" y="199646"/>
            <a:ext cx="11146071" cy="662151"/>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IN" sz="2000" b="1" u="sng" dirty="0">
                <a:solidFill>
                  <a:srgbClr val="FF0000"/>
                </a:solidFill>
                <a:latin typeface="Times New Roman" panose="02020603050405020304" pitchFamily="18" charset="0"/>
                <a:cs typeface="Times New Roman" panose="02020603050405020304" pitchFamily="18" charset="0"/>
              </a:rPr>
              <a:t>FULLY AUTOMATION – </a:t>
            </a:r>
            <a:r>
              <a:rPr lang="en-IN" sz="2000" b="1" u="sng" dirty="0">
                <a:solidFill>
                  <a:srgbClr val="002060"/>
                </a:solidFill>
                <a:latin typeface="Times New Roman" panose="02020603050405020304" pitchFamily="18" charset="0"/>
                <a:cs typeface="Times New Roman" panose="02020603050405020304" pitchFamily="18" charset="0"/>
              </a:rPr>
              <a:t> FRO</a:t>
            </a:r>
            <a:r>
              <a:rPr lang="en-IN" sz="2000" b="1" u="sng" dirty="0">
                <a:solidFill>
                  <a:srgbClr val="002060"/>
                </a:solidFill>
                <a:latin typeface="Times New Roman" panose="02020603050405020304" pitchFamily="18" charset="0"/>
                <a:cs typeface="Times New Roman" panose="02020603050405020304" pitchFamily="18" charset="0"/>
                <a:sym typeface="+mn-ea"/>
              </a:rPr>
              <a:t>M 5 BOREWELLS TO</a:t>
            </a:r>
            <a:r>
              <a:rPr lang="en-US" altLang="en-IN" sz="2000" b="1" u="sng" dirty="0">
                <a:solidFill>
                  <a:srgbClr val="002060"/>
                </a:solidFill>
                <a:latin typeface="Times New Roman" panose="02020603050405020304" pitchFamily="18" charset="0"/>
                <a:cs typeface="Times New Roman" panose="02020603050405020304" pitchFamily="18" charset="0"/>
                <a:sym typeface="+mn-ea"/>
              </a:rPr>
              <a:t> </a:t>
            </a:r>
            <a:r>
              <a:rPr lang="en-IN" sz="2000" b="1" u="sng" dirty="0">
                <a:solidFill>
                  <a:srgbClr val="002060"/>
                </a:solidFill>
                <a:latin typeface="Times New Roman" panose="02020603050405020304" pitchFamily="18" charset="0"/>
                <a:cs typeface="Times New Roman" panose="02020603050405020304" pitchFamily="18" charset="0"/>
              </a:rPr>
              <a:t>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7030A0"/>
              </a:solidFill>
              <a:latin typeface="Times New Roman" panose="02020603050405020304" pitchFamily="18" charset="0"/>
              <a:cs typeface="Times New Roman" panose="02020603050405020304" pitchFamily="18" charset="0"/>
            </a:endParaRPr>
          </a:p>
        </p:txBody>
      </p:sp>
      <p:sp>
        <p:nvSpPr>
          <p:cNvPr id="28" name="Flowchart: Process 27"/>
          <p:cNvSpPr/>
          <p:nvPr/>
        </p:nvSpPr>
        <p:spPr>
          <a:xfrm rot="16200000">
            <a:off x="3734435" y="5862320"/>
            <a:ext cx="271780" cy="56642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200" b="1" dirty="0">
                <a:solidFill>
                  <a:schemeClr val="bg1"/>
                </a:solidFill>
              </a:rPr>
              <a:t> SUMP </a:t>
            </a:r>
          </a:p>
        </p:txBody>
      </p:sp>
      <p:pic>
        <p:nvPicPr>
          <p:cNvPr id="29"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9070" y="4466162"/>
            <a:ext cx="1804248" cy="148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Flowchart: Process 30"/>
          <p:cNvSpPr/>
          <p:nvPr/>
        </p:nvSpPr>
        <p:spPr>
          <a:xfrm>
            <a:off x="5020945" y="5041265"/>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4" name="Flowchart: Process 33"/>
          <p:cNvSpPr/>
          <p:nvPr/>
        </p:nvSpPr>
        <p:spPr>
          <a:xfrm>
            <a:off x="5039359" y="5339080"/>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cxnSp>
        <p:nvCxnSpPr>
          <p:cNvPr id="35" name="Straight Connector 34"/>
          <p:cNvCxnSpPr/>
          <p:nvPr/>
        </p:nvCxnSpPr>
        <p:spPr>
          <a:xfrm>
            <a:off x="5063647" y="140911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6" name="Isosceles Triangle 35"/>
          <p:cNvSpPr/>
          <p:nvPr/>
        </p:nvSpPr>
        <p:spPr>
          <a:xfrm rot="10800000" flipH="1">
            <a:off x="4982621" y="1861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3100" y="2042160"/>
            <a:ext cx="1143635" cy="1143635"/>
          </a:xfrm>
          <a:prstGeom prst="rect">
            <a:avLst/>
          </a:prstGeom>
        </p:spPr>
      </p:pic>
      <p:sp>
        <p:nvSpPr>
          <p:cNvPr id="39" name="Flowchart: Process 38"/>
          <p:cNvSpPr/>
          <p:nvPr/>
        </p:nvSpPr>
        <p:spPr>
          <a:xfrm rot="16200000">
            <a:off x="4852674" y="3012436"/>
            <a:ext cx="421632"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MAIN BUILDING OHT</a:t>
            </a:r>
          </a:p>
        </p:txBody>
      </p:sp>
      <p:sp>
        <p:nvSpPr>
          <p:cNvPr id="46" name="Flowchart: Process 45"/>
          <p:cNvSpPr/>
          <p:nvPr/>
        </p:nvSpPr>
        <p:spPr>
          <a:xfrm>
            <a:off x="4244976" y="1776730"/>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1" name="Flowchart: Process 50"/>
          <p:cNvSpPr/>
          <p:nvPr/>
        </p:nvSpPr>
        <p:spPr>
          <a:xfrm>
            <a:off x="4244975" y="1482605"/>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r="4071" b="13918"/>
          <a:stretch>
            <a:fillRect/>
          </a:stretch>
        </p:blipFill>
        <p:spPr>
          <a:xfrm rot="16200000">
            <a:off x="3711343" y="3143580"/>
            <a:ext cx="529603" cy="355973"/>
          </a:xfrm>
          <a:prstGeom prst="rect">
            <a:avLst/>
          </a:prstGeom>
        </p:spPr>
      </p:pic>
      <p:sp>
        <p:nvSpPr>
          <p:cNvPr id="57" name="Flowchart: Process 56"/>
          <p:cNvSpPr/>
          <p:nvPr/>
        </p:nvSpPr>
        <p:spPr>
          <a:xfrm>
            <a:off x="3306958" y="3166601"/>
            <a:ext cx="432901" cy="220781"/>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PRV</a:t>
            </a:r>
          </a:p>
        </p:txBody>
      </p:sp>
      <p:sp>
        <p:nvSpPr>
          <p:cNvPr id="64" name="Rectangle 63"/>
          <p:cNvSpPr/>
          <p:nvPr/>
        </p:nvSpPr>
        <p:spPr>
          <a:xfrm>
            <a:off x="3138805" y="3429635"/>
            <a:ext cx="819785"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NEED 2NO’S NRV</a:t>
            </a: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8" name="Flowchart: Process 7"/>
          <p:cNvSpPr/>
          <p:nvPr/>
        </p:nvSpPr>
        <p:spPr>
          <a:xfrm rot="16200000">
            <a:off x="1231957" y="6119066"/>
            <a:ext cx="357644"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- 5 </a:t>
            </a:r>
          </a:p>
        </p:txBody>
      </p:sp>
      <p:sp>
        <p:nvSpPr>
          <p:cNvPr id="122" name="Flowchart: Process 121"/>
          <p:cNvSpPr/>
          <p:nvPr/>
        </p:nvSpPr>
        <p:spPr>
          <a:xfrm>
            <a:off x="266885" y="5958840"/>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123"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5312410"/>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26" name="Picture 125"/>
          <p:cNvPicPr>
            <a:picLocks noChangeAspect="1" noChangeArrowheads="1"/>
          </p:cNvPicPr>
          <p:nvPr/>
        </p:nvPicPr>
        <p:blipFill>
          <a:blip r:embed="rId6" cstate="print"/>
          <a:srcRect l="3103" t="11379" r="4000" b="13931"/>
          <a:stretch>
            <a:fillRect/>
          </a:stretch>
        </p:blipFill>
        <p:spPr bwMode="auto">
          <a:xfrm>
            <a:off x="224156" y="5495535"/>
            <a:ext cx="544622" cy="437881"/>
          </a:xfrm>
          <a:prstGeom prst="rect">
            <a:avLst/>
          </a:prstGeom>
          <a:noFill/>
          <a:ln w="9525">
            <a:noFill/>
            <a:miter lim="800000"/>
            <a:headEnd/>
            <a:tailEnd/>
          </a:ln>
          <a:effectLst/>
        </p:spPr>
      </p:pic>
      <p:pic>
        <p:nvPicPr>
          <p:cNvPr id="409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5440680"/>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lowchart: Process 5"/>
          <p:cNvSpPr/>
          <p:nvPr/>
        </p:nvSpPr>
        <p:spPr>
          <a:xfrm rot="16200000">
            <a:off x="1264320" y="4945264"/>
            <a:ext cx="310010"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- 4</a:t>
            </a:r>
          </a:p>
        </p:txBody>
      </p:sp>
      <p:sp>
        <p:nvSpPr>
          <p:cNvPr id="7" name="Flowchart: Process 6"/>
          <p:cNvSpPr/>
          <p:nvPr/>
        </p:nvSpPr>
        <p:spPr>
          <a:xfrm>
            <a:off x="266885" y="480885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9"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416242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9"/>
          <p:cNvPicPr>
            <a:picLocks noChangeAspect="1" noChangeArrowheads="1"/>
          </p:cNvPicPr>
          <p:nvPr/>
        </p:nvPicPr>
        <p:blipFill>
          <a:blip r:embed="rId6" cstate="print"/>
          <a:srcRect l="3103" t="11379" r="4000" b="13931"/>
          <a:stretch>
            <a:fillRect/>
          </a:stretch>
        </p:blipFill>
        <p:spPr bwMode="auto">
          <a:xfrm>
            <a:off x="224156" y="4345550"/>
            <a:ext cx="544622" cy="437881"/>
          </a:xfrm>
          <a:prstGeom prst="rect">
            <a:avLst/>
          </a:prstGeom>
          <a:noFill/>
          <a:ln w="9525">
            <a:noFill/>
            <a:miter lim="800000"/>
            <a:headEnd/>
            <a:tailEnd/>
          </a:ln>
          <a:effectLst/>
        </p:spPr>
      </p:pic>
      <p:pic>
        <p:nvPicPr>
          <p:cNvPr id="1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429069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Flowchart: Process 13"/>
          <p:cNvSpPr/>
          <p:nvPr/>
        </p:nvSpPr>
        <p:spPr>
          <a:xfrm rot="16200000">
            <a:off x="1292728" y="3842437"/>
            <a:ext cx="253193"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- 3</a:t>
            </a:r>
          </a:p>
        </p:txBody>
      </p:sp>
      <p:sp>
        <p:nvSpPr>
          <p:cNvPr id="15" name="Flowchart: Process 14"/>
          <p:cNvSpPr/>
          <p:nvPr/>
        </p:nvSpPr>
        <p:spPr>
          <a:xfrm>
            <a:off x="266885" y="373443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16"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308800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7" name="Picture 16"/>
          <p:cNvPicPr>
            <a:picLocks noChangeAspect="1" noChangeArrowheads="1"/>
          </p:cNvPicPr>
          <p:nvPr/>
        </p:nvPicPr>
        <p:blipFill>
          <a:blip r:embed="rId6" cstate="print"/>
          <a:srcRect l="3103" t="11379" r="4000" b="13931"/>
          <a:stretch>
            <a:fillRect/>
          </a:stretch>
        </p:blipFill>
        <p:spPr bwMode="auto">
          <a:xfrm>
            <a:off x="224156" y="3271130"/>
            <a:ext cx="544622" cy="437881"/>
          </a:xfrm>
          <a:prstGeom prst="rect">
            <a:avLst/>
          </a:prstGeom>
          <a:noFill/>
          <a:ln w="9525">
            <a:noFill/>
            <a:miter lim="800000"/>
            <a:headEnd/>
            <a:tailEnd/>
          </a:ln>
          <a:effectLst/>
        </p:spPr>
      </p:pic>
      <p:pic>
        <p:nvPicPr>
          <p:cNvPr id="1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321627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Flowchart: Process 18"/>
          <p:cNvSpPr/>
          <p:nvPr/>
        </p:nvSpPr>
        <p:spPr>
          <a:xfrm rot="16200000">
            <a:off x="1292728" y="2685467"/>
            <a:ext cx="253193"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- 2</a:t>
            </a:r>
          </a:p>
        </p:txBody>
      </p:sp>
      <p:sp>
        <p:nvSpPr>
          <p:cNvPr id="20" name="Flowchart: Process 19"/>
          <p:cNvSpPr/>
          <p:nvPr/>
        </p:nvSpPr>
        <p:spPr>
          <a:xfrm>
            <a:off x="266885" y="257746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21"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193103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2" name="Picture 21"/>
          <p:cNvPicPr>
            <a:picLocks noChangeAspect="1" noChangeArrowheads="1"/>
          </p:cNvPicPr>
          <p:nvPr/>
        </p:nvPicPr>
        <p:blipFill>
          <a:blip r:embed="rId6" cstate="print"/>
          <a:srcRect l="3103" t="11379" r="4000" b="13931"/>
          <a:stretch>
            <a:fillRect/>
          </a:stretch>
        </p:blipFill>
        <p:spPr bwMode="auto">
          <a:xfrm>
            <a:off x="224156" y="2114160"/>
            <a:ext cx="544622" cy="437881"/>
          </a:xfrm>
          <a:prstGeom prst="rect">
            <a:avLst/>
          </a:prstGeom>
          <a:noFill/>
          <a:ln w="9525">
            <a:noFill/>
            <a:miter lim="800000"/>
            <a:headEnd/>
            <a:tailEnd/>
          </a:ln>
          <a:effectLst/>
        </p:spPr>
      </p:pic>
      <p:pic>
        <p:nvPicPr>
          <p:cNvPr id="23"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205930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Flowchart: Process 23"/>
          <p:cNvSpPr/>
          <p:nvPr/>
        </p:nvSpPr>
        <p:spPr>
          <a:xfrm rot="16200000">
            <a:off x="1292728" y="1556437"/>
            <a:ext cx="253193" cy="59228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BORE - 1</a:t>
            </a:r>
          </a:p>
        </p:txBody>
      </p:sp>
      <p:sp>
        <p:nvSpPr>
          <p:cNvPr id="25" name="Flowchart: Process 24"/>
          <p:cNvSpPr/>
          <p:nvPr/>
        </p:nvSpPr>
        <p:spPr>
          <a:xfrm>
            <a:off x="266885" y="1448435"/>
            <a:ext cx="443186" cy="23241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SMC</a:t>
            </a:r>
          </a:p>
        </p:txBody>
      </p:sp>
      <p:pic>
        <p:nvPicPr>
          <p:cNvPr id="26" name="Picture 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rot="20738523">
            <a:off x="685165" y="802005"/>
            <a:ext cx="164465" cy="16446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7" name="Picture 26"/>
          <p:cNvPicPr>
            <a:picLocks noChangeAspect="1" noChangeArrowheads="1"/>
          </p:cNvPicPr>
          <p:nvPr/>
        </p:nvPicPr>
        <p:blipFill>
          <a:blip r:embed="rId6" cstate="print"/>
          <a:srcRect l="3103" t="11379" r="4000" b="13931"/>
          <a:stretch>
            <a:fillRect/>
          </a:stretch>
        </p:blipFill>
        <p:spPr bwMode="auto">
          <a:xfrm>
            <a:off x="224156" y="985130"/>
            <a:ext cx="544622" cy="437881"/>
          </a:xfrm>
          <a:prstGeom prst="rect">
            <a:avLst/>
          </a:prstGeom>
          <a:noFill/>
          <a:ln w="9525">
            <a:noFill/>
            <a:miter lim="800000"/>
            <a:headEnd/>
            <a:tailEnd/>
          </a:ln>
          <a:effectLst/>
        </p:spPr>
      </p:pic>
      <p:pic>
        <p:nvPicPr>
          <p:cNvPr id="3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355" y="930275"/>
            <a:ext cx="984250" cy="75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2" name="Straight Connector 31"/>
          <p:cNvCxnSpPr/>
          <p:nvPr/>
        </p:nvCxnSpPr>
        <p:spPr>
          <a:xfrm flipV="1">
            <a:off x="2401624" y="1212422"/>
            <a:ext cx="635" cy="4745990"/>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cxnSp>
        <p:nvCxnSpPr>
          <p:cNvPr id="33" name="Straight Connector 32"/>
          <p:cNvCxnSpPr/>
          <p:nvPr/>
        </p:nvCxnSpPr>
        <p:spPr>
          <a:xfrm rot="16200000">
            <a:off x="2159792" y="9970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8" name="Straight Connector 37"/>
          <p:cNvCxnSpPr/>
          <p:nvPr/>
        </p:nvCxnSpPr>
        <p:spPr>
          <a:xfrm rot="16200000">
            <a:off x="2154077" y="220286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2" name="Straight Connector 41"/>
          <p:cNvCxnSpPr/>
          <p:nvPr/>
        </p:nvCxnSpPr>
        <p:spPr>
          <a:xfrm rot="16200000">
            <a:off x="2154077" y="336936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8" name="Straight Connector 47"/>
          <p:cNvCxnSpPr/>
          <p:nvPr/>
        </p:nvCxnSpPr>
        <p:spPr>
          <a:xfrm rot="16200000">
            <a:off x="2154077" y="443425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2" name="Straight Connector 101"/>
          <p:cNvCxnSpPr/>
          <p:nvPr/>
        </p:nvCxnSpPr>
        <p:spPr>
          <a:xfrm rot="16200000">
            <a:off x="2154077" y="572330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3" name="Straight Connector 102"/>
          <p:cNvCxnSpPr/>
          <p:nvPr/>
        </p:nvCxnSpPr>
        <p:spPr>
          <a:xfrm flipV="1">
            <a:off x="3526312" y="3984677"/>
            <a:ext cx="11455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4" name="Straight Connector 103"/>
          <p:cNvCxnSpPr/>
          <p:nvPr/>
        </p:nvCxnSpPr>
        <p:spPr>
          <a:xfrm>
            <a:off x="4671852" y="397134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5" name="Straight Connector 104"/>
          <p:cNvCxnSpPr/>
          <p:nvPr/>
        </p:nvCxnSpPr>
        <p:spPr>
          <a:xfrm>
            <a:off x="3526312" y="397769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06" name="Isosceles Triangle 105"/>
          <p:cNvSpPr/>
          <p:nvPr/>
        </p:nvSpPr>
        <p:spPr>
          <a:xfrm flipH="1">
            <a:off x="3446556" y="400965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7" name="Isosceles Triangle 106"/>
          <p:cNvSpPr/>
          <p:nvPr/>
        </p:nvSpPr>
        <p:spPr>
          <a:xfrm flipH="1">
            <a:off x="4593366" y="398489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8" name="Isosceles Triangle 107"/>
          <p:cNvSpPr/>
          <p:nvPr/>
        </p:nvSpPr>
        <p:spPr>
          <a:xfrm flipH="1">
            <a:off x="3971701" y="1861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9" name="Isosceles Triangle 108"/>
          <p:cNvSpPr/>
          <p:nvPr/>
        </p:nvSpPr>
        <p:spPr>
          <a:xfrm rot="5400000" flipH="1">
            <a:off x="2213386" y="113501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0" name="Isosceles Triangle 109"/>
          <p:cNvSpPr/>
          <p:nvPr/>
        </p:nvSpPr>
        <p:spPr>
          <a:xfrm rot="5400000" flipH="1">
            <a:off x="2221641" y="234722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1" name="Isosceles Triangle 110"/>
          <p:cNvSpPr/>
          <p:nvPr/>
        </p:nvSpPr>
        <p:spPr>
          <a:xfrm rot="5400000" flipH="1">
            <a:off x="2229896" y="3512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2" name="Isosceles Triangle 111"/>
          <p:cNvSpPr/>
          <p:nvPr/>
        </p:nvSpPr>
        <p:spPr>
          <a:xfrm rot="5400000" flipH="1">
            <a:off x="2221641" y="457861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3" name="Isosceles Triangle 112"/>
          <p:cNvSpPr/>
          <p:nvPr/>
        </p:nvSpPr>
        <p:spPr>
          <a:xfrm rot="5400000" flipH="1">
            <a:off x="2213386" y="586258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5" name="Isosceles Triangle 114"/>
          <p:cNvSpPr/>
          <p:nvPr/>
        </p:nvSpPr>
        <p:spPr>
          <a:xfrm rot="5400000" flipH="1">
            <a:off x="2974751" y="5252641"/>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9" name="Flowchart: Process 118"/>
          <p:cNvSpPr/>
          <p:nvPr/>
        </p:nvSpPr>
        <p:spPr>
          <a:xfrm>
            <a:off x="4244975" y="205930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cxnSp>
        <p:nvCxnSpPr>
          <p:cNvPr id="117" name="Straight Connector 116"/>
          <p:cNvCxnSpPr/>
          <p:nvPr/>
        </p:nvCxnSpPr>
        <p:spPr>
          <a:xfrm>
            <a:off x="6314597" y="142753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20" name="Isosceles Triangle 119"/>
          <p:cNvSpPr/>
          <p:nvPr/>
        </p:nvSpPr>
        <p:spPr>
          <a:xfrm rot="10800000" flipH="1">
            <a:off x="6233571" y="187986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1" name="Picture 1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34050" y="2060575"/>
            <a:ext cx="1143635" cy="1143635"/>
          </a:xfrm>
          <a:prstGeom prst="rect">
            <a:avLst/>
          </a:prstGeom>
        </p:spPr>
      </p:pic>
      <p:sp>
        <p:nvSpPr>
          <p:cNvPr id="124" name="Flowchart: Process 123"/>
          <p:cNvSpPr/>
          <p:nvPr/>
        </p:nvSpPr>
        <p:spPr>
          <a:xfrm rot="16200000">
            <a:off x="6128385" y="300609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WAITING HALL OHT</a:t>
            </a:r>
          </a:p>
        </p:txBody>
      </p:sp>
      <p:cxnSp>
        <p:nvCxnSpPr>
          <p:cNvPr id="133" name="Straight Connector 132"/>
          <p:cNvCxnSpPr/>
          <p:nvPr/>
        </p:nvCxnSpPr>
        <p:spPr>
          <a:xfrm>
            <a:off x="7597297" y="142245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4" name="Isosceles Triangle 133"/>
          <p:cNvSpPr/>
          <p:nvPr/>
        </p:nvSpPr>
        <p:spPr>
          <a:xfrm rot="10800000" flipH="1">
            <a:off x="7516271" y="187478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5" name="Picture 1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6750" y="2055495"/>
            <a:ext cx="1143635" cy="1143635"/>
          </a:xfrm>
          <a:prstGeom prst="rect">
            <a:avLst/>
          </a:prstGeom>
        </p:spPr>
      </p:pic>
      <p:sp>
        <p:nvSpPr>
          <p:cNvPr id="136" name="Flowchart: Process 135"/>
          <p:cNvSpPr/>
          <p:nvPr/>
        </p:nvSpPr>
        <p:spPr>
          <a:xfrm rot="16200000">
            <a:off x="7411085" y="300101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IT BUILDING OHT</a:t>
            </a:r>
          </a:p>
        </p:txBody>
      </p:sp>
      <p:cxnSp>
        <p:nvCxnSpPr>
          <p:cNvPr id="143" name="Straight Connector 142"/>
          <p:cNvCxnSpPr/>
          <p:nvPr/>
        </p:nvCxnSpPr>
        <p:spPr>
          <a:xfrm>
            <a:off x="8871742" y="141737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4" name="Isosceles Triangle 143"/>
          <p:cNvSpPr/>
          <p:nvPr/>
        </p:nvSpPr>
        <p:spPr>
          <a:xfrm rot="10800000" flipH="1">
            <a:off x="8790716" y="186970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5" name="Picture 1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1195" y="2050415"/>
            <a:ext cx="1143635" cy="1143635"/>
          </a:xfrm>
          <a:prstGeom prst="rect">
            <a:avLst/>
          </a:prstGeom>
        </p:spPr>
      </p:pic>
      <p:sp>
        <p:nvSpPr>
          <p:cNvPr id="146" name="Flowchart: Process 145"/>
          <p:cNvSpPr/>
          <p:nvPr/>
        </p:nvSpPr>
        <p:spPr>
          <a:xfrm rot="16200000">
            <a:off x="8685530" y="299593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OHT 1</a:t>
            </a:r>
          </a:p>
        </p:txBody>
      </p:sp>
      <p:cxnSp>
        <p:nvCxnSpPr>
          <p:cNvPr id="152" name="Straight Connector 151"/>
          <p:cNvCxnSpPr/>
          <p:nvPr/>
        </p:nvCxnSpPr>
        <p:spPr>
          <a:xfrm>
            <a:off x="10113167" y="14288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3" name="Isosceles Triangle 152"/>
          <p:cNvSpPr/>
          <p:nvPr/>
        </p:nvSpPr>
        <p:spPr>
          <a:xfrm rot="10800000" flipH="1">
            <a:off x="10032141" y="18811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4" name="Picture 1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32620" y="2061845"/>
            <a:ext cx="1143635" cy="1143635"/>
          </a:xfrm>
          <a:prstGeom prst="rect">
            <a:avLst/>
          </a:prstGeom>
        </p:spPr>
      </p:pic>
      <p:sp>
        <p:nvSpPr>
          <p:cNvPr id="155" name="Flowchart: Process 154"/>
          <p:cNvSpPr/>
          <p:nvPr/>
        </p:nvSpPr>
        <p:spPr>
          <a:xfrm rot="16200000">
            <a:off x="9926955" y="3007360"/>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OHT 2</a:t>
            </a:r>
          </a:p>
        </p:txBody>
      </p:sp>
      <p:cxnSp>
        <p:nvCxnSpPr>
          <p:cNvPr id="161" name="Straight Connector 160"/>
          <p:cNvCxnSpPr/>
          <p:nvPr/>
        </p:nvCxnSpPr>
        <p:spPr>
          <a:xfrm>
            <a:off x="11354592" y="13907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62" name="Isosceles Triangle 161"/>
          <p:cNvSpPr/>
          <p:nvPr/>
        </p:nvSpPr>
        <p:spPr>
          <a:xfrm rot="10800000" flipH="1">
            <a:off x="11273566" y="18430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3" name="Picture 1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4045" y="2023745"/>
            <a:ext cx="1143635" cy="1143635"/>
          </a:xfrm>
          <a:prstGeom prst="rect">
            <a:avLst/>
          </a:prstGeom>
        </p:spPr>
      </p:pic>
      <p:sp>
        <p:nvSpPr>
          <p:cNvPr id="164" name="Flowchart: Process 163"/>
          <p:cNvSpPr/>
          <p:nvPr/>
        </p:nvSpPr>
        <p:spPr>
          <a:xfrm rot="16200000">
            <a:off x="11168380" y="3010156"/>
            <a:ext cx="372110" cy="8547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OHT 3</a:t>
            </a:r>
          </a:p>
        </p:txBody>
      </p:sp>
      <p:sp>
        <p:nvSpPr>
          <p:cNvPr id="170" name="Flowchart: Process 169"/>
          <p:cNvSpPr/>
          <p:nvPr/>
        </p:nvSpPr>
        <p:spPr>
          <a:xfrm>
            <a:off x="2562806" y="5789348"/>
            <a:ext cx="413249" cy="198172"/>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171" name="Flowchart: Process 170"/>
          <p:cNvSpPr/>
          <p:nvPr/>
        </p:nvSpPr>
        <p:spPr>
          <a:xfrm>
            <a:off x="2546409" y="5546090"/>
            <a:ext cx="507756" cy="203191"/>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DWG</a:t>
            </a:r>
          </a:p>
        </p:txBody>
      </p:sp>
      <p:pic>
        <p:nvPicPr>
          <p:cNvPr id="172" name="Picture 171"/>
          <p:cNvPicPr>
            <a:picLocks noChangeAspect="1"/>
          </p:cNvPicPr>
          <p:nvPr/>
        </p:nvPicPr>
        <p:blipFill rotWithShape="1">
          <a:blip r:embed="rId8" cstate="print">
            <a:extLst>
              <a:ext uri="{28A0092B-C50C-407E-A947-70E740481C1C}">
                <a14:useLocalDpi xmlns:a14="http://schemas.microsoft.com/office/drawing/2010/main" val="0"/>
              </a:ext>
            </a:extLst>
          </a:blip>
          <a:srcRect l="3843" t="16931" r="8479" b="18065"/>
          <a:stretch>
            <a:fillRect/>
          </a:stretch>
        </p:blipFill>
        <p:spPr>
          <a:xfrm>
            <a:off x="4971326" y="5640044"/>
            <a:ext cx="604083" cy="551206"/>
          </a:xfrm>
          <a:prstGeom prst="rect">
            <a:avLst/>
          </a:prstGeom>
        </p:spPr>
      </p:pic>
      <p:pic>
        <p:nvPicPr>
          <p:cNvPr id="173" name="Picture 2" descr="C:\Users\HP-RTS\Downloads\WhatsApp Image 2023-08-11 at 1.36.26 PM.png"/>
          <p:cNvPicPr>
            <a:picLocks noChangeAspect="1" noChangeArrowheads="1"/>
          </p:cNvPicPr>
          <p:nvPr/>
        </p:nvPicPr>
        <p:blipFill>
          <a:blip r:embed="rId9" cstate="print"/>
          <a:srcRect l="24688" t="15000" r="22000" b="32500"/>
          <a:stretch>
            <a:fillRect/>
          </a:stretch>
        </p:blipFill>
        <p:spPr bwMode="auto">
          <a:xfrm>
            <a:off x="11231245" y="6216650"/>
            <a:ext cx="750570" cy="369570"/>
          </a:xfrm>
          <a:prstGeom prst="rect">
            <a:avLst/>
          </a:prstGeom>
          <a:noFill/>
        </p:spPr>
      </p:pic>
      <p:pic>
        <p:nvPicPr>
          <p:cNvPr id="3" name="Picture 2">
            <a:extLst>
              <a:ext uri="{FF2B5EF4-FFF2-40B4-BE49-F238E27FC236}">
                <a16:creationId xmlns:a16="http://schemas.microsoft.com/office/drawing/2014/main" id="{EEE298A5-B990-1C90-4456-F26AF0BA11D8}"/>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2134" t="10314" r="3677" b="10314"/>
          <a:stretch/>
        </p:blipFill>
        <p:spPr>
          <a:xfrm>
            <a:off x="2417205" y="6111838"/>
            <a:ext cx="628749" cy="423868"/>
          </a:xfrm>
          <a:prstGeom prst="rect">
            <a:avLst/>
          </a:prstGeom>
        </p:spPr>
      </p:pic>
      <p:pic>
        <p:nvPicPr>
          <p:cNvPr id="4" name="Picture 3" descr="D:\ITANK ITANK\I Tank Symbol\HD Photos\VCT.png">
            <a:extLst>
              <a:ext uri="{FF2B5EF4-FFF2-40B4-BE49-F238E27FC236}">
                <a16:creationId xmlns:a16="http://schemas.microsoft.com/office/drawing/2014/main" id="{F59C6303-A9E7-E697-F39A-73C68098B077}"/>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4165707" y="229853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0" name="Flowchart: Process 39">
            <a:extLst>
              <a:ext uri="{FF2B5EF4-FFF2-40B4-BE49-F238E27FC236}">
                <a16:creationId xmlns:a16="http://schemas.microsoft.com/office/drawing/2014/main" id="{BC347B3A-0DF4-16C6-BF0F-D79B4CFA79D8}"/>
              </a:ext>
            </a:extLst>
          </p:cNvPr>
          <p:cNvSpPr/>
          <p:nvPr/>
        </p:nvSpPr>
        <p:spPr>
          <a:xfrm>
            <a:off x="5474626" y="1778475"/>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1" name="Flowchart: Process 40">
            <a:extLst>
              <a:ext uri="{FF2B5EF4-FFF2-40B4-BE49-F238E27FC236}">
                <a16:creationId xmlns:a16="http://schemas.microsoft.com/office/drawing/2014/main" id="{1DC2A3FC-43F3-3468-7A8C-2D3F67DFBE29}"/>
              </a:ext>
            </a:extLst>
          </p:cNvPr>
          <p:cNvSpPr/>
          <p:nvPr/>
        </p:nvSpPr>
        <p:spPr>
          <a:xfrm>
            <a:off x="5474625" y="1484350"/>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3" name="Flowchart: Process 42">
            <a:extLst>
              <a:ext uri="{FF2B5EF4-FFF2-40B4-BE49-F238E27FC236}">
                <a16:creationId xmlns:a16="http://schemas.microsoft.com/office/drawing/2014/main" id="{FD5606B8-76EC-6AB3-631D-A9273EEAC6CD}"/>
              </a:ext>
            </a:extLst>
          </p:cNvPr>
          <p:cNvSpPr/>
          <p:nvPr/>
        </p:nvSpPr>
        <p:spPr>
          <a:xfrm>
            <a:off x="5474625" y="2061050"/>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44" name="Picture 43" descr="D:\ITANK ITANK\I Tank Symbol\HD Photos\VCT.png">
            <a:extLst>
              <a:ext uri="{FF2B5EF4-FFF2-40B4-BE49-F238E27FC236}">
                <a16:creationId xmlns:a16="http://schemas.microsoft.com/office/drawing/2014/main" id="{FE93C7F2-8A48-2E97-EFFB-4CD03D1F0BDA}"/>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5395357" y="2300277"/>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5" name="Flowchart: Process 44">
            <a:extLst>
              <a:ext uri="{FF2B5EF4-FFF2-40B4-BE49-F238E27FC236}">
                <a16:creationId xmlns:a16="http://schemas.microsoft.com/office/drawing/2014/main" id="{C0A770C9-8C2C-159C-C1B7-5A7D9CBCE204}"/>
              </a:ext>
            </a:extLst>
          </p:cNvPr>
          <p:cNvSpPr/>
          <p:nvPr/>
        </p:nvSpPr>
        <p:spPr>
          <a:xfrm>
            <a:off x="6755580" y="1768901"/>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7" name="Flowchart: Process 46">
            <a:extLst>
              <a:ext uri="{FF2B5EF4-FFF2-40B4-BE49-F238E27FC236}">
                <a16:creationId xmlns:a16="http://schemas.microsoft.com/office/drawing/2014/main" id="{A657DAA4-91F5-1D77-E4F8-E8637347306D}"/>
              </a:ext>
            </a:extLst>
          </p:cNvPr>
          <p:cNvSpPr/>
          <p:nvPr/>
        </p:nvSpPr>
        <p:spPr>
          <a:xfrm>
            <a:off x="6755579" y="1474776"/>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9" name="Flowchart: Process 48">
            <a:extLst>
              <a:ext uri="{FF2B5EF4-FFF2-40B4-BE49-F238E27FC236}">
                <a16:creationId xmlns:a16="http://schemas.microsoft.com/office/drawing/2014/main" id="{E7C77D6E-FACC-BAF3-D2F2-83042566CB39}"/>
              </a:ext>
            </a:extLst>
          </p:cNvPr>
          <p:cNvSpPr/>
          <p:nvPr/>
        </p:nvSpPr>
        <p:spPr>
          <a:xfrm>
            <a:off x="6755579" y="2051476"/>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0" name="Picture 49" descr="D:\ITANK ITANK\I Tank Symbol\HD Photos\VCT.png">
            <a:extLst>
              <a:ext uri="{FF2B5EF4-FFF2-40B4-BE49-F238E27FC236}">
                <a16:creationId xmlns:a16="http://schemas.microsoft.com/office/drawing/2014/main" id="{0681E8B1-2B3C-51E7-1CE6-834519FD86F5}"/>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6676311" y="2290703"/>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2" name="Flowchart: Process 51">
            <a:extLst>
              <a:ext uri="{FF2B5EF4-FFF2-40B4-BE49-F238E27FC236}">
                <a16:creationId xmlns:a16="http://schemas.microsoft.com/office/drawing/2014/main" id="{65465D29-D4EA-8434-0635-E2B23C3793B1}"/>
              </a:ext>
            </a:extLst>
          </p:cNvPr>
          <p:cNvSpPr/>
          <p:nvPr/>
        </p:nvSpPr>
        <p:spPr>
          <a:xfrm>
            <a:off x="8051933" y="1784390"/>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3" name="Flowchart: Process 52">
            <a:extLst>
              <a:ext uri="{FF2B5EF4-FFF2-40B4-BE49-F238E27FC236}">
                <a16:creationId xmlns:a16="http://schemas.microsoft.com/office/drawing/2014/main" id="{22AD3FF4-83C6-C318-5047-303880C33933}"/>
              </a:ext>
            </a:extLst>
          </p:cNvPr>
          <p:cNvSpPr/>
          <p:nvPr/>
        </p:nvSpPr>
        <p:spPr>
          <a:xfrm>
            <a:off x="8051932" y="1490265"/>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4" name="Flowchart: Process 53">
            <a:extLst>
              <a:ext uri="{FF2B5EF4-FFF2-40B4-BE49-F238E27FC236}">
                <a16:creationId xmlns:a16="http://schemas.microsoft.com/office/drawing/2014/main" id="{5A1E35E7-282D-C7BD-E0C2-413BED128862}"/>
              </a:ext>
            </a:extLst>
          </p:cNvPr>
          <p:cNvSpPr/>
          <p:nvPr/>
        </p:nvSpPr>
        <p:spPr>
          <a:xfrm>
            <a:off x="8051932" y="206696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5" name="Picture 54" descr="D:\ITANK ITANK\I Tank Symbol\HD Photos\VCT.png">
            <a:extLst>
              <a:ext uri="{FF2B5EF4-FFF2-40B4-BE49-F238E27FC236}">
                <a16:creationId xmlns:a16="http://schemas.microsoft.com/office/drawing/2014/main" id="{F1AAA421-1D61-ACE0-4A25-93092507FAF7}"/>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7972664" y="230619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6" name="Flowchart: Process 55">
            <a:extLst>
              <a:ext uri="{FF2B5EF4-FFF2-40B4-BE49-F238E27FC236}">
                <a16:creationId xmlns:a16="http://schemas.microsoft.com/office/drawing/2014/main" id="{92EA01E7-247F-0CA6-14F4-D19C0A646938}"/>
              </a:ext>
            </a:extLst>
          </p:cNvPr>
          <p:cNvSpPr/>
          <p:nvPr/>
        </p:nvSpPr>
        <p:spPr>
          <a:xfrm>
            <a:off x="9305868" y="177584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8" name="Flowchart: Process 57">
            <a:extLst>
              <a:ext uri="{FF2B5EF4-FFF2-40B4-BE49-F238E27FC236}">
                <a16:creationId xmlns:a16="http://schemas.microsoft.com/office/drawing/2014/main" id="{999263E2-E47B-C9E7-B1AB-7C8447C3083C}"/>
              </a:ext>
            </a:extLst>
          </p:cNvPr>
          <p:cNvSpPr/>
          <p:nvPr/>
        </p:nvSpPr>
        <p:spPr>
          <a:xfrm>
            <a:off x="9305867" y="148171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9" name="Flowchart: Process 58">
            <a:extLst>
              <a:ext uri="{FF2B5EF4-FFF2-40B4-BE49-F238E27FC236}">
                <a16:creationId xmlns:a16="http://schemas.microsoft.com/office/drawing/2014/main" id="{C5124B41-0B5C-D879-330F-DA5A76D6DBF6}"/>
              </a:ext>
            </a:extLst>
          </p:cNvPr>
          <p:cNvSpPr/>
          <p:nvPr/>
        </p:nvSpPr>
        <p:spPr>
          <a:xfrm>
            <a:off x="9305867" y="205841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0" name="Picture 59" descr="D:\ITANK ITANK\I Tank Symbol\HD Photos\VCT.png">
            <a:extLst>
              <a:ext uri="{FF2B5EF4-FFF2-40B4-BE49-F238E27FC236}">
                <a16:creationId xmlns:a16="http://schemas.microsoft.com/office/drawing/2014/main" id="{6B03CD0C-4B21-D31B-C2E7-E50232C4597B}"/>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9226599" y="2297646"/>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61" name="Flowchart: Process 60">
            <a:extLst>
              <a:ext uri="{FF2B5EF4-FFF2-40B4-BE49-F238E27FC236}">
                <a16:creationId xmlns:a16="http://schemas.microsoft.com/office/drawing/2014/main" id="{0093E1F5-1519-C44A-2739-F8DB79404368}"/>
              </a:ext>
            </a:extLst>
          </p:cNvPr>
          <p:cNvSpPr/>
          <p:nvPr/>
        </p:nvSpPr>
        <p:spPr>
          <a:xfrm>
            <a:off x="10547368" y="182036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62" name="Flowchart: Process 61">
            <a:extLst>
              <a:ext uri="{FF2B5EF4-FFF2-40B4-BE49-F238E27FC236}">
                <a16:creationId xmlns:a16="http://schemas.microsoft.com/office/drawing/2014/main" id="{F00D17B2-BB37-DA0F-76B4-B22F2174820D}"/>
              </a:ext>
            </a:extLst>
          </p:cNvPr>
          <p:cNvSpPr/>
          <p:nvPr/>
        </p:nvSpPr>
        <p:spPr>
          <a:xfrm>
            <a:off x="10547367" y="152623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63" name="Flowchart: Process 62">
            <a:extLst>
              <a:ext uri="{FF2B5EF4-FFF2-40B4-BE49-F238E27FC236}">
                <a16:creationId xmlns:a16="http://schemas.microsoft.com/office/drawing/2014/main" id="{3E24BC0C-985B-5B75-D31F-308250AABE31}"/>
              </a:ext>
            </a:extLst>
          </p:cNvPr>
          <p:cNvSpPr/>
          <p:nvPr/>
        </p:nvSpPr>
        <p:spPr>
          <a:xfrm>
            <a:off x="10547367" y="210293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5" name="Picture 64" descr="D:\ITANK ITANK\I Tank Symbol\HD Photos\VCT.png">
            <a:extLst>
              <a:ext uri="{FF2B5EF4-FFF2-40B4-BE49-F238E27FC236}">
                <a16:creationId xmlns:a16="http://schemas.microsoft.com/office/drawing/2014/main" id="{83295199-99AE-3B7E-403F-B99033041D01}"/>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6631" t="12971" r="26014" b="9374"/>
          <a:stretch/>
        </p:blipFill>
        <p:spPr bwMode="auto">
          <a:xfrm>
            <a:off x="10468099" y="2342166"/>
            <a:ext cx="555782" cy="60760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848302A0-8292-36C9-A304-E8234BABCCAB}"/>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4990748" y="1562350"/>
            <a:ext cx="388286" cy="244457"/>
          </a:xfrm>
          <a:prstGeom prst="rect">
            <a:avLst/>
          </a:prstGeom>
        </p:spPr>
      </p:pic>
      <p:pic>
        <p:nvPicPr>
          <p:cNvPr id="67" name="Picture 66">
            <a:extLst>
              <a:ext uri="{FF2B5EF4-FFF2-40B4-BE49-F238E27FC236}">
                <a16:creationId xmlns:a16="http://schemas.microsoft.com/office/drawing/2014/main" id="{4DCE8654-0192-E664-95DB-AC54882F463B}"/>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6228673" y="1555308"/>
            <a:ext cx="388286" cy="244457"/>
          </a:xfrm>
          <a:prstGeom prst="rect">
            <a:avLst/>
          </a:prstGeom>
        </p:spPr>
      </p:pic>
      <p:pic>
        <p:nvPicPr>
          <p:cNvPr id="68" name="Picture 67">
            <a:extLst>
              <a:ext uri="{FF2B5EF4-FFF2-40B4-BE49-F238E27FC236}">
                <a16:creationId xmlns:a16="http://schemas.microsoft.com/office/drawing/2014/main" id="{66A370BD-2F1E-3D0A-DCBB-568C26C4145F}"/>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7515491" y="1565778"/>
            <a:ext cx="388286" cy="244457"/>
          </a:xfrm>
          <a:prstGeom prst="rect">
            <a:avLst/>
          </a:prstGeom>
        </p:spPr>
      </p:pic>
      <p:pic>
        <p:nvPicPr>
          <p:cNvPr id="69" name="Picture 68">
            <a:extLst>
              <a:ext uri="{FF2B5EF4-FFF2-40B4-BE49-F238E27FC236}">
                <a16:creationId xmlns:a16="http://schemas.microsoft.com/office/drawing/2014/main" id="{B9C12154-80CE-2CE5-A983-DD2098885081}"/>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8787600" y="1558736"/>
            <a:ext cx="388286" cy="244457"/>
          </a:xfrm>
          <a:prstGeom prst="rect">
            <a:avLst/>
          </a:prstGeom>
        </p:spPr>
      </p:pic>
      <p:pic>
        <p:nvPicPr>
          <p:cNvPr id="70" name="Picture 69">
            <a:extLst>
              <a:ext uri="{FF2B5EF4-FFF2-40B4-BE49-F238E27FC236}">
                <a16:creationId xmlns:a16="http://schemas.microsoft.com/office/drawing/2014/main" id="{B68BA177-B9D4-9894-7F26-690FC28648F6}"/>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10047968" y="1565778"/>
            <a:ext cx="388286" cy="244457"/>
          </a:xfrm>
          <a:prstGeom prst="rect">
            <a:avLst/>
          </a:prstGeom>
        </p:spPr>
      </p:pic>
      <p:pic>
        <p:nvPicPr>
          <p:cNvPr id="71" name="Picture 70">
            <a:extLst>
              <a:ext uri="{FF2B5EF4-FFF2-40B4-BE49-F238E27FC236}">
                <a16:creationId xmlns:a16="http://schemas.microsoft.com/office/drawing/2014/main" id="{412AEB9C-AD22-0FF8-B3B0-9DD955616936}"/>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6038" t="25213" r="22144" b="16408"/>
          <a:stretch/>
        </p:blipFill>
        <p:spPr>
          <a:xfrm>
            <a:off x="11285893" y="1558736"/>
            <a:ext cx="388286" cy="244457"/>
          </a:xfrm>
          <a:prstGeom prst="rect">
            <a:avLst/>
          </a:prstGeom>
        </p:spPr>
      </p:pic>
      <p:sp>
        <p:nvSpPr>
          <p:cNvPr id="72" name="Rectangle 71">
            <a:extLst>
              <a:ext uri="{FF2B5EF4-FFF2-40B4-BE49-F238E27FC236}">
                <a16:creationId xmlns:a16="http://schemas.microsoft.com/office/drawing/2014/main" id="{A49AD7A0-4093-64B7-6F00-C365B377B7E8}"/>
              </a:ext>
            </a:extLst>
          </p:cNvPr>
          <p:cNvSpPr/>
          <p:nvPr/>
        </p:nvSpPr>
        <p:spPr>
          <a:xfrm>
            <a:off x="4862998" y="4463990"/>
            <a:ext cx="1140124"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AUTO CHANGEOVER</a:t>
            </a: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73" name="Flowchart: Process 72">
            <a:extLst>
              <a:ext uri="{FF2B5EF4-FFF2-40B4-BE49-F238E27FC236}">
                <a16:creationId xmlns:a16="http://schemas.microsoft.com/office/drawing/2014/main" id="{D1B15EA7-F4ED-C2E1-894A-8D6E1F44EE42}"/>
              </a:ext>
            </a:extLst>
          </p:cNvPr>
          <p:cNvSpPr/>
          <p:nvPr/>
        </p:nvSpPr>
        <p:spPr>
          <a:xfrm>
            <a:off x="2764604" y="3935650"/>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1</a:t>
            </a:r>
          </a:p>
        </p:txBody>
      </p:sp>
      <p:sp>
        <p:nvSpPr>
          <p:cNvPr id="74" name="Flowchart: Process 73">
            <a:extLst>
              <a:ext uri="{FF2B5EF4-FFF2-40B4-BE49-F238E27FC236}">
                <a16:creationId xmlns:a16="http://schemas.microsoft.com/office/drawing/2014/main" id="{8032B0B1-C7FD-8C8F-7AD5-97838E56865A}"/>
              </a:ext>
            </a:extLst>
          </p:cNvPr>
          <p:cNvSpPr/>
          <p:nvPr/>
        </p:nvSpPr>
        <p:spPr>
          <a:xfrm>
            <a:off x="4777385" y="3944732"/>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87019" y="100452"/>
            <a:ext cx="11571890" cy="838259"/>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anose="02020603050405020304" pitchFamily="18" charset="0"/>
                <a:cs typeface="Times New Roman" panose="02020603050405020304" pitchFamily="18" charset="0"/>
              </a:rPr>
              <a:t>SYSTEM REQUIREMENTS AND ESTIMATE -  </a:t>
            </a:r>
            <a:r>
              <a:rPr lang="en-IN" sz="2000" b="1" u="sng" dirty="0">
                <a:solidFill>
                  <a:srgbClr val="002060"/>
                </a:solidFill>
                <a:latin typeface="Times New Roman" panose="02020603050405020304" pitchFamily="18" charset="0"/>
                <a:cs typeface="Times New Roman" panose="02020603050405020304" pitchFamily="18" charset="0"/>
              </a:rPr>
              <a:t>FRO</a:t>
            </a:r>
            <a:r>
              <a:rPr lang="en-IN" sz="2000" b="1" u="sng" dirty="0">
                <a:solidFill>
                  <a:srgbClr val="002060"/>
                </a:solidFill>
                <a:latin typeface="Times New Roman" panose="02020603050405020304" pitchFamily="18" charset="0"/>
                <a:cs typeface="Times New Roman" panose="02020603050405020304" pitchFamily="18" charset="0"/>
                <a:sym typeface="+mn-ea"/>
              </a:rPr>
              <a:t>M 5 BOREWELLS TO</a:t>
            </a:r>
            <a:r>
              <a:rPr lang="en-US" altLang="en-IN" sz="2000" b="1" u="sng" dirty="0">
                <a:solidFill>
                  <a:srgbClr val="002060"/>
                </a:solidFill>
                <a:latin typeface="Times New Roman" panose="02020603050405020304" pitchFamily="18" charset="0"/>
                <a:cs typeface="Times New Roman" panose="02020603050405020304" pitchFamily="18" charset="0"/>
                <a:sym typeface="+mn-ea"/>
              </a:rPr>
              <a:t> </a:t>
            </a:r>
            <a:r>
              <a:rPr lang="en-IN" sz="2000" b="1" u="sng" dirty="0">
                <a:solidFill>
                  <a:srgbClr val="002060"/>
                </a:solidFill>
                <a:latin typeface="Times New Roman" panose="02020603050405020304" pitchFamily="18" charset="0"/>
                <a:cs typeface="Times New Roman" panose="02020603050405020304" pitchFamily="18" charset="0"/>
              </a:rPr>
              <a:t>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Content Placeholder 3"/>
          <p:cNvGraphicFramePr/>
          <p:nvPr>
            <p:extLst>
              <p:ext uri="{D42A27DB-BD31-4B8C-83A1-F6EECF244321}">
                <p14:modId xmlns:p14="http://schemas.microsoft.com/office/powerpoint/2010/main" val="1583147038"/>
              </p:ext>
            </p:extLst>
          </p:nvPr>
        </p:nvGraphicFramePr>
        <p:xfrm>
          <a:off x="207580" y="1037951"/>
          <a:ext cx="11776840" cy="4940796"/>
        </p:xfrm>
        <a:graphic>
          <a:graphicData uri="http://schemas.openxmlformats.org/drawingml/2006/table">
            <a:tbl>
              <a:tblPr firstRow="1" bandRow="1">
                <a:tableStyleId>{5C22544A-7EE6-4342-B048-85BDC9FD1C3A}</a:tableStyleId>
              </a:tblPr>
              <a:tblGrid>
                <a:gridCol w="6905296">
                  <a:extLst>
                    <a:ext uri="{9D8B030D-6E8A-4147-A177-3AD203B41FA5}">
                      <a16:colId xmlns:a16="http://schemas.microsoft.com/office/drawing/2014/main" val="20000"/>
                    </a:ext>
                  </a:extLst>
                </a:gridCol>
                <a:gridCol w="1529255">
                  <a:extLst>
                    <a:ext uri="{9D8B030D-6E8A-4147-A177-3AD203B41FA5}">
                      <a16:colId xmlns:a16="http://schemas.microsoft.com/office/drawing/2014/main" val="20001"/>
                    </a:ext>
                  </a:extLst>
                </a:gridCol>
                <a:gridCol w="1632585">
                  <a:extLst>
                    <a:ext uri="{9D8B030D-6E8A-4147-A177-3AD203B41FA5}">
                      <a16:colId xmlns:a16="http://schemas.microsoft.com/office/drawing/2014/main" val="20002"/>
                    </a:ext>
                  </a:extLst>
                </a:gridCol>
                <a:gridCol w="1709704">
                  <a:extLst>
                    <a:ext uri="{9D8B030D-6E8A-4147-A177-3AD203B41FA5}">
                      <a16:colId xmlns:a16="http://schemas.microsoft.com/office/drawing/2014/main" val="20003"/>
                    </a:ext>
                  </a:extLst>
                </a:gridCol>
              </a:tblGrid>
              <a:tr h="596173">
                <a:tc>
                  <a:txBody>
                    <a:bodyPr/>
                    <a:lstStyle/>
                    <a:p>
                      <a:pPr algn="ctr"/>
                      <a:r>
                        <a:rPr lang="en-IN" sz="1400" b="1" dirty="0">
                          <a:latin typeface="Times New Roman" panose="02020603050405020304" pitchFamily="18" charset="0"/>
                          <a:cs typeface="Times New Roman" panose="02020603050405020304" pitchFamily="18" charset="0"/>
                        </a:rPr>
                        <a:t>UNIT</a:t>
                      </a:r>
                    </a:p>
                  </a:txBody>
                  <a:tcPr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QUANTITY</a:t>
                      </a:r>
                    </a:p>
                  </a:txBody>
                  <a:tcPr anchor="ctr"/>
                </a:tc>
                <a:tc>
                  <a:txBody>
                    <a:bodyPr/>
                    <a:lstStyle/>
                    <a:p>
                      <a:pPr algn="ctr">
                        <a:lnSpc>
                          <a:spcPct val="107000"/>
                        </a:lnSpc>
                        <a:spcAft>
                          <a:spcPts val="0"/>
                        </a:spcAft>
                        <a:tabLst>
                          <a:tab pos="3684905" algn="l"/>
                        </a:tabLst>
                      </a:pPr>
                      <a:r>
                        <a:rPr lang="en-US" sz="1400" b="1" dirty="0">
                          <a:effectLst/>
                          <a:latin typeface="Times New Roman" panose="02020603050405020304" pitchFamily="18" charset="0"/>
                          <a:ea typeface="Calibri" panose="020F0502020204030204"/>
                          <a:cs typeface="Times New Roman" panose="02020603050405020304" pitchFamily="18" charset="0"/>
                        </a:rPr>
                        <a:t>UNIT COST</a:t>
                      </a:r>
                    </a:p>
                  </a:txBody>
                  <a:tcPr marL="68580" marR="68580" marT="0" marB="0"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PRICE</a:t>
                      </a:r>
                    </a:p>
                  </a:txBody>
                  <a:tcPr anchor="ctr"/>
                </a:tc>
                <a:extLst>
                  <a:ext uri="{0D108BD9-81ED-4DB2-BD59-A6C34878D82A}">
                    <a16:rowId xmlns:a16="http://schemas.microsoft.com/office/drawing/2014/main" val="10000"/>
                  </a:ext>
                </a:extLst>
              </a:tr>
              <a:tr h="399396">
                <a:tc>
                  <a:txBody>
                    <a:bodyPr/>
                    <a:lstStyle/>
                    <a:p>
                      <a:pPr algn="l"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GRAPHICS</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DISPLAY WITH VALVE</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INTERFACE CONTROLLER</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(FULL AUTOMATIC)</a:t>
                      </a:r>
                    </a:p>
                  </a:txBody>
                  <a:tcPr anchor="ctr"/>
                </a:tc>
                <a:tc>
                  <a:txBody>
                    <a:bodyPr/>
                    <a:lstStyle/>
                    <a:p>
                      <a:pPr algn="ctr" fontAlgn="ctr">
                        <a:buClrTx/>
                        <a:buSzTx/>
                        <a:buFontTx/>
                      </a:pPr>
                      <a:r>
                        <a:rPr lang="en-US" altLang="en-IN"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27,500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1,65,000</a:t>
                      </a:r>
                    </a:p>
                  </a:txBody>
                  <a:tcPr marL="9525" marR="9525" marT="9525" marB="0" anchor="ctr"/>
                </a:tc>
                <a:extLst>
                  <a:ext uri="{0D108BD9-81ED-4DB2-BD59-A6C34878D82A}">
                    <a16:rowId xmlns:a16="http://schemas.microsoft.com/office/drawing/2014/main" val="10001"/>
                  </a:ext>
                </a:extLst>
              </a:tr>
              <a:tr h="399396">
                <a:tc>
                  <a:txBody>
                    <a:bodyPr/>
                    <a:lstStyle/>
                    <a:p>
                      <a:pPr marL="0" algn="l" rtl="0" eaLnBrk="1" fontAlgn="ctr" latinLnBrk="0" hangingPunct="1"/>
                      <a:r>
                        <a:rPr kumimoji="0" lang="en-IN" sz="1200" b="1" i="0" u="none" strike="noStrike" kern="1200" dirty="0">
                          <a:solidFill>
                            <a:srgbClr val="000000"/>
                          </a:solidFill>
                          <a:latin typeface="Times New Roman" panose="02020603050405020304" pitchFamily="18" charset="0"/>
                          <a:ea typeface="+mn-ea"/>
                          <a:cs typeface="Times New Roman" panose="02020603050405020304" pitchFamily="18" charset="0"/>
                        </a:rPr>
                        <a:t>MASTER GATEWAY CONTROLLER (IOT)</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a:t>
                      </a:r>
                    </a:p>
                  </a:txBody>
                  <a:tcPr marL="9525" marR="9525" marT="9525" marB="0" anchor="ctr"/>
                </a:tc>
                <a:extLst>
                  <a:ext uri="{0D108BD9-81ED-4DB2-BD59-A6C34878D82A}">
                    <a16:rowId xmlns:a16="http://schemas.microsoft.com/office/drawing/2014/main" val="10002"/>
                  </a:ext>
                </a:extLst>
              </a:tr>
              <a:tr h="367980">
                <a:tc>
                  <a:txBody>
                    <a:bodyPr/>
                    <a:lstStyle/>
                    <a:p>
                      <a:pPr marL="0" marR="0" lvl="0" algn="l" rtl="0" eaLnBrk="1" fontAlgn="ctr" latinLnBrk="0" hangingPunct="1">
                        <a:lnSpc>
                          <a:spcPct val="100000"/>
                        </a:lnSpc>
                        <a:spcBef>
                          <a:spcPts val="0"/>
                        </a:spcBef>
                        <a:buClrTx/>
                        <a:buSzTx/>
                        <a:buFontTx/>
                        <a:buNone/>
                      </a:pPr>
                      <a:r>
                        <a:rPr lang="en-IN" sz="1200" b="1" dirty="0">
                          <a:solidFill>
                            <a:srgbClr val="000000"/>
                          </a:solidFill>
                          <a:latin typeface="Times New Roman" panose="02020603050405020304" pitchFamily="18" charset="0"/>
                          <a:cs typeface="Times New Roman" panose="02020603050405020304" pitchFamily="18" charset="0"/>
                        </a:rPr>
                        <a:t>WIRELESS SMART MOTOR CONTROLLER</a:t>
                      </a:r>
                    </a:p>
                  </a:txBody>
                  <a:tcPr anchor="ctr"/>
                </a:tc>
                <a:tc>
                  <a:txBody>
                    <a:bodyPr/>
                    <a:lstStyle/>
                    <a:p>
                      <a:pPr marL="0" algn="ctr" rtl="0" eaLnBrk="1" fontAlgn="ctr" latinLnBrk="0" hangingPunct="1">
                        <a:buNone/>
                      </a:pPr>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5</a:t>
                      </a:r>
                    </a:p>
                  </a:txBody>
                  <a:tcPr anchor="ctr"/>
                </a:tc>
                <a:tc>
                  <a:txBody>
                    <a:bodyPr/>
                    <a:lstStyle/>
                    <a:p>
                      <a:pPr marL="0" algn="ctr" rtl="0" eaLnBrk="1" fontAlgn="ctr" latinLnBrk="0" hangingPunct="1">
                        <a:buNone/>
                      </a:pPr>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13,500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67,500</a:t>
                      </a:r>
                    </a:p>
                  </a:txBody>
                  <a:tcPr marL="9525" marR="9525" marT="9525" marB="0" anchor="ctr"/>
                </a:tc>
                <a:extLst>
                  <a:ext uri="{0D108BD9-81ED-4DB2-BD59-A6C34878D82A}">
                    <a16:rowId xmlns:a16="http://schemas.microsoft.com/office/drawing/2014/main" val="10003"/>
                  </a:ext>
                </a:extLst>
              </a:tr>
              <a:tr h="367980">
                <a:tc>
                  <a:txBody>
                    <a:bodyPr/>
                    <a:lstStyle/>
                    <a:p>
                      <a:pPr marL="0" marR="0" lvl="0" algn="l" rtl="0" eaLnBrk="1" fontAlgn="ctr" latinLnBrk="0" hangingPunct="1">
                        <a:lnSpc>
                          <a:spcPct val="100000"/>
                        </a:lnSpc>
                        <a:spcBef>
                          <a:spcPts val="0"/>
                        </a:spcBef>
                        <a:buClrTx/>
                        <a:buSzTx/>
                        <a:buFontTx/>
                        <a:buNone/>
                      </a:pPr>
                      <a:r>
                        <a:rPr lang="en-US" sz="1200" b="1" dirty="0">
                          <a:solidFill>
                            <a:srgbClr val="000000"/>
                          </a:solidFill>
                          <a:latin typeface="Times New Roman" panose="02020603050405020304" pitchFamily="18" charset="0"/>
                          <a:cs typeface="Times New Roman" panose="02020603050405020304" pitchFamily="18" charset="0"/>
                        </a:rPr>
                        <a:t>2"</a:t>
                      </a:r>
                      <a:r>
                        <a:rPr lang="en-US" sz="1200" b="1" baseline="0" dirty="0">
                          <a:solidFill>
                            <a:srgbClr val="000000"/>
                          </a:solidFill>
                          <a:latin typeface="Times New Roman" panose="02020603050405020304" pitchFamily="18" charset="0"/>
                          <a:cs typeface="Times New Roman" panose="02020603050405020304" pitchFamily="18" charset="0"/>
                        </a:rPr>
                        <a:t> - </a:t>
                      </a:r>
                      <a:r>
                        <a:rPr lang="en-US" sz="1200" b="1" dirty="0">
                          <a:solidFill>
                            <a:srgbClr val="000000"/>
                          </a:solidFill>
                          <a:latin typeface="Times New Roman" panose="02020603050405020304" pitchFamily="18" charset="0"/>
                          <a:cs typeface="Times New Roman" panose="02020603050405020304" pitchFamily="18" charset="0"/>
                        </a:rPr>
                        <a:t>MOTORIZED BUTTERFLY VALVE WITH MANUAL OVERRIDE</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99,000</a:t>
                      </a:r>
                    </a:p>
                  </a:txBody>
                  <a:tcPr marL="9525" marR="9525" marT="9525" marB="0" anchor="ctr"/>
                </a:tc>
                <a:extLst>
                  <a:ext uri="{0D108BD9-81ED-4DB2-BD59-A6C34878D82A}">
                    <a16:rowId xmlns:a16="http://schemas.microsoft.com/office/drawing/2014/main" val="10004"/>
                  </a:ext>
                </a:extLst>
              </a:tr>
              <a:tr h="36798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8</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11,000</a:t>
                      </a:r>
                    </a:p>
                  </a:txBody>
                  <a:tcPr anchor="ctr"/>
                </a:tc>
                <a:tc>
                  <a:txBody>
                    <a:bodyPr/>
                    <a:lstStyle/>
                    <a:p>
                      <a:pPr marL="0" algn="ctr" rtl="0" eaLnBrk="1" fontAlgn="ctr" latinLnBrk="0" hangingPunct="1">
                        <a:buClrTx/>
                        <a:buSzTx/>
                        <a:buFontTx/>
                      </a:pPr>
                      <a:r>
                        <a:rPr kumimoji="0" lang="en-IN" sz="1200" b="1" kern="1200">
                          <a:solidFill>
                            <a:srgbClr val="000000"/>
                          </a:solidFill>
                          <a:latin typeface="Times New Roman" panose="02020603050405020304" pitchFamily="18" charset="0"/>
                          <a:ea typeface="+mn-ea"/>
                          <a:cs typeface="Times New Roman" panose="02020603050405020304" pitchFamily="18" charset="0"/>
                        </a:rPr>
                        <a:t>88,000</a:t>
                      </a:r>
                    </a:p>
                  </a:txBody>
                  <a:tcPr marL="9525" marR="9525" marT="9525" marB="0" anchor="ctr"/>
                </a:tc>
                <a:extLst>
                  <a:ext uri="{0D108BD9-81ED-4DB2-BD59-A6C34878D82A}">
                    <a16:rowId xmlns:a16="http://schemas.microsoft.com/office/drawing/2014/main" val="10005"/>
                  </a:ext>
                </a:extLst>
              </a:tr>
              <a:tr h="349959">
                <a:tc>
                  <a:txBody>
                    <a:bodyPr/>
                    <a:lstStyle/>
                    <a:p>
                      <a:pPr marL="0" algn="l" rtl="0" eaLnBrk="1" fontAlgn="ctr" latinLnBrk="0" hangingPunct="1"/>
                      <a:r>
                        <a:rPr lang="en-US" sz="1200" b="1" dirty="0">
                          <a:solidFill>
                            <a:srgbClr val="000000"/>
                          </a:solidFill>
                          <a:latin typeface="Times New Roman" panose="02020603050405020304" pitchFamily="18" charset="0"/>
                          <a:cs typeface="Times New Roman" panose="02020603050405020304" pitchFamily="18" charset="0"/>
                          <a:sym typeface="+mn-ea"/>
                        </a:rPr>
                        <a:t>MULTI SEGMENT GRAPHICS DISPLAY WITH GSM</a:t>
                      </a:r>
                      <a:endPar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15,500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15,500</a:t>
                      </a:r>
                    </a:p>
                  </a:txBody>
                  <a:tcPr marL="9525" marR="9525" marT="9525" marB="0" anchor="ctr"/>
                </a:tc>
                <a:extLst>
                  <a:ext uri="{0D108BD9-81ED-4DB2-BD59-A6C34878D82A}">
                    <a16:rowId xmlns:a16="http://schemas.microsoft.com/office/drawing/2014/main" val="10006"/>
                  </a:ext>
                </a:extLst>
              </a:tr>
              <a:tr h="449058">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QUICK PRESSURE RELIEF</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14,500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14,500</a:t>
                      </a:r>
                    </a:p>
                  </a:txBody>
                  <a:tcPr marL="9525" marR="9525" marT="9525" marB="0" anchor="ctr"/>
                </a:tc>
                <a:extLst>
                  <a:ext uri="{0D108BD9-81ED-4DB2-BD59-A6C34878D82A}">
                    <a16:rowId xmlns:a16="http://schemas.microsoft.com/office/drawing/2014/main" val="10007"/>
                  </a:ext>
                </a:extLst>
              </a:tr>
              <a:tr h="349938">
                <a:tc>
                  <a:txBody>
                    <a:bodyPr/>
                    <a:lstStyle/>
                    <a:p>
                      <a:pPr marL="0" algn="l" rtl="0" eaLnBrk="1" fontAlgn="ctr" latinLnBrk="0" hangingPunct="1"/>
                      <a:r>
                        <a:rPr lang="en-US" sz="1200" b="1" dirty="0">
                          <a:solidFill>
                            <a:srgbClr val="000000"/>
                          </a:solidFill>
                          <a:latin typeface="Times New Roman" panose="02020603050405020304" pitchFamily="18" charset="0"/>
                          <a:cs typeface="Times New Roman" panose="02020603050405020304" pitchFamily="18" charset="0"/>
                          <a:sym typeface="+mn-ea"/>
                        </a:rPr>
                        <a:t>MULTI CONTROL MOTOR AUTO CHANGEOVER</a:t>
                      </a:r>
                      <a:endPar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8,500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8,500</a:t>
                      </a:r>
                    </a:p>
                  </a:txBody>
                  <a:tcPr marL="9525" marR="9525" marT="9525" marB="0" anchor="ctr"/>
                </a:tc>
                <a:extLst>
                  <a:ext uri="{0D108BD9-81ED-4DB2-BD59-A6C34878D82A}">
                    <a16:rowId xmlns:a16="http://schemas.microsoft.com/office/drawing/2014/main" val="10008"/>
                  </a:ext>
                </a:extLst>
              </a:tr>
              <a:tr h="374322">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2”NRV</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3,000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6,000</a:t>
                      </a:r>
                    </a:p>
                  </a:txBody>
                  <a:tcPr marL="9525" marR="9525" marT="9525" marB="0" anchor="ctr"/>
                </a:tc>
                <a:extLst>
                  <a:ext uri="{0D108BD9-81ED-4DB2-BD59-A6C34878D82A}">
                    <a16:rowId xmlns:a16="http://schemas.microsoft.com/office/drawing/2014/main" val="10009"/>
                  </a:ext>
                </a:extLst>
              </a:tr>
              <a:tr h="426766">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endParaRPr lang="en-US"/>
                    </a:p>
                  </a:txBody>
                  <a:tcP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72,075</a:t>
                      </a:r>
                    </a:p>
                  </a:txBody>
                  <a:tcPr marL="9525" marR="9525" marT="9525" marB="0" anchor="ctr"/>
                </a:tc>
                <a:extLst>
                  <a:ext uri="{0D108BD9-81ED-4DB2-BD59-A6C34878D82A}">
                    <a16:rowId xmlns:a16="http://schemas.microsoft.com/office/drawing/2014/main" val="10010"/>
                  </a:ext>
                </a:extLst>
              </a:tr>
              <a:tr h="491848">
                <a:tc>
                  <a:txBody>
                    <a:bodyPr/>
                    <a:lstStyle/>
                    <a:p>
                      <a:pPr algn="l"/>
                      <a:endParaRPr lang="en-IN" sz="1200" b="1" dirty="0">
                        <a:latin typeface="Times New Roman" panose="02020603050405020304" pitchFamily="18" charset="0"/>
                        <a:cs typeface="Times New Roman" panose="02020603050405020304" pitchFamily="18" charset="0"/>
                      </a:endParaRPr>
                    </a:p>
                  </a:txBody>
                  <a:tcPr anchor="ctr"/>
                </a:tc>
                <a:tc gridSpan="2">
                  <a:txBody>
                    <a:bodyPr/>
                    <a:lstStyle/>
                    <a:p>
                      <a:pPr algn="r"/>
                      <a:r>
                        <a:rPr lang="en-IN" sz="1200" b="1" dirty="0">
                          <a:solidFill>
                            <a:srgbClr val="002060"/>
                          </a:solidFill>
                          <a:latin typeface="Times New Roman" panose="02020603050405020304" pitchFamily="18" charset="0"/>
                          <a:cs typeface="Times New Roman" panose="02020603050405020304" pitchFamily="18" charset="0"/>
                        </a:rPr>
                        <a:t>TOTAL</a:t>
                      </a:r>
                      <a:r>
                        <a:rPr lang="en-IN" sz="1200" b="1" baseline="0" dirty="0">
                          <a:solidFill>
                            <a:srgbClr val="002060"/>
                          </a:solidFill>
                          <a:latin typeface="Times New Roman" panose="02020603050405020304" pitchFamily="18" charset="0"/>
                          <a:cs typeface="Times New Roman" panose="02020603050405020304" pitchFamily="18" charset="0"/>
                        </a:rPr>
                        <a:t> COST WITHOUT TAX</a:t>
                      </a:r>
                    </a:p>
                  </a:txBody>
                  <a:tcPr anchor="ctr"/>
                </a:tc>
                <a:tc hMerge="1">
                  <a:txBody>
                    <a:bodyPr/>
                    <a:lstStyle/>
                    <a:p>
                      <a:endParaRPr lang="en-US"/>
                    </a:p>
                  </a:txBody>
                  <a:tcPr/>
                </a:tc>
                <a:tc>
                  <a:txBody>
                    <a:bodyPr/>
                    <a:lstStyle/>
                    <a:p>
                      <a:pPr algn="ctr" fontAlgn="b"/>
                      <a:r>
                        <a:rPr lang="en-IN" sz="1600" b="1" i="0" u="none" strike="noStrike" dirty="0">
                          <a:solidFill>
                            <a:srgbClr val="000000"/>
                          </a:solidFill>
                          <a:effectLst/>
                          <a:latin typeface="Times New Roman" panose="02020603050405020304" pitchFamily="18" charset="0"/>
                        </a:rPr>
                        <a:t>5,52,575 </a:t>
                      </a:r>
                    </a:p>
                  </a:txBody>
                  <a:tcPr marL="9525" marR="9525" marT="9525" marB="0" anchor="ctr">
                    <a:solidFill>
                      <a:srgbClr val="00B050"/>
                    </a:solidFill>
                  </a:tcPr>
                </a:tc>
                <a:extLst>
                  <a:ext uri="{0D108BD9-81ED-4DB2-BD59-A6C34878D82A}">
                    <a16:rowId xmlns:a16="http://schemas.microsoft.com/office/drawing/2014/main" val="10011"/>
                  </a:ext>
                </a:extLst>
              </a:tr>
            </a:tbl>
          </a:graphicData>
        </a:graphic>
      </p:graphicFrame>
      <p:pic>
        <p:nvPicPr>
          <p:cNvPr id="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45785" y="6319202"/>
            <a:ext cx="750570" cy="369570"/>
          </a:xfrm>
          <a:prstGeom prst="rect">
            <a:avLst/>
          </a:prstGeom>
          <a:noFill/>
        </p:spPr>
      </p:pic>
      <p:sp>
        <p:nvSpPr>
          <p:cNvPr id="9" name="TextBox 8">
            <a:extLst>
              <a:ext uri="{FF2B5EF4-FFF2-40B4-BE49-F238E27FC236}">
                <a16:creationId xmlns:a16="http://schemas.microsoft.com/office/drawing/2014/main" id="{8E42647C-5E58-D152-3E98-12B53F8511A7}"/>
              </a:ext>
            </a:extLst>
          </p:cNvPr>
          <p:cNvSpPr txBox="1"/>
          <p:nvPr/>
        </p:nvSpPr>
        <p:spPr>
          <a:xfrm>
            <a:off x="10438173" y="5974588"/>
            <a:ext cx="1489104" cy="246221"/>
          </a:xfrm>
          <a:prstGeom prst="rect">
            <a:avLst/>
          </a:prstGeom>
          <a:noFill/>
        </p:spPr>
        <p:txBody>
          <a:bodyPr wrap="square">
            <a:spAutoFit/>
          </a:bodyPr>
          <a:lstStyle/>
          <a:p>
            <a:pPr marL="0" algn="ctr" rtl="0" eaLnBrk="1" fontAlgn="ctr" latinLnBrk="0" hangingPunct="1">
              <a:buClrTx/>
              <a:buSzTx/>
              <a:buFontTx/>
            </a:pPr>
            <a:r>
              <a:rPr lang="en-US" sz="1000" b="1" dirty="0">
                <a:solidFill>
                  <a:srgbClr val="FF0000"/>
                </a:solidFill>
                <a:latin typeface="Times New Roman" panose="02020603050405020304" pitchFamily="18" charset="0"/>
                <a:cs typeface="Times New Roman" panose="02020603050405020304" pitchFamily="18" charset="0"/>
              </a:rPr>
              <a:t>*</a:t>
            </a:r>
            <a:r>
              <a:rPr lang="en-IN" sz="1000" b="1" dirty="0">
                <a:solidFill>
                  <a:srgbClr val="FF0000"/>
                </a:solidFill>
                <a:latin typeface="Times New Roman" panose="02020603050405020304" pitchFamily="18" charset="0"/>
                <a:cs typeface="Times New Roman" panose="02020603050405020304" pitchFamily="18" charset="0"/>
              </a:rPr>
              <a:t>WITHOUT GST 18%</a:t>
            </a:r>
            <a:endParaRPr kumimoji="0" lang="en-IN" sz="1000" b="1" kern="1200" dirty="0">
              <a:solidFill>
                <a:srgbClr val="FF0000"/>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a:cxnSpLocks/>
          </p:cNvCxnSpPr>
          <p:nvPr/>
        </p:nvCxnSpPr>
        <p:spPr>
          <a:xfrm flipH="1">
            <a:off x="1246425" y="1411386"/>
            <a:ext cx="10092114" cy="0"/>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p:cNvCxnSpPr/>
          <p:nvPr/>
        </p:nvCxnSpPr>
        <p:spPr>
          <a:xfrm flipH="1" flipV="1">
            <a:off x="1254971" y="1394482"/>
            <a:ext cx="2540" cy="2525395"/>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sp>
        <p:nvSpPr>
          <p:cNvPr id="37" name="Title 1"/>
          <p:cNvSpPr txBox="1"/>
          <p:nvPr/>
        </p:nvSpPr>
        <p:spPr>
          <a:xfrm>
            <a:off x="483954" y="199646"/>
            <a:ext cx="11146071" cy="662151"/>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IN" sz="2000" b="1" u="sng" dirty="0">
                <a:solidFill>
                  <a:srgbClr val="FF0000"/>
                </a:solidFill>
                <a:latin typeface="Times New Roman" panose="02020603050405020304" pitchFamily="18" charset="0"/>
                <a:cs typeface="Times New Roman" panose="02020603050405020304" pitchFamily="18" charset="0"/>
              </a:rPr>
              <a:t>(OR)   FULLY AUTOMATION – </a:t>
            </a:r>
            <a:r>
              <a:rPr lang="en-IN" sz="2000" b="1" u="sng" dirty="0">
                <a:solidFill>
                  <a:srgbClr val="002060"/>
                </a:solidFill>
                <a:latin typeface="Times New Roman" panose="02020603050405020304" pitchFamily="18" charset="0"/>
                <a:cs typeface="Times New Roman" panose="02020603050405020304" pitchFamily="18" charset="0"/>
              </a:rPr>
              <a:t> 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7030A0"/>
              </a:solidFill>
              <a:latin typeface="Times New Roman" panose="02020603050405020304" pitchFamily="18" charset="0"/>
              <a:cs typeface="Times New Roman" panose="02020603050405020304" pitchFamily="18" charset="0"/>
            </a:endParaRPr>
          </a:p>
        </p:txBody>
      </p:sp>
      <p:sp>
        <p:nvSpPr>
          <p:cNvPr id="28" name="Flowchart: Process 27"/>
          <p:cNvSpPr/>
          <p:nvPr/>
        </p:nvSpPr>
        <p:spPr>
          <a:xfrm rot="16200000">
            <a:off x="1136173" y="5797550"/>
            <a:ext cx="271780" cy="56642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 SUMP </a:t>
            </a:r>
          </a:p>
        </p:txBody>
      </p:sp>
      <p:pic>
        <p:nvPicPr>
          <p:cNvPr id="29"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592" y="4423432"/>
            <a:ext cx="1804248" cy="148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Flowchart: Process 30"/>
          <p:cNvSpPr/>
          <p:nvPr/>
        </p:nvSpPr>
        <p:spPr>
          <a:xfrm>
            <a:off x="2226467" y="4998535"/>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a:t>
            </a:r>
          </a:p>
        </p:txBody>
      </p:sp>
      <p:sp>
        <p:nvSpPr>
          <p:cNvPr id="34" name="Flowchart: Process 33"/>
          <p:cNvSpPr/>
          <p:nvPr/>
        </p:nvSpPr>
        <p:spPr>
          <a:xfrm>
            <a:off x="2244881" y="5296350"/>
            <a:ext cx="412115"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cxnSp>
        <p:nvCxnSpPr>
          <p:cNvPr id="35" name="Straight Connector 34"/>
          <p:cNvCxnSpPr/>
          <p:nvPr/>
        </p:nvCxnSpPr>
        <p:spPr>
          <a:xfrm>
            <a:off x="3653588" y="1409117"/>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6" name="Isosceles Triangle 35"/>
          <p:cNvSpPr/>
          <p:nvPr/>
        </p:nvSpPr>
        <p:spPr>
          <a:xfrm rot="10800000" flipH="1">
            <a:off x="3564016" y="186145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73041" y="2042160"/>
            <a:ext cx="1143635" cy="1143635"/>
          </a:xfrm>
          <a:prstGeom prst="rect">
            <a:avLst/>
          </a:prstGeom>
        </p:spPr>
      </p:pic>
      <p:sp>
        <p:nvSpPr>
          <p:cNvPr id="39" name="Flowchart: Process 38"/>
          <p:cNvSpPr/>
          <p:nvPr/>
        </p:nvSpPr>
        <p:spPr>
          <a:xfrm rot="16200000">
            <a:off x="3430577" y="2981744"/>
            <a:ext cx="421632" cy="916094"/>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MAIN BUILDING OHT</a:t>
            </a:r>
          </a:p>
        </p:txBody>
      </p:sp>
      <p:sp>
        <p:nvSpPr>
          <p:cNvPr id="46" name="Flowchart: Process 45"/>
          <p:cNvSpPr/>
          <p:nvPr/>
        </p:nvSpPr>
        <p:spPr>
          <a:xfrm>
            <a:off x="2834917" y="1793822"/>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1" name="Flowchart: Process 50"/>
          <p:cNvSpPr/>
          <p:nvPr/>
        </p:nvSpPr>
        <p:spPr>
          <a:xfrm>
            <a:off x="2834916" y="151678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r="4071" b="13918"/>
          <a:stretch>
            <a:fillRect/>
          </a:stretch>
        </p:blipFill>
        <p:spPr>
          <a:xfrm rot="16200000">
            <a:off x="916865" y="3100850"/>
            <a:ext cx="529603" cy="355973"/>
          </a:xfrm>
          <a:prstGeom prst="rect">
            <a:avLst/>
          </a:prstGeom>
        </p:spPr>
      </p:pic>
      <p:sp>
        <p:nvSpPr>
          <p:cNvPr id="57" name="Flowchart: Process 56"/>
          <p:cNvSpPr/>
          <p:nvPr/>
        </p:nvSpPr>
        <p:spPr>
          <a:xfrm>
            <a:off x="550466" y="3166867"/>
            <a:ext cx="432901" cy="220781"/>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PRV</a:t>
            </a:r>
          </a:p>
        </p:txBody>
      </p:sp>
      <p:sp>
        <p:nvSpPr>
          <p:cNvPr id="64" name="Rectangle 63"/>
          <p:cNvSpPr/>
          <p:nvPr/>
        </p:nvSpPr>
        <p:spPr>
          <a:xfrm>
            <a:off x="1177223" y="3335676"/>
            <a:ext cx="819785"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NEED 2NO’S NRV</a:t>
            </a:r>
            <a:endParaRPr lang="en-IN" sz="1000" b="1" dirty="0">
              <a:solidFill>
                <a:schemeClr val="tx1"/>
              </a:solidFill>
              <a:latin typeface="Times New Roman" panose="02020603050405020304" pitchFamily="18" charset="0"/>
              <a:cs typeface="Times New Roman" panose="02020603050405020304" pitchFamily="18" charset="0"/>
            </a:endParaRPr>
          </a:p>
        </p:txBody>
      </p:sp>
      <p:cxnSp>
        <p:nvCxnSpPr>
          <p:cNvPr id="103" name="Straight Connector 102"/>
          <p:cNvCxnSpPr/>
          <p:nvPr/>
        </p:nvCxnSpPr>
        <p:spPr>
          <a:xfrm flipV="1">
            <a:off x="731834" y="3941947"/>
            <a:ext cx="11455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4" name="Straight Connector 103"/>
          <p:cNvCxnSpPr/>
          <p:nvPr/>
        </p:nvCxnSpPr>
        <p:spPr>
          <a:xfrm>
            <a:off x="1877374" y="392861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105" name="Straight Connector 104"/>
          <p:cNvCxnSpPr/>
          <p:nvPr/>
        </p:nvCxnSpPr>
        <p:spPr>
          <a:xfrm>
            <a:off x="731834" y="393496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06" name="Isosceles Triangle 105"/>
          <p:cNvSpPr/>
          <p:nvPr/>
        </p:nvSpPr>
        <p:spPr>
          <a:xfrm flipH="1">
            <a:off x="652078" y="396692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7" name="Isosceles Triangle 106"/>
          <p:cNvSpPr/>
          <p:nvPr/>
        </p:nvSpPr>
        <p:spPr>
          <a:xfrm flipH="1">
            <a:off x="1798888" y="394216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8" name="Isosceles Triangle 107"/>
          <p:cNvSpPr/>
          <p:nvPr/>
        </p:nvSpPr>
        <p:spPr>
          <a:xfrm flipH="1">
            <a:off x="1168677" y="181872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9" name="Flowchart: Process 118"/>
          <p:cNvSpPr/>
          <p:nvPr/>
        </p:nvSpPr>
        <p:spPr>
          <a:xfrm>
            <a:off x="2834916" y="205930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cxnSp>
        <p:nvCxnSpPr>
          <p:cNvPr id="117" name="Straight Connector 116"/>
          <p:cNvCxnSpPr/>
          <p:nvPr/>
        </p:nvCxnSpPr>
        <p:spPr>
          <a:xfrm>
            <a:off x="5186545" y="142753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20" name="Isosceles Triangle 119"/>
          <p:cNvSpPr/>
          <p:nvPr/>
        </p:nvSpPr>
        <p:spPr>
          <a:xfrm rot="10800000" flipH="1">
            <a:off x="5105519" y="187986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1" name="Picture 1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14544" y="2060575"/>
            <a:ext cx="1143635" cy="1143635"/>
          </a:xfrm>
          <a:prstGeom prst="rect">
            <a:avLst/>
          </a:prstGeom>
        </p:spPr>
      </p:pic>
      <p:sp>
        <p:nvSpPr>
          <p:cNvPr id="124" name="Flowchart: Process 123"/>
          <p:cNvSpPr/>
          <p:nvPr/>
        </p:nvSpPr>
        <p:spPr>
          <a:xfrm rot="16200000">
            <a:off x="5031025" y="2975398"/>
            <a:ext cx="372110" cy="916094"/>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WAITING HALL OHT</a:t>
            </a:r>
          </a:p>
        </p:txBody>
      </p:sp>
      <p:cxnSp>
        <p:nvCxnSpPr>
          <p:cNvPr id="133" name="Straight Connector 132"/>
          <p:cNvCxnSpPr/>
          <p:nvPr/>
        </p:nvCxnSpPr>
        <p:spPr>
          <a:xfrm>
            <a:off x="6802532" y="142245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4" name="Isosceles Triangle 133"/>
          <p:cNvSpPr/>
          <p:nvPr/>
        </p:nvSpPr>
        <p:spPr>
          <a:xfrm rot="10800000" flipH="1">
            <a:off x="6704414" y="189187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5" name="Picture 1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1985" y="2055495"/>
            <a:ext cx="1143635" cy="1143635"/>
          </a:xfrm>
          <a:prstGeom prst="rect">
            <a:avLst/>
          </a:prstGeom>
        </p:spPr>
      </p:pic>
      <p:sp>
        <p:nvSpPr>
          <p:cNvPr id="136" name="Flowchart: Process 135"/>
          <p:cNvSpPr/>
          <p:nvPr/>
        </p:nvSpPr>
        <p:spPr>
          <a:xfrm rot="16200000">
            <a:off x="6647012" y="2970318"/>
            <a:ext cx="372110" cy="916094"/>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IT BUILDING OHT</a:t>
            </a:r>
          </a:p>
        </p:txBody>
      </p:sp>
      <p:cxnSp>
        <p:nvCxnSpPr>
          <p:cNvPr id="143" name="Straight Connector 142"/>
          <p:cNvCxnSpPr/>
          <p:nvPr/>
        </p:nvCxnSpPr>
        <p:spPr>
          <a:xfrm>
            <a:off x="8376081" y="141737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4" name="Isosceles Triangle 143"/>
          <p:cNvSpPr/>
          <p:nvPr/>
        </p:nvSpPr>
        <p:spPr>
          <a:xfrm rot="10800000" flipH="1">
            <a:off x="8295055" y="186970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5" name="Picture 1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80" y="2050415"/>
            <a:ext cx="1143635" cy="1143635"/>
          </a:xfrm>
          <a:prstGeom prst="rect">
            <a:avLst/>
          </a:prstGeom>
        </p:spPr>
      </p:pic>
      <p:sp>
        <p:nvSpPr>
          <p:cNvPr id="146" name="Flowchart: Process 145"/>
          <p:cNvSpPr/>
          <p:nvPr/>
        </p:nvSpPr>
        <p:spPr>
          <a:xfrm rot="16200000">
            <a:off x="8183681" y="3048000"/>
            <a:ext cx="372110" cy="75057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1</a:t>
            </a:r>
          </a:p>
        </p:txBody>
      </p:sp>
      <p:cxnSp>
        <p:nvCxnSpPr>
          <p:cNvPr id="152" name="Straight Connector 151"/>
          <p:cNvCxnSpPr/>
          <p:nvPr/>
        </p:nvCxnSpPr>
        <p:spPr>
          <a:xfrm>
            <a:off x="9831156" y="14288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3" name="Isosceles Triangle 152"/>
          <p:cNvSpPr/>
          <p:nvPr/>
        </p:nvSpPr>
        <p:spPr>
          <a:xfrm rot="10800000" flipH="1">
            <a:off x="9750130" y="18811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4" name="Picture 1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59155" y="2061845"/>
            <a:ext cx="1143635" cy="1143635"/>
          </a:xfrm>
          <a:prstGeom prst="rect">
            <a:avLst/>
          </a:prstGeom>
        </p:spPr>
      </p:pic>
      <p:sp>
        <p:nvSpPr>
          <p:cNvPr id="155" name="Flowchart: Process 154"/>
          <p:cNvSpPr/>
          <p:nvPr/>
        </p:nvSpPr>
        <p:spPr>
          <a:xfrm rot="16200000">
            <a:off x="9638756" y="3059430"/>
            <a:ext cx="372110" cy="75057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2</a:t>
            </a:r>
          </a:p>
        </p:txBody>
      </p:sp>
      <p:cxnSp>
        <p:nvCxnSpPr>
          <p:cNvPr id="161" name="Straight Connector 160"/>
          <p:cNvCxnSpPr/>
          <p:nvPr/>
        </p:nvCxnSpPr>
        <p:spPr>
          <a:xfrm>
            <a:off x="11354592" y="1390702"/>
            <a:ext cx="0" cy="46355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62" name="Isosceles Triangle 161"/>
          <p:cNvSpPr/>
          <p:nvPr/>
        </p:nvSpPr>
        <p:spPr>
          <a:xfrm rot="10800000" flipH="1">
            <a:off x="11273566" y="184303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3" name="Picture 1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74045" y="2023745"/>
            <a:ext cx="1143635" cy="1143635"/>
          </a:xfrm>
          <a:prstGeom prst="rect">
            <a:avLst/>
          </a:prstGeom>
        </p:spPr>
      </p:pic>
      <p:sp>
        <p:nvSpPr>
          <p:cNvPr id="164" name="Flowchart: Process 163"/>
          <p:cNvSpPr/>
          <p:nvPr/>
        </p:nvSpPr>
        <p:spPr>
          <a:xfrm rot="16200000">
            <a:off x="11162192" y="3062226"/>
            <a:ext cx="372110" cy="75057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OHT 3</a:t>
            </a:r>
          </a:p>
        </p:txBody>
      </p:sp>
      <p:pic>
        <p:nvPicPr>
          <p:cNvPr id="172" name="Picture 171"/>
          <p:cNvPicPr>
            <a:picLocks noChangeAspect="1"/>
          </p:cNvPicPr>
          <p:nvPr/>
        </p:nvPicPr>
        <p:blipFill rotWithShape="1">
          <a:blip r:embed="rId5" cstate="print">
            <a:extLst>
              <a:ext uri="{28A0092B-C50C-407E-A947-70E740481C1C}">
                <a14:useLocalDpi xmlns:a14="http://schemas.microsoft.com/office/drawing/2010/main" val="0"/>
              </a:ext>
            </a:extLst>
          </a:blip>
          <a:srcRect l="3843" t="16931" r="8479" b="18065"/>
          <a:stretch>
            <a:fillRect/>
          </a:stretch>
        </p:blipFill>
        <p:spPr>
          <a:xfrm>
            <a:off x="2176848" y="5597314"/>
            <a:ext cx="604083" cy="551206"/>
          </a:xfrm>
          <a:prstGeom prst="rect">
            <a:avLst/>
          </a:prstGeom>
        </p:spPr>
      </p:pic>
      <p:pic>
        <p:nvPicPr>
          <p:cNvPr id="173" name="Picture 2" descr="C:\Users\HP-RTS\Downloads\WhatsApp Image 2023-08-11 at 1.36.26 PM.png"/>
          <p:cNvPicPr>
            <a:picLocks noChangeAspect="1" noChangeArrowheads="1"/>
          </p:cNvPicPr>
          <p:nvPr/>
        </p:nvPicPr>
        <p:blipFill>
          <a:blip r:embed="rId6" cstate="print"/>
          <a:srcRect l="24688" t="15000" r="22000" b="32500"/>
          <a:stretch>
            <a:fillRect/>
          </a:stretch>
        </p:blipFill>
        <p:spPr bwMode="auto">
          <a:xfrm>
            <a:off x="11231245" y="6216650"/>
            <a:ext cx="750570" cy="369570"/>
          </a:xfrm>
          <a:prstGeom prst="rect">
            <a:avLst/>
          </a:prstGeom>
          <a:noFill/>
        </p:spPr>
      </p:pic>
      <p:pic>
        <p:nvPicPr>
          <p:cNvPr id="4" name="Picture 3" descr="D:\ITANK ITANK\I Tank Symbol\HD Photos\VCT.png">
            <a:extLst>
              <a:ext uri="{FF2B5EF4-FFF2-40B4-BE49-F238E27FC236}">
                <a16:creationId xmlns:a16="http://schemas.microsoft.com/office/drawing/2014/main" id="{F59C6303-A9E7-E697-F39A-73C68098B07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2754663" y="2340330"/>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0" name="Flowchart: Process 39">
            <a:extLst>
              <a:ext uri="{FF2B5EF4-FFF2-40B4-BE49-F238E27FC236}">
                <a16:creationId xmlns:a16="http://schemas.microsoft.com/office/drawing/2014/main" id="{BC347B3A-0DF4-16C6-BF0F-D79B4CFA79D8}"/>
              </a:ext>
            </a:extLst>
          </p:cNvPr>
          <p:cNvSpPr/>
          <p:nvPr/>
        </p:nvSpPr>
        <p:spPr>
          <a:xfrm>
            <a:off x="4329482" y="1778475"/>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1" name="Flowchart: Process 40">
            <a:extLst>
              <a:ext uri="{FF2B5EF4-FFF2-40B4-BE49-F238E27FC236}">
                <a16:creationId xmlns:a16="http://schemas.microsoft.com/office/drawing/2014/main" id="{1DC2A3FC-43F3-3468-7A8C-2D3F67DFBE29}"/>
              </a:ext>
            </a:extLst>
          </p:cNvPr>
          <p:cNvSpPr/>
          <p:nvPr/>
        </p:nvSpPr>
        <p:spPr>
          <a:xfrm>
            <a:off x="4329481" y="1484350"/>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3" name="Flowchart: Process 42">
            <a:extLst>
              <a:ext uri="{FF2B5EF4-FFF2-40B4-BE49-F238E27FC236}">
                <a16:creationId xmlns:a16="http://schemas.microsoft.com/office/drawing/2014/main" id="{FD5606B8-76EC-6AB3-631D-A9273EEAC6CD}"/>
              </a:ext>
            </a:extLst>
          </p:cNvPr>
          <p:cNvSpPr/>
          <p:nvPr/>
        </p:nvSpPr>
        <p:spPr>
          <a:xfrm>
            <a:off x="4329481" y="2061050"/>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44" name="Picture 43" descr="D:\ITANK ITANK\I Tank Symbol\HD Photos\VCT.png">
            <a:extLst>
              <a:ext uri="{FF2B5EF4-FFF2-40B4-BE49-F238E27FC236}">
                <a16:creationId xmlns:a16="http://schemas.microsoft.com/office/drawing/2014/main" id="{FE93C7F2-8A48-2E97-EFFB-4CD03D1F0BDA}"/>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4267305" y="2300277"/>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45" name="Flowchart: Process 44">
            <a:extLst>
              <a:ext uri="{FF2B5EF4-FFF2-40B4-BE49-F238E27FC236}">
                <a16:creationId xmlns:a16="http://schemas.microsoft.com/office/drawing/2014/main" id="{C0A770C9-8C2C-159C-C1B7-5A7D9CBCE204}"/>
              </a:ext>
            </a:extLst>
          </p:cNvPr>
          <p:cNvSpPr/>
          <p:nvPr/>
        </p:nvSpPr>
        <p:spPr>
          <a:xfrm>
            <a:off x="5960815" y="1768901"/>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47" name="Flowchart: Process 46">
            <a:extLst>
              <a:ext uri="{FF2B5EF4-FFF2-40B4-BE49-F238E27FC236}">
                <a16:creationId xmlns:a16="http://schemas.microsoft.com/office/drawing/2014/main" id="{A657DAA4-91F5-1D77-E4F8-E8637347306D}"/>
              </a:ext>
            </a:extLst>
          </p:cNvPr>
          <p:cNvSpPr/>
          <p:nvPr/>
        </p:nvSpPr>
        <p:spPr>
          <a:xfrm>
            <a:off x="5960814" y="1474776"/>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9" name="Flowchart: Process 48">
            <a:extLst>
              <a:ext uri="{FF2B5EF4-FFF2-40B4-BE49-F238E27FC236}">
                <a16:creationId xmlns:a16="http://schemas.microsoft.com/office/drawing/2014/main" id="{E7C77D6E-FACC-BAF3-D2F2-83042566CB39}"/>
              </a:ext>
            </a:extLst>
          </p:cNvPr>
          <p:cNvSpPr/>
          <p:nvPr/>
        </p:nvSpPr>
        <p:spPr>
          <a:xfrm>
            <a:off x="5960814" y="2051476"/>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0" name="Picture 49" descr="D:\ITANK ITANK\I Tank Symbol\HD Photos\VCT.png">
            <a:extLst>
              <a:ext uri="{FF2B5EF4-FFF2-40B4-BE49-F238E27FC236}">
                <a16:creationId xmlns:a16="http://schemas.microsoft.com/office/drawing/2014/main" id="{0681E8B1-2B3C-51E7-1CE6-834519FD86F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5881495" y="230619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2" name="Flowchart: Process 51">
            <a:extLst>
              <a:ext uri="{FF2B5EF4-FFF2-40B4-BE49-F238E27FC236}">
                <a16:creationId xmlns:a16="http://schemas.microsoft.com/office/drawing/2014/main" id="{65465D29-D4EA-8434-0635-E2B23C3793B1}"/>
              </a:ext>
            </a:extLst>
          </p:cNvPr>
          <p:cNvSpPr/>
          <p:nvPr/>
        </p:nvSpPr>
        <p:spPr>
          <a:xfrm>
            <a:off x="7556272" y="1784390"/>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3" name="Flowchart: Process 52">
            <a:extLst>
              <a:ext uri="{FF2B5EF4-FFF2-40B4-BE49-F238E27FC236}">
                <a16:creationId xmlns:a16="http://schemas.microsoft.com/office/drawing/2014/main" id="{22AD3FF4-83C6-C318-5047-303880C33933}"/>
              </a:ext>
            </a:extLst>
          </p:cNvPr>
          <p:cNvSpPr/>
          <p:nvPr/>
        </p:nvSpPr>
        <p:spPr>
          <a:xfrm>
            <a:off x="7556271" y="1490265"/>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4" name="Flowchart: Process 53">
            <a:extLst>
              <a:ext uri="{FF2B5EF4-FFF2-40B4-BE49-F238E27FC236}">
                <a16:creationId xmlns:a16="http://schemas.microsoft.com/office/drawing/2014/main" id="{5A1E35E7-282D-C7BD-E0C2-413BED128862}"/>
              </a:ext>
            </a:extLst>
          </p:cNvPr>
          <p:cNvSpPr/>
          <p:nvPr/>
        </p:nvSpPr>
        <p:spPr>
          <a:xfrm>
            <a:off x="7556271" y="2066965"/>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55" name="Picture 54" descr="D:\ITANK ITANK\I Tank Symbol\HD Photos\VCT.png">
            <a:extLst>
              <a:ext uri="{FF2B5EF4-FFF2-40B4-BE49-F238E27FC236}">
                <a16:creationId xmlns:a16="http://schemas.microsoft.com/office/drawing/2014/main" id="{F1AAA421-1D61-ACE0-4A25-93092507FAF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7477003" y="2306192"/>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56" name="Flowchart: Process 55">
            <a:extLst>
              <a:ext uri="{FF2B5EF4-FFF2-40B4-BE49-F238E27FC236}">
                <a16:creationId xmlns:a16="http://schemas.microsoft.com/office/drawing/2014/main" id="{92EA01E7-247F-0CA6-14F4-D19C0A646938}"/>
              </a:ext>
            </a:extLst>
          </p:cNvPr>
          <p:cNvSpPr/>
          <p:nvPr/>
        </p:nvSpPr>
        <p:spPr>
          <a:xfrm>
            <a:off x="9023857" y="177584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58" name="Flowchart: Process 57">
            <a:extLst>
              <a:ext uri="{FF2B5EF4-FFF2-40B4-BE49-F238E27FC236}">
                <a16:creationId xmlns:a16="http://schemas.microsoft.com/office/drawing/2014/main" id="{999263E2-E47B-C9E7-B1AB-7C8447C3083C}"/>
              </a:ext>
            </a:extLst>
          </p:cNvPr>
          <p:cNvSpPr/>
          <p:nvPr/>
        </p:nvSpPr>
        <p:spPr>
          <a:xfrm>
            <a:off x="9023856" y="148171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59" name="Flowchart: Process 58">
            <a:extLst>
              <a:ext uri="{FF2B5EF4-FFF2-40B4-BE49-F238E27FC236}">
                <a16:creationId xmlns:a16="http://schemas.microsoft.com/office/drawing/2014/main" id="{C5124B41-0B5C-D879-330F-DA5A76D6DBF6}"/>
              </a:ext>
            </a:extLst>
          </p:cNvPr>
          <p:cNvSpPr/>
          <p:nvPr/>
        </p:nvSpPr>
        <p:spPr>
          <a:xfrm>
            <a:off x="9023856" y="205841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0" name="Picture 59" descr="D:\ITANK ITANK\I Tank Symbol\HD Photos\VCT.png">
            <a:extLst>
              <a:ext uri="{FF2B5EF4-FFF2-40B4-BE49-F238E27FC236}">
                <a16:creationId xmlns:a16="http://schemas.microsoft.com/office/drawing/2014/main" id="{6B03CD0C-4B21-D31B-C2E7-E50232C4597B}"/>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8944588" y="2297646"/>
            <a:ext cx="555782" cy="607605"/>
          </a:xfrm>
          <a:prstGeom prst="rect">
            <a:avLst/>
          </a:prstGeom>
          <a:noFill/>
          <a:extLst>
            <a:ext uri="{909E8E84-426E-40DD-AFC4-6F175D3DCCD1}">
              <a14:hiddenFill xmlns:a14="http://schemas.microsoft.com/office/drawing/2010/main">
                <a:solidFill>
                  <a:srgbClr val="FFFFFF"/>
                </a:solidFill>
              </a14:hiddenFill>
            </a:ext>
          </a:extLst>
        </p:spPr>
      </p:pic>
      <p:sp>
        <p:nvSpPr>
          <p:cNvPr id="61" name="Flowchart: Process 60">
            <a:extLst>
              <a:ext uri="{FF2B5EF4-FFF2-40B4-BE49-F238E27FC236}">
                <a16:creationId xmlns:a16="http://schemas.microsoft.com/office/drawing/2014/main" id="{0093E1F5-1519-C44A-2739-F8DB79404368}"/>
              </a:ext>
            </a:extLst>
          </p:cNvPr>
          <p:cNvSpPr/>
          <p:nvPr/>
        </p:nvSpPr>
        <p:spPr>
          <a:xfrm>
            <a:off x="10547368" y="1820364"/>
            <a:ext cx="426720" cy="21953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LLS</a:t>
            </a:r>
          </a:p>
        </p:txBody>
      </p:sp>
      <p:sp>
        <p:nvSpPr>
          <p:cNvPr id="62" name="Flowchart: Process 61">
            <a:extLst>
              <a:ext uri="{FF2B5EF4-FFF2-40B4-BE49-F238E27FC236}">
                <a16:creationId xmlns:a16="http://schemas.microsoft.com/office/drawing/2014/main" id="{F00D17B2-BB37-DA0F-76B4-B22F2174820D}"/>
              </a:ext>
            </a:extLst>
          </p:cNvPr>
          <p:cNvSpPr/>
          <p:nvPr/>
        </p:nvSpPr>
        <p:spPr>
          <a:xfrm>
            <a:off x="10547367" y="1526239"/>
            <a:ext cx="436245" cy="22290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63" name="Flowchart: Process 62">
            <a:extLst>
              <a:ext uri="{FF2B5EF4-FFF2-40B4-BE49-F238E27FC236}">
                <a16:creationId xmlns:a16="http://schemas.microsoft.com/office/drawing/2014/main" id="{3E24BC0C-985B-5B75-D31F-308250AABE31}"/>
              </a:ext>
            </a:extLst>
          </p:cNvPr>
          <p:cNvSpPr/>
          <p:nvPr/>
        </p:nvSpPr>
        <p:spPr>
          <a:xfrm>
            <a:off x="10547367" y="2102939"/>
            <a:ext cx="436245" cy="217157"/>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 </a:t>
            </a:r>
          </a:p>
        </p:txBody>
      </p:sp>
      <p:pic>
        <p:nvPicPr>
          <p:cNvPr id="65" name="Picture 64" descr="D:\ITANK ITANK\I Tank Symbol\HD Photos\VCT.png">
            <a:extLst>
              <a:ext uri="{FF2B5EF4-FFF2-40B4-BE49-F238E27FC236}">
                <a16:creationId xmlns:a16="http://schemas.microsoft.com/office/drawing/2014/main" id="{83295199-99AE-3B7E-403F-B99033041D0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6631" t="12971" r="26014" b="9374"/>
          <a:stretch/>
        </p:blipFill>
        <p:spPr bwMode="auto">
          <a:xfrm>
            <a:off x="10468099" y="2342166"/>
            <a:ext cx="555782" cy="60760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848302A0-8292-36C9-A304-E8234BABCCA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3580689" y="1562350"/>
            <a:ext cx="388286" cy="244457"/>
          </a:xfrm>
          <a:prstGeom prst="rect">
            <a:avLst/>
          </a:prstGeom>
        </p:spPr>
      </p:pic>
      <p:pic>
        <p:nvPicPr>
          <p:cNvPr id="67" name="Picture 66">
            <a:extLst>
              <a:ext uri="{FF2B5EF4-FFF2-40B4-BE49-F238E27FC236}">
                <a16:creationId xmlns:a16="http://schemas.microsoft.com/office/drawing/2014/main" id="{4DCE8654-0192-E664-95DB-AC54882F463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5100621" y="1555308"/>
            <a:ext cx="388286" cy="244457"/>
          </a:xfrm>
          <a:prstGeom prst="rect">
            <a:avLst/>
          </a:prstGeom>
        </p:spPr>
      </p:pic>
      <p:pic>
        <p:nvPicPr>
          <p:cNvPr id="68" name="Picture 67">
            <a:extLst>
              <a:ext uri="{FF2B5EF4-FFF2-40B4-BE49-F238E27FC236}">
                <a16:creationId xmlns:a16="http://schemas.microsoft.com/office/drawing/2014/main" id="{66A370BD-2F1E-3D0A-DCBB-568C26C4145F}"/>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6720726" y="1565778"/>
            <a:ext cx="388286" cy="244457"/>
          </a:xfrm>
          <a:prstGeom prst="rect">
            <a:avLst/>
          </a:prstGeom>
        </p:spPr>
      </p:pic>
      <p:pic>
        <p:nvPicPr>
          <p:cNvPr id="69" name="Picture 68">
            <a:extLst>
              <a:ext uri="{FF2B5EF4-FFF2-40B4-BE49-F238E27FC236}">
                <a16:creationId xmlns:a16="http://schemas.microsoft.com/office/drawing/2014/main" id="{B9C12154-80CE-2CE5-A983-DD209888508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8291939" y="1558736"/>
            <a:ext cx="388286" cy="244457"/>
          </a:xfrm>
          <a:prstGeom prst="rect">
            <a:avLst/>
          </a:prstGeom>
        </p:spPr>
      </p:pic>
      <p:pic>
        <p:nvPicPr>
          <p:cNvPr id="70" name="Picture 69">
            <a:extLst>
              <a:ext uri="{FF2B5EF4-FFF2-40B4-BE49-F238E27FC236}">
                <a16:creationId xmlns:a16="http://schemas.microsoft.com/office/drawing/2014/main" id="{B68BA177-B9D4-9894-7F26-690FC28648F6}"/>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9765957" y="1565778"/>
            <a:ext cx="388286" cy="244457"/>
          </a:xfrm>
          <a:prstGeom prst="rect">
            <a:avLst/>
          </a:prstGeom>
        </p:spPr>
      </p:pic>
      <p:pic>
        <p:nvPicPr>
          <p:cNvPr id="71" name="Picture 70">
            <a:extLst>
              <a:ext uri="{FF2B5EF4-FFF2-40B4-BE49-F238E27FC236}">
                <a16:creationId xmlns:a16="http://schemas.microsoft.com/office/drawing/2014/main" id="{412AEB9C-AD22-0FF8-B3B0-9DD955616936}"/>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038" t="25213" r="22144" b="16408"/>
          <a:stretch/>
        </p:blipFill>
        <p:spPr>
          <a:xfrm>
            <a:off x="11285893" y="1558736"/>
            <a:ext cx="388286" cy="244457"/>
          </a:xfrm>
          <a:prstGeom prst="rect">
            <a:avLst/>
          </a:prstGeom>
        </p:spPr>
      </p:pic>
      <p:sp>
        <p:nvSpPr>
          <p:cNvPr id="74" name="Rectangle 73">
            <a:extLst>
              <a:ext uri="{FF2B5EF4-FFF2-40B4-BE49-F238E27FC236}">
                <a16:creationId xmlns:a16="http://schemas.microsoft.com/office/drawing/2014/main" id="{5DA1E7F8-40DC-7CE6-59B1-F0966A6D4242}"/>
              </a:ext>
            </a:extLst>
          </p:cNvPr>
          <p:cNvSpPr/>
          <p:nvPr/>
        </p:nvSpPr>
        <p:spPr>
          <a:xfrm>
            <a:off x="2068520" y="4426350"/>
            <a:ext cx="1140124" cy="44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latin typeface="Times New Roman" panose="02020603050405020304" pitchFamily="18" charset="0"/>
                <a:cs typeface="Times New Roman" panose="02020603050405020304" pitchFamily="18" charset="0"/>
              </a:rPr>
              <a:t>AUTO CHANGEOVER</a:t>
            </a:r>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75" name="Flowchart: Process 74">
            <a:extLst>
              <a:ext uri="{FF2B5EF4-FFF2-40B4-BE49-F238E27FC236}">
                <a16:creationId xmlns:a16="http://schemas.microsoft.com/office/drawing/2014/main" id="{6F4EBEA9-32A9-24AB-CC09-A7D529A04E71}"/>
              </a:ext>
            </a:extLst>
          </p:cNvPr>
          <p:cNvSpPr/>
          <p:nvPr/>
        </p:nvSpPr>
        <p:spPr>
          <a:xfrm>
            <a:off x="349982" y="3604263"/>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1</a:t>
            </a:r>
          </a:p>
        </p:txBody>
      </p:sp>
      <p:sp>
        <p:nvSpPr>
          <p:cNvPr id="76" name="Flowchart: Process 75">
            <a:extLst>
              <a:ext uri="{FF2B5EF4-FFF2-40B4-BE49-F238E27FC236}">
                <a16:creationId xmlns:a16="http://schemas.microsoft.com/office/drawing/2014/main" id="{484F7378-1796-0B20-4288-7B144B18FBCD}"/>
              </a:ext>
            </a:extLst>
          </p:cNvPr>
          <p:cNvSpPr/>
          <p:nvPr/>
        </p:nvSpPr>
        <p:spPr>
          <a:xfrm>
            <a:off x="1816310" y="3633312"/>
            <a:ext cx="674089" cy="24384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MOTOR 2</a:t>
            </a:r>
          </a:p>
        </p:txBody>
      </p:sp>
    </p:spTree>
    <p:extLst>
      <p:ext uri="{BB962C8B-B14F-4D97-AF65-F5344CB8AC3E}">
        <p14:creationId xmlns:p14="http://schemas.microsoft.com/office/powerpoint/2010/main" val="3797337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87019" y="100452"/>
            <a:ext cx="11571890" cy="838259"/>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anose="02020603050405020304" pitchFamily="18" charset="0"/>
                <a:cs typeface="Times New Roman" panose="02020603050405020304" pitchFamily="18" charset="0"/>
              </a:rPr>
              <a:t>SYSTEM REQUIREMENTS AND ESTIMATE -  </a:t>
            </a:r>
            <a:r>
              <a:rPr lang="en-IN" sz="2000" b="1" u="sng" dirty="0">
                <a:solidFill>
                  <a:srgbClr val="002060"/>
                </a:solidFill>
                <a:latin typeface="Times New Roman" panose="02020603050405020304" pitchFamily="18" charset="0"/>
                <a:cs typeface="Times New Roman" panose="02020603050405020304" pitchFamily="18" charset="0"/>
              </a:rPr>
              <a:t>SUMP TO MAIN BUILDING, WAITING HALL, IT BUILDING OHT TANK AND </a:t>
            </a:r>
            <a:r>
              <a:rPr lang="en-US" altLang="en-IN" sz="2000" b="1" u="sng" dirty="0">
                <a:solidFill>
                  <a:srgbClr val="002060"/>
                </a:solidFill>
                <a:latin typeface="Times New Roman" panose="02020603050405020304" pitchFamily="18" charset="0"/>
                <a:cs typeface="Times New Roman" panose="02020603050405020304" pitchFamily="18" charset="0"/>
              </a:rPr>
              <a:t>3</a:t>
            </a:r>
            <a:r>
              <a:rPr lang="en-IN" sz="2000" b="1" u="sng" dirty="0">
                <a:solidFill>
                  <a:srgbClr val="002060"/>
                </a:solidFill>
                <a:latin typeface="Times New Roman" panose="02020603050405020304" pitchFamily="18" charset="0"/>
                <a:cs typeface="Times New Roman" panose="02020603050405020304" pitchFamily="18" charset="0"/>
              </a:rPr>
              <a:t> OHT’S</a:t>
            </a:r>
            <a:r>
              <a:rPr lang="en-IN" sz="2000" b="1" u="sng" dirty="0">
                <a:solidFill>
                  <a:srgbClr val="FF0000"/>
                </a:solidFill>
                <a:latin typeface="Times New Roman" panose="02020603050405020304" pitchFamily="18" charset="0"/>
                <a:cs typeface="Times New Roman" panose="02020603050405020304" pitchFamily="18" charset="0"/>
              </a:rPr>
              <a:t> </a:t>
            </a:r>
            <a:endParaRPr lang="en-US" sz="2000" b="1" u="sng" dirty="0">
              <a:solidFill>
                <a:srgbClr val="FF0000"/>
              </a:solidFill>
              <a:latin typeface="Times New Roman" panose="02020603050405020304" pitchFamily="18" charset="0"/>
              <a:cs typeface="Times New Roman" panose="02020603050405020304" pitchFamily="18" charset="0"/>
            </a:endParaRPr>
          </a:p>
        </p:txBody>
      </p:sp>
      <p:pic>
        <p:nvPicPr>
          <p:cNvPr id="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231245" y="6216650"/>
            <a:ext cx="750570" cy="369570"/>
          </a:xfrm>
          <a:prstGeom prst="rect">
            <a:avLst/>
          </a:prstGeom>
          <a:noFill/>
        </p:spPr>
      </p:pic>
      <p:graphicFrame>
        <p:nvGraphicFramePr>
          <p:cNvPr id="3" name="Content Placeholder 3">
            <a:extLst>
              <a:ext uri="{FF2B5EF4-FFF2-40B4-BE49-F238E27FC236}">
                <a16:creationId xmlns:a16="http://schemas.microsoft.com/office/drawing/2014/main" id="{38BA0498-F8B0-B216-0124-DB7AF0B47C9E}"/>
              </a:ext>
            </a:extLst>
          </p:cNvPr>
          <p:cNvGraphicFramePr/>
          <p:nvPr>
            <p:extLst>
              <p:ext uri="{D42A27DB-BD31-4B8C-83A1-F6EECF244321}">
                <p14:modId xmlns:p14="http://schemas.microsoft.com/office/powerpoint/2010/main" val="524323477"/>
              </p:ext>
            </p:extLst>
          </p:nvPr>
        </p:nvGraphicFramePr>
        <p:xfrm>
          <a:off x="207580" y="1037951"/>
          <a:ext cx="11776840" cy="4756099"/>
        </p:xfrm>
        <a:graphic>
          <a:graphicData uri="http://schemas.openxmlformats.org/drawingml/2006/table">
            <a:tbl>
              <a:tblPr firstRow="1" bandRow="1">
                <a:tableStyleId>{5C22544A-7EE6-4342-B048-85BDC9FD1C3A}</a:tableStyleId>
              </a:tblPr>
              <a:tblGrid>
                <a:gridCol w="6905296">
                  <a:extLst>
                    <a:ext uri="{9D8B030D-6E8A-4147-A177-3AD203B41FA5}">
                      <a16:colId xmlns:a16="http://schemas.microsoft.com/office/drawing/2014/main" val="20000"/>
                    </a:ext>
                  </a:extLst>
                </a:gridCol>
                <a:gridCol w="1529255">
                  <a:extLst>
                    <a:ext uri="{9D8B030D-6E8A-4147-A177-3AD203B41FA5}">
                      <a16:colId xmlns:a16="http://schemas.microsoft.com/office/drawing/2014/main" val="20001"/>
                    </a:ext>
                  </a:extLst>
                </a:gridCol>
                <a:gridCol w="1632585">
                  <a:extLst>
                    <a:ext uri="{9D8B030D-6E8A-4147-A177-3AD203B41FA5}">
                      <a16:colId xmlns:a16="http://schemas.microsoft.com/office/drawing/2014/main" val="20002"/>
                    </a:ext>
                  </a:extLst>
                </a:gridCol>
                <a:gridCol w="1709704">
                  <a:extLst>
                    <a:ext uri="{9D8B030D-6E8A-4147-A177-3AD203B41FA5}">
                      <a16:colId xmlns:a16="http://schemas.microsoft.com/office/drawing/2014/main" val="20003"/>
                    </a:ext>
                  </a:extLst>
                </a:gridCol>
              </a:tblGrid>
              <a:tr h="671455">
                <a:tc>
                  <a:txBody>
                    <a:bodyPr/>
                    <a:lstStyle/>
                    <a:p>
                      <a:pPr algn="ctr"/>
                      <a:r>
                        <a:rPr lang="en-IN" sz="1400" b="1" dirty="0">
                          <a:latin typeface="Times New Roman" panose="02020603050405020304" pitchFamily="18" charset="0"/>
                          <a:cs typeface="Times New Roman" panose="02020603050405020304" pitchFamily="18" charset="0"/>
                        </a:rPr>
                        <a:t>UNIT</a:t>
                      </a:r>
                    </a:p>
                  </a:txBody>
                  <a:tcPr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QUANTITY</a:t>
                      </a:r>
                    </a:p>
                  </a:txBody>
                  <a:tcPr anchor="ctr"/>
                </a:tc>
                <a:tc>
                  <a:txBody>
                    <a:bodyPr/>
                    <a:lstStyle/>
                    <a:p>
                      <a:pPr algn="ctr">
                        <a:lnSpc>
                          <a:spcPct val="107000"/>
                        </a:lnSpc>
                        <a:spcAft>
                          <a:spcPts val="0"/>
                        </a:spcAft>
                        <a:tabLst>
                          <a:tab pos="3684905" algn="l"/>
                        </a:tabLst>
                      </a:pPr>
                      <a:r>
                        <a:rPr lang="en-US" sz="1400" b="1" dirty="0">
                          <a:effectLst/>
                          <a:latin typeface="Times New Roman" panose="02020603050405020304" pitchFamily="18" charset="0"/>
                          <a:ea typeface="Calibri" panose="020F0502020204030204"/>
                          <a:cs typeface="Times New Roman" panose="02020603050405020304" pitchFamily="18" charset="0"/>
                        </a:rPr>
                        <a:t>UNIT COST</a:t>
                      </a:r>
                    </a:p>
                  </a:txBody>
                  <a:tcPr marL="68580" marR="68580" marT="0" marB="0" anchor="ctr"/>
                </a:tc>
                <a:tc>
                  <a:txBody>
                    <a:bodyPr/>
                    <a:lstStyle/>
                    <a:p>
                      <a:pPr algn="ctr"/>
                      <a:r>
                        <a:rPr kumimoji="0" lang="en-US" sz="1400" b="1" kern="1200" dirty="0">
                          <a:solidFill>
                            <a:schemeClr val="lt1"/>
                          </a:solidFill>
                          <a:effectLst/>
                          <a:latin typeface="Times New Roman" panose="02020603050405020304" pitchFamily="18" charset="0"/>
                          <a:ea typeface="+mn-ea"/>
                          <a:cs typeface="Times New Roman" panose="02020603050405020304" pitchFamily="18" charset="0"/>
                        </a:rPr>
                        <a:t>PRICE</a:t>
                      </a:r>
                    </a:p>
                  </a:txBody>
                  <a:tcPr anchor="ctr"/>
                </a:tc>
                <a:extLst>
                  <a:ext uri="{0D108BD9-81ED-4DB2-BD59-A6C34878D82A}">
                    <a16:rowId xmlns:a16="http://schemas.microsoft.com/office/drawing/2014/main" val="10000"/>
                  </a:ext>
                </a:extLst>
              </a:tr>
              <a:tr h="449830">
                <a:tc>
                  <a:txBody>
                    <a:bodyPr/>
                    <a:lstStyle/>
                    <a:p>
                      <a:pPr algn="l"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GRAPHICS</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DISPLAY WITH VALVE</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 INTERFACE CONTROLLER</a:t>
                      </a:r>
                      <a:r>
                        <a:rPr lang="en-IN" sz="1200" b="1" baseline="0" dirty="0">
                          <a:solidFill>
                            <a:srgbClr val="000000"/>
                          </a:solidFill>
                          <a:latin typeface="Times New Roman" panose="02020603050405020304" pitchFamily="18" charset="0"/>
                          <a:cs typeface="Times New Roman" panose="02020603050405020304" pitchFamily="18" charset="0"/>
                        </a:rPr>
                        <a:t> </a:t>
                      </a:r>
                      <a:r>
                        <a:rPr lang="en-IN" sz="1200" b="1" dirty="0">
                          <a:solidFill>
                            <a:srgbClr val="000000"/>
                          </a:solidFill>
                          <a:latin typeface="Times New Roman" panose="02020603050405020304" pitchFamily="18" charset="0"/>
                          <a:cs typeface="Times New Roman" panose="02020603050405020304" pitchFamily="18" charset="0"/>
                        </a:rPr>
                        <a:t>(FULL AUTOMATIC)</a:t>
                      </a:r>
                    </a:p>
                  </a:txBody>
                  <a:tcPr anchor="ctr"/>
                </a:tc>
                <a:tc>
                  <a:txBody>
                    <a:bodyPr/>
                    <a:lstStyle/>
                    <a:p>
                      <a:pPr algn="ctr" fontAlgn="ctr">
                        <a:buClrTx/>
                        <a:buSzTx/>
                        <a:buFontTx/>
                      </a:pPr>
                      <a:r>
                        <a:rPr lang="en-US" altLang="en-IN"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IN" sz="1200" b="1" dirty="0">
                          <a:solidFill>
                            <a:srgbClr val="000000"/>
                          </a:solidFill>
                          <a:latin typeface="Times New Roman" panose="02020603050405020304" pitchFamily="18" charset="0"/>
                          <a:cs typeface="Times New Roman" panose="02020603050405020304" pitchFamily="18" charset="0"/>
                        </a:rPr>
                        <a:t>27,500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1,65,000</a:t>
                      </a:r>
                    </a:p>
                  </a:txBody>
                  <a:tcPr marL="9525" marR="9525" marT="9525" marB="0" anchor="ctr"/>
                </a:tc>
                <a:extLst>
                  <a:ext uri="{0D108BD9-81ED-4DB2-BD59-A6C34878D82A}">
                    <a16:rowId xmlns:a16="http://schemas.microsoft.com/office/drawing/2014/main" val="10001"/>
                  </a:ext>
                </a:extLst>
              </a:tr>
              <a:tr h="449830">
                <a:tc>
                  <a:txBody>
                    <a:bodyPr/>
                    <a:lstStyle/>
                    <a:p>
                      <a:pPr marL="0" algn="l" rtl="0" eaLnBrk="1" fontAlgn="ctr" latinLnBrk="0" hangingPunct="1"/>
                      <a:r>
                        <a:rPr kumimoji="0" lang="en-IN" sz="1200" b="1" i="0" u="none" strike="noStrike" kern="1200" dirty="0">
                          <a:solidFill>
                            <a:srgbClr val="000000"/>
                          </a:solidFill>
                          <a:latin typeface="Times New Roman" panose="02020603050405020304" pitchFamily="18" charset="0"/>
                          <a:ea typeface="+mn-ea"/>
                          <a:cs typeface="Times New Roman" panose="02020603050405020304" pitchFamily="18" charset="0"/>
                        </a:rPr>
                        <a:t>MASTER GATEWAY CONTROLLER (IOT)</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16,500</a:t>
                      </a:r>
                    </a:p>
                  </a:txBody>
                  <a:tcPr marL="9525" marR="9525" marT="9525" marB="0" anchor="ctr"/>
                </a:tc>
                <a:extLst>
                  <a:ext uri="{0D108BD9-81ED-4DB2-BD59-A6C34878D82A}">
                    <a16:rowId xmlns:a16="http://schemas.microsoft.com/office/drawing/2014/main" val="10002"/>
                  </a:ext>
                </a:extLst>
              </a:tr>
              <a:tr h="414447">
                <a:tc>
                  <a:txBody>
                    <a:bodyPr/>
                    <a:lstStyle/>
                    <a:p>
                      <a:pPr marL="0" marR="0" lvl="0" algn="l" rtl="0" eaLnBrk="1" fontAlgn="ctr" latinLnBrk="0" hangingPunct="1">
                        <a:lnSpc>
                          <a:spcPct val="100000"/>
                        </a:lnSpc>
                        <a:spcBef>
                          <a:spcPts val="0"/>
                        </a:spcBef>
                        <a:buClrTx/>
                        <a:buSzTx/>
                        <a:buFontTx/>
                        <a:buNone/>
                      </a:pPr>
                      <a:r>
                        <a:rPr lang="en-US" sz="1200" b="1" dirty="0">
                          <a:solidFill>
                            <a:srgbClr val="000000"/>
                          </a:solidFill>
                          <a:latin typeface="Times New Roman" panose="02020603050405020304" pitchFamily="18" charset="0"/>
                          <a:cs typeface="Times New Roman" panose="02020603050405020304" pitchFamily="18" charset="0"/>
                        </a:rPr>
                        <a:t>2"</a:t>
                      </a:r>
                      <a:r>
                        <a:rPr lang="en-US" sz="1200" b="1" baseline="0" dirty="0">
                          <a:solidFill>
                            <a:srgbClr val="000000"/>
                          </a:solidFill>
                          <a:latin typeface="Times New Roman" panose="02020603050405020304" pitchFamily="18" charset="0"/>
                          <a:cs typeface="Times New Roman" panose="02020603050405020304" pitchFamily="18" charset="0"/>
                        </a:rPr>
                        <a:t> - </a:t>
                      </a:r>
                      <a:r>
                        <a:rPr lang="en-US" sz="1200" b="1" dirty="0">
                          <a:solidFill>
                            <a:srgbClr val="000000"/>
                          </a:solidFill>
                          <a:latin typeface="Times New Roman" panose="02020603050405020304" pitchFamily="18" charset="0"/>
                          <a:cs typeface="Times New Roman" panose="02020603050405020304" pitchFamily="18" charset="0"/>
                        </a:rPr>
                        <a:t>MOTORIZED BUTTERFLY VALVE WITH MANUAL OVERRIDE</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6</a:t>
                      </a:r>
                    </a:p>
                  </a:txBody>
                  <a:tcPr anchor="ctr"/>
                </a:tc>
                <a:tc>
                  <a:txBody>
                    <a:bodyPr/>
                    <a:lstStyle/>
                    <a:p>
                      <a:pPr algn="ctr" fontAlgn="ctr">
                        <a:buClrTx/>
                        <a:buSzTx/>
                        <a:buFontTx/>
                      </a:pPr>
                      <a:r>
                        <a:rPr lang="en-US" sz="1200" b="1" dirty="0">
                          <a:solidFill>
                            <a:srgbClr val="000000"/>
                          </a:solidFill>
                          <a:latin typeface="Times New Roman" panose="02020603050405020304" pitchFamily="18" charset="0"/>
                          <a:cs typeface="Times New Roman" panose="02020603050405020304" pitchFamily="18" charset="0"/>
                        </a:rPr>
                        <a:t>16,500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99,000</a:t>
                      </a:r>
                    </a:p>
                  </a:txBody>
                  <a:tcPr marL="9525" marR="9525" marT="9525" marB="0" anchor="ctr"/>
                </a:tc>
                <a:extLst>
                  <a:ext uri="{0D108BD9-81ED-4DB2-BD59-A6C34878D82A}">
                    <a16:rowId xmlns:a16="http://schemas.microsoft.com/office/drawing/2014/main" val="10004"/>
                  </a:ext>
                </a:extLst>
              </a:tr>
              <a:tr h="414447">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7</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11,000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77,000</a:t>
                      </a:r>
                    </a:p>
                  </a:txBody>
                  <a:tcPr marL="9525" marR="9525" marT="9525" marB="0" anchor="ctr"/>
                </a:tc>
                <a:extLst>
                  <a:ext uri="{0D108BD9-81ED-4DB2-BD59-A6C34878D82A}">
                    <a16:rowId xmlns:a16="http://schemas.microsoft.com/office/drawing/2014/main" val="10005"/>
                  </a:ext>
                </a:extLst>
              </a:tr>
              <a:tr h="505763">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QUICK PRESSURE RELIEF</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14,500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14,500</a:t>
                      </a:r>
                    </a:p>
                  </a:txBody>
                  <a:tcPr marL="9525" marR="9525" marT="9525" marB="0" anchor="ctr"/>
                </a:tc>
                <a:extLst>
                  <a:ext uri="{0D108BD9-81ED-4DB2-BD59-A6C34878D82A}">
                    <a16:rowId xmlns:a16="http://schemas.microsoft.com/office/drawing/2014/main" val="10007"/>
                  </a:ext>
                </a:extLst>
              </a:tr>
              <a:tr h="394126">
                <a:tc>
                  <a:txBody>
                    <a:bodyPr/>
                    <a:lstStyle/>
                    <a:p>
                      <a:pPr marL="0" algn="l" rtl="0" eaLnBrk="1" fontAlgn="ctr" latinLnBrk="0" hangingPunct="1"/>
                      <a:r>
                        <a:rPr lang="en-US" sz="1200" b="1" dirty="0">
                          <a:solidFill>
                            <a:srgbClr val="000000"/>
                          </a:solidFill>
                          <a:latin typeface="Times New Roman" panose="02020603050405020304" pitchFamily="18" charset="0"/>
                          <a:cs typeface="Times New Roman" panose="02020603050405020304" pitchFamily="18" charset="0"/>
                          <a:sym typeface="+mn-ea"/>
                        </a:rPr>
                        <a:t>MULTI CONTROL MOTOR AUTO CHANGEOVER</a:t>
                      </a:r>
                      <a:endPar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endParaRP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1</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8,500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8,500</a:t>
                      </a:r>
                    </a:p>
                  </a:txBody>
                  <a:tcPr marL="9525" marR="9525" marT="9525" marB="0" anchor="ctr"/>
                </a:tc>
                <a:extLst>
                  <a:ext uri="{0D108BD9-81ED-4DB2-BD59-A6C34878D82A}">
                    <a16:rowId xmlns:a16="http://schemas.microsoft.com/office/drawing/2014/main" val="10008"/>
                  </a:ext>
                </a:extLst>
              </a:tr>
              <a:tr h="421589">
                <a:tc>
                  <a:txBody>
                    <a:bodyPr/>
                    <a:lstStyle/>
                    <a:p>
                      <a:pPr marL="0" algn="l"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2”NRV</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2</a:t>
                      </a:r>
                    </a:p>
                  </a:txBody>
                  <a:tcPr anchor="ctr"/>
                </a:tc>
                <a:tc>
                  <a:txBody>
                    <a:bodyPr/>
                    <a:lstStyle/>
                    <a:p>
                      <a:pPr marL="0" algn="ctr" rtl="0" eaLnBrk="1" fontAlgn="ctr" latinLnBrk="0" hangingPunct="1"/>
                      <a:r>
                        <a:rPr kumimoji="0" lang="en-US" sz="1200" b="1" i="0" u="none" strike="noStrike" kern="1200" dirty="0">
                          <a:solidFill>
                            <a:srgbClr val="000000"/>
                          </a:solidFill>
                          <a:latin typeface="Times New Roman" panose="02020603050405020304" pitchFamily="18" charset="0"/>
                          <a:ea typeface="+mn-ea"/>
                          <a:cs typeface="Times New Roman" panose="02020603050405020304" pitchFamily="18" charset="0"/>
                        </a:rPr>
                        <a:t>3,000</a:t>
                      </a:r>
                    </a:p>
                  </a:txBody>
                  <a:tcPr anchor="ct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6,000</a:t>
                      </a:r>
                    </a:p>
                  </a:txBody>
                  <a:tcPr marL="9525" marR="9525" marT="9525" marB="0" anchor="ctr"/>
                </a:tc>
                <a:extLst>
                  <a:ext uri="{0D108BD9-81ED-4DB2-BD59-A6C34878D82A}">
                    <a16:rowId xmlns:a16="http://schemas.microsoft.com/office/drawing/2014/main" val="10009"/>
                  </a:ext>
                </a:extLst>
              </a:tr>
              <a:tr h="480656">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endParaRPr lang="en-US"/>
                    </a:p>
                  </a:txBody>
                  <a:tcPr/>
                </a:tc>
                <a:tc>
                  <a:txBody>
                    <a:bodyPr/>
                    <a:lstStyle/>
                    <a:p>
                      <a:pPr marL="0" algn="ctr" rtl="0" eaLnBrk="1" fontAlgn="ctr" latinLnBrk="0" hangingPunct="1">
                        <a:buClrTx/>
                        <a:buSzTx/>
                        <a:buFontTx/>
                      </a:pPr>
                      <a:r>
                        <a:rPr kumimoji="0" lang="en-IN" sz="1200" b="1" kern="1200" dirty="0">
                          <a:solidFill>
                            <a:srgbClr val="000000"/>
                          </a:solidFill>
                          <a:latin typeface="Times New Roman" panose="02020603050405020304" pitchFamily="18" charset="0"/>
                          <a:ea typeface="+mn-ea"/>
                          <a:cs typeface="Times New Roman" panose="02020603050405020304" pitchFamily="18" charset="0"/>
                        </a:rPr>
                        <a:t>57,975</a:t>
                      </a:r>
                    </a:p>
                  </a:txBody>
                  <a:tcPr marL="9525" marR="9525" marT="9525" marB="0" anchor="ctr"/>
                </a:tc>
                <a:extLst>
                  <a:ext uri="{0D108BD9-81ED-4DB2-BD59-A6C34878D82A}">
                    <a16:rowId xmlns:a16="http://schemas.microsoft.com/office/drawing/2014/main" val="10010"/>
                  </a:ext>
                </a:extLst>
              </a:tr>
              <a:tr h="553956">
                <a:tc>
                  <a:txBody>
                    <a:bodyPr/>
                    <a:lstStyle/>
                    <a:p>
                      <a:pPr algn="l"/>
                      <a:endParaRPr lang="en-IN" sz="1200" b="1" dirty="0">
                        <a:latin typeface="Times New Roman" panose="02020603050405020304" pitchFamily="18" charset="0"/>
                        <a:cs typeface="Times New Roman" panose="02020603050405020304" pitchFamily="18" charset="0"/>
                      </a:endParaRPr>
                    </a:p>
                  </a:txBody>
                  <a:tcPr anchor="ctr"/>
                </a:tc>
                <a:tc gridSpan="2">
                  <a:txBody>
                    <a:bodyPr/>
                    <a:lstStyle/>
                    <a:p>
                      <a:pPr algn="r"/>
                      <a:r>
                        <a:rPr lang="en-IN" sz="1200" b="1" dirty="0">
                          <a:solidFill>
                            <a:srgbClr val="002060"/>
                          </a:solidFill>
                          <a:latin typeface="Times New Roman" panose="02020603050405020304" pitchFamily="18" charset="0"/>
                          <a:cs typeface="Times New Roman" panose="02020603050405020304" pitchFamily="18" charset="0"/>
                        </a:rPr>
                        <a:t>TOTAL</a:t>
                      </a:r>
                      <a:r>
                        <a:rPr lang="en-IN" sz="1200" b="1" baseline="0" dirty="0">
                          <a:solidFill>
                            <a:srgbClr val="002060"/>
                          </a:solidFill>
                          <a:latin typeface="Times New Roman" panose="02020603050405020304" pitchFamily="18" charset="0"/>
                          <a:cs typeface="Times New Roman" panose="02020603050405020304" pitchFamily="18" charset="0"/>
                        </a:rPr>
                        <a:t> COST WITHOUT TAX</a:t>
                      </a:r>
                    </a:p>
                  </a:txBody>
                  <a:tcPr anchor="ctr"/>
                </a:tc>
                <a:tc hMerge="1">
                  <a:txBody>
                    <a:bodyPr/>
                    <a:lstStyle/>
                    <a:p>
                      <a:endParaRPr lang="en-US"/>
                    </a:p>
                  </a:txBody>
                  <a:tcPr/>
                </a:tc>
                <a:tc>
                  <a:txBody>
                    <a:bodyPr/>
                    <a:lstStyle/>
                    <a:p>
                      <a:pPr algn="ctr" fontAlgn="b"/>
                      <a:r>
                        <a:rPr lang="en-IN" sz="1600" b="1" i="0" u="none" strike="noStrike" dirty="0">
                          <a:solidFill>
                            <a:srgbClr val="000000"/>
                          </a:solidFill>
                          <a:effectLst/>
                          <a:latin typeface="Times New Roman" panose="02020603050405020304" pitchFamily="18" charset="0"/>
                        </a:rPr>
                        <a:t>   4,44,475 </a:t>
                      </a:r>
                    </a:p>
                  </a:txBody>
                  <a:tcPr marL="9525" marR="9525" marT="9525" marB="0" anchor="ctr">
                    <a:solidFill>
                      <a:srgbClr val="00B050"/>
                    </a:solidFill>
                  </a:tcPr>
                </a:tc>
                <a:extLst>
                  <a:ext uri="{0D108BD9-81ED-4DB2-BD59-A6C34878D82A}">
                    <a16:rowId xmlns:a16="http://schemas.microsoft.com/office/drawing/2014/main" val="10011"/>
                  </a:ext>
                </a:extLst>
              </a:tr>
            </a:tbl>
          </a:graphicData>
        </a:graphic>
      </p:graphicFrame>
      <p:sp>
        <p:nvSpPr>
          <p:cNvPr id="4" name="TextBox 3">
            <a:extLst>
              <a:ext uri="{FF2B5EF4-FFF2-40B4-BE49-F238E27FC236}">
                <a16:creationId xmlns:a16="http://schemas.microsoft.com/office/drawing/2014/main" id="{6C298056-9AB4-1AA5-52E2-E1B2CC366474}"/>
              </a:ext>
            </a:extLst>
          </p:cNvPr>
          <p:cNvSpPr txBox="1"/>
          <p:nvPr/>
        </p:nvSpPr>
        <p:spPr>
          <a:xfrm>
            <a:off x="10438173" y="5795123"/>
            <a:ext cx="1489104" cy="246221"/>
          </a:xfrm>
          <a:prstGeom prst="rect">
            <a:avLst/>
          </a:prstGeom>
          <a:noFill/>
        </p:spPr>
        <p:txBody>
          <a:bodyPr wrap="square">
            <a:spAutoFit/>
          </a:bodyPr>
          <a:lstStyle/>
          <a:p>
            <a:pPr marL="0" algn="ctr" rtl="0" eaLnBrk="1" fontAlgn="ctr" latinLnBrk="0" hangingPunct="1">
              <a:buClrTx/>
              <a:buSzTx/>
              <a:buFontTx/>
            </a:pPr>
            <a:r>
              <a:rPr lang="en-US" sz="1000" b="1" dirty="0">
                <a:solidFill>
                  <a:srgbClr val="FF0000"/>
                </a:solidFill>
                <a:latin typeface="Times New Roman" panose="02020603050405020304" pitchFamily="18" charset="0"/>
                <a:cs typeface="Times New Roman" panose="02020603050405020304" pitchFamily="18" charset="0"/>
              </a:rPr>
              <a:t>*</a:t>
            </a:r>
            <a:r>
              <a:rPr lang="en-IN" sz="1000" b="1" dirty="0">
                <a:solidFill>
                  <a:srgbClr val="FF0000"/>
                </a:solidFill>
                <a:latin typeface="Times New Roman" panose="02020603050405020304" pitchFamily="18" charset="0"/>
                <a:cs typeface="Times New Roman" panose="02020603050405020304" pitchFamily="18" charset="0"/>
              </a:rPr>
              <a:t>WITHOUT GST 18%</a:t>
            </a:r>
            <a:endParaRPr kumimoji="0" lang="en-IN" sz="1000" b="1" kern="1200"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97598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Straight Connector 58"/>
          <p:cNvCxnSpPr/>
          <p:nvPr/>
        </p:nvCxnSpPr>
        <p:spPr>
          <a:xfrm flipH="1">
            <a:off x="1533250" y="5694974"/>
            <a:ext cx="106696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itle 1"/>
          <p:cNvSpPr txBox="1">
            <a:spLocks/>
          </p:cNvSpPr>
          <p:nvPr/>
        </p:nvSpPr>
        <p:spPr>
          <a:xfrm>
            <a:off x="884458" y="79054"/>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50" b="1" u="sng" dirty="0">
                <a:solidFill>
                  <a:srgbClr val="FF0000"/>
                </a:solidFill>
                <a:latin typeface="Times New Roman" pitchFamily="18" charset="0"/>
                <a:cs typeface="Times New Roman" pitchFamily="18" charset="0"/>
              </a:rPr>
              <a:t>FULLY AUTOMATION </a:t>
            </a:r>
            <a:r>
              <a:rPr lang="en-US" sz="1850" b="1" u="sng">
                <a:solidFill>
                  <a:srgbClr val="FF0000"/>
                </a:solidFill>
                <a:latin typeface="Times New Roman" pitchFamily="18" charset="0"/>
                <a:cs typeface="Times New Roman" pitchFamily="18" charset="0"/>
              </a:rPr>
              <a:t>– </a:t>
            </a:r>
            <a:r>
              <a:rPr lang="en-US" sz="1850" b="1" u="sng">
                <a:solidFill>
                  <a:srgbClr val="002060"/>
                </a:solidFill>
                <a:latin typeface="Times New Roman" pitchFamily="18" charset="0"/>
                <a:cs typeface="Times New Roman" pitchFamily="18" charset="0"/>
              </a:rPr>
              <a:t>BORE</a:t>
            </a:r>
            <a:endParaRPr lang="en-US" sz="1850" b="1" u="sng" dirty="0">
              <a:solidFill>
                <a:schemeClr val="tx1"/>
              </a:solidFill>
              <a:latin typeface="Times New Roman" pitchFamily="18" charset="0"/>
              <a:cs typeface="Times New Roman" pitchFamily="18" charset="0"/>
            </a:endParaRPr>
          </a:p>
        </p:txBody>
      </p:sp>
      <p:cxnSp>
        <p:nvCxnSpPr>
          <p:cNvPr id="79" name="Straight Connector 78"/>
          <p:cNvCxnSpPr/>
          <p:nvPr/>
        </p:nvCxnSpPr>
        <p:spPr>
          <a:xfrm flipH="1">
            <a:off x="3568534" y="912773"/>
            <a:ext cx="1473197"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3570132" y="895104"/>
            <a:ext cx="0" cy="425538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9" name="Rectangle 38"/>
          <p:cNvSpPr/>
          <p:nvPr/>
        </p:nvSpPr>
        <p:spPr>
          <a:xfrm>
            <a:off x="206311" y="259305"/>
            <a:ext cx="748954" cy="276999"/>
          </a:xfrm>
          <a:prstGeom prst="rect">
            <a:avLst/>
          </a:prstGeom>
          <a:solidFill>
            <a:srgbClr val="00B0F0"/>
          </a:solidFill>
        </p:spPr>
        <p:txBody>
          <a:bodyPr wrap="square">
            <a:spAutoFit/>
          </a:bodyPr>
          <a:lstStyle/>
          <a:p>
            <a:pPr algn="ctr"/>
            <a:r>
              <a:rPr lang="en-US" sz="1200" b="1" dirty="0"/>
              <a:t>SET-2</a:t>
            </a:r>
          </a:p>
        </p:txBody>
      </p:sp>
      <p:sp>
        <p:nvSpPr>
          <p:cNvPr id="45" name="Flowchart: Process 44">
            <a:extLst>
              <a:ext uri="{FF2B5EF4-FFF2-40B4-BE49-F238E27FC236}">
                <a16:creationId xmlns:a16="http://schemas.microsoft.com/office/drawing/2014/main" id="{67B54128-3B63-4D7F-921A-5150FA07B590}"/>
              </a:ext>
            </a:extLst>
          </p:cNvPr>
          <p:cNvSpPr/>
          <p:nvPr/>
        </p:nvSpPr>
        <p:spPr>
          <a:xfrm rot="16200000">
            <a:off x="704110" y="5985740"/>
            <a:ext cx="31229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WELL</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1299" y="5135283"/>
            <a:ext cx="1574471" cy="110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r="13287"/>
          <a:stretch/>
        </p:blipFill>
        <p:spPr bwMode="auto">
          <a:xfrm>
            <a:off x="6197508" y="5143909"/>
            <a:ext cx="1647443" cy="110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53"/>
          <p:cNvPicPr>
            <a:picLocks noChangeAspect="1"/>
          </p:cNvPicPr>
          <p:nvPr/>
        </p:nvPicPr>
        <p:blipFill rotWithShape="1">
          <a:blip r:embed="rId4" cstate="print">
            <a:extLst>
              <a:ext uri="{28A0092B-C50C-407E-A947-70E740481C1C}">
                <a14:useLocalDpi xmlns:a14="http://schemas.microsoft.com/office/drawing/2010/main" val="0"/>
              </a:ext>
            </a:extLst>
          </a:blip>
          <a:srcRect l="10404" t="8515" r="7806"/>
          <a:stretch/>
        </p:blipFill>
        <p:spPr>
          <a:xfrm>
            <a:off x="187261" y="5143909"/>
            <a:ext cx="1345989" cy="1102130"/>
          </a:xfrm>
          <a:prstGeom prst="rect">
            <a:avLst/>
          </a:prstGeom>
        </p:spPr>
      </p:pic>
      <p:sp>
        <p:nvSpPr>
          <p:cNvPr id="56" name="Isosceles Triangle 55">
            <a:extLst>
              <a:ext uri="{FF2B5EF4-FFF2-40B4-BE49-F238E27FC236}">
                <a16:creationId xmlns:a16="http://schemas.microsoft.com/office/drawing/2014/main" id="{8D22B975-51F6-475E-9EF8-E53E3D27B81C}"/>
              </a:ext>
            </a:extLst>
          </p:cNvPr>
          <p:cNvSpPr/>
          <p:nvPr/>
        </p:nvSpPr>
        <p:spPr>
          <a:xfrm rot="5400000" flipH="1">
            <a:off x="2615363" y="560140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Flowchart: Process 62">
            <a:extLst>
              <a:ext uri="{FF2B5EF4-FFF2-40B4-BE49-F238E27FC236}">
                <a16:creationId xmlns:a16="http://schemas.microsoft.com/office/drawing/2014/main" id="{DE47567A-8AEB-4470-ABC8-DD727125A46A}"/>
              </a:ext>
            </a:extLst>
          </p:cNvPr>
          <p:cNvSpPr/>
          <p:nvPr/>
        </p:nvSpPr>
        <p:spPr>
          <a:xfrm>
            <a:off x="1571512" y="5143909"/>
            <a:ext cx="476364"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a:t>
            </a:r>
          </a:p>
        </p:txBody>
      </p:sp>
      <p:sp>
        <p:nvSpPr>
          <p:cNvPr id="68" name="Flowchart: Process 67">
            <a:extLst>
              <a:ext uri="{FF2B5EF4-FFF2-40B4-BE49-F238E27FC236}">
                <a16:creationId xmlns:a16="http://schemas.microsoft.com/office/drawing/2014/main" id="{DE47567A-8AEB-4470-ABC8-DD727125A46A}"/>
              </a:ext>
            </a:extLst>
          </p:cNvPr>
          <p:cNvSpPr/>
          <p:nvPr/>
        </p:nvSpPr>
        <p:spPr>
          <a:xfrm>
            <a:off x="2281140" y="5152691"/>
            <a:ext cx="457357"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a:t>
            </a:r>
          </a:p>
        </p:txBody>
      </p:sp>
      <p:sp>
        <p:nvSpPr>
          <p:cNvPr id="69" name="Flowchart: Process 68">
            <a:extLst>
              <a:ext uri="{FF2B5EF4-FFF2-40B4-BE49-F238E27FC236}">
                <a16:creationId xmlns:a16="http://schemas.microsoft.com/office/drawing/2014/main" id="{67B54128-3B63-4D7F-921A-5150FA07B590}"/>
              </a:ext>
            </a:extLst>
          </p:cNvPr>
          <p:cNvSpPr/>
          <p:nvPr/>
        </p:nvSpPr>
        <p:spPr>
          <a:xfrm rot="16200000">
            <a:off x="3380635" y="6014315"/>
            <a:ext cx="38849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WATER SUMP</a:t>
            </a:r>
          </a:p>
        </p:txBody>
      </p:sp>
      <p:sp>
        <p:nvSpPr>
          <p:cNvPr id="70" name="Flowchart: Process 69">
            <a:extLst>
              <a:ext uri="{FF2B5EF4-FFF2-40B4-BE49-F238E27FC236}">
                <a16:creationId xmlns:a16="http://schemas.microsoft.com/office/drawing/2014/main" id="{67B54128-3B63-4D7F-921A-5150FA07B590}"/>
              </a:ext>
            </a:extLst>
          </p:cNvPr>
          <p:cNvSpPr/>
          <p:nvPr/>
        </p:nvSpPr>
        <p:spPr>
          <a:xfrm rot="16200000">
            <a:off x="6822221" y="6009552"/>
            <a:ext cx="398017"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KAVERY WATER SUMP</a:t>
            </a:r>
          </a:p>
        </p:txBody>
      </p:sp>
      <p:sp>
        <p:nvSpPr>
          <p:cNvPr id="71" name="Flowchart: Process 70">
            <a:extLst>
              <a:ext uri="{FF2B5EF4-FFF2-40B4-BE49-F238E27FC236}">
                <a16:creationId xmlns:a16="http://schemas.microsoft.com/office/drawing/2014/main" id="{67B54128-3B63-4D7F-921A-5150FA07B590}"/>
              </a:ext>
            </a:extLst>
          </p:cNvPr>
          <p:cNvSpPr/>
          <p:nvPr/>
        </p:nvSpPr>
        <p:spPr>
          <a:xfrm rot="16200000">
            <a:off x="10505219" y="6003659"/>
            <a:ext cx="392237"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RAIN WATER SUMP</a:t>
            </a:r>
          </a:p>
        </p:txBody>
      </p:sp>
      <p:pic>
        <p:nvPicPr>
          <p:cNvPr id="205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6243" y="1538288"/>
            <a:ext cx="1884082" cy="1375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2" name="Straight Connector 71"/>
          <p:cNvCxnSpPr/>
          <p:nvPr/>
        </p:nvCxnSpPr>
        <p:spPr>
          <a:xfrm>
            <a:off x="5028765" y="900968"/>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73" name="Isosceles Triangle 72">
            <a:extLst>
              <a:ext uri="{FF2B5EF4-FFF2-40B4-BE49-F238E27FC236}">
                <a16:creationId xmlns:a16="http://schemas.microsoft.com/office/drawing/2014/main" id="{8D22B975-51F6-475E-9EF8-E53E3D27B81C}"/>
              </a:ext>
            </a:extLst>
          </p:cNvPr>
          <p:cNvSpPr/>
          <p:nvPr/>
        </p:nvSpPr>
        <p:spPr>
          <a:xfrm rot="10800000" flipH="1">
            <a:off x="4948192" y="135936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6" name="Flowchart: Process 75">
            <a:extLst>
              <a:ext uri="{FF2B5EF4-FFF2-40B4-BE49-F238E27FC236}">
                <a16:creationId xmlns:a16="http://schemas.microsoft.com/office/drawing/2014/main" id="{67B54128-3B63-4D7F-921A-5150FA07B590}"/>
              </a:ext>
            </a:extLst>
          </p:cNvPr>
          <p:cNvSpPr/>
          <p:nvPr/>
        </p:nvSpPr>
        <p:spPr>
          <a:xfrm rot="16200000">
            <a:off x="5260993" y="2679654"/>
            <a:ext cx="40754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BORE WATER OHT TANK</a:t>
            </a:r>
          </a:p>
        </p:txBody>
      </p:sp>
      <p:pic>
        <p:nvPicPr>
          <p:cNvPr id="2056" name="Picture 8"/>
          <p:cNvPicPr>
            <a:picLocks noChangeAspect="1" noChangeArrowheads="1"/>
          </p:cNvPicPr>
          <p:nvPr/>
        </p:nvPicPr>
        <p:blipFill rotWithShape="1">
          <a:blip r:embed="rId6">
            <a:extLst>
              <a:ext uri="{28A0092B-C50C-407E-A947-70E740481C1C}">
                <a14:useLocalDpi xmlns:a14="http://schemas.microsoft.com/office/drawing/2010/main" val="0"/>
              </a:ext>
            </a:extLst>
          </a:blip>
          <a:srcRect r="15000"/>
          <a:stretch/>
        </p:blipFill>
        <p:spPr bwMode="auto">
          <a:xfrm rot="16200000">
            <a:off x="7959970" y="1237966"/>
            <a:ext cx="1367228" cy="207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7" name="Straight Connector 76"/>
          <p:cNvCxnSpPr/>
          <p:nvPr/>
        </p:nvCxnSpPr>
        <p:spPr>
          <a:xfrm flipH="1">
            <a:off x="9206382" y="932305"/>
            <a:ext cx="1473197"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H="1">
            <a:off x="10692083" y="913255"/>
            <a:ext cx="0" cy="426628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83" name="Straight Connector 82"/>
          <p:cNvCxnSpPr/>
          <p:nvPr/>
        </p:nvCxnSpPr>
        <p:spPr>
          <a:xfrm>
            <a:off x="9198809" y="911883"/>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85" name="Isosceles Triangle 84">
            <a:extLst>
              <a:ext uri="{FF2B5EF4-FFF2-40B4-BE49-F238E27FC236}">
                <a16:creationId xmlns:a16="http://schemas.microsoft.com/office/drawing/2014/main" id="{8D22B975-51F6-475E-9EF8-E53E3D27B81C}"/>
              </a:ext>
            </a:extLst>
          </p:cNvPr>
          <p:cNvSpPr/>
          <p:nvPr/>
        </p:nvSpPr>
        <p:spPr>
          <a:xfrm rot="10800000" flipH="1">
            <a:off x="9118236" y="139885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053"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l="4427" r="10964"/>
          <a:stretch/>
        </p:blipFill>
        <p:spPr bwMode="auto">
          <a:xfrm>
            <a:off x="9934575" y="5143909"/>
            <a:ext cx="1533525" cy="1093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6" name="Straight Connector 85"/>
          <p:cNvCxnSpPr/>
          <p:nvPr/>
        </p:nvCxnSpPr>
        <p:spPr>
          <a:xfrm>
            <a:off x="7026261" y="911883"/>
            <a:ext cx="0" cy="42320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87" name="Straight Connector 86"/>
          <p:cNvCxnSpPr/>
          <p:nvPr/>
        </p:nvCxnSpPr>
        <p:spPr>
          <a:xfrm>
            <a:off x="6078520" y="902349"/>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88" name="Isosceles Triangle 87">
            <a:extLst>
              <a:ext uri="{FF2B5EF4-FFF2-40B4-BE49-F238E27FC236}">
                <a16:creationId xmlns:a16="http://schemas.microsoft.com/office/drawing/2014/main" id="{8D22B975-51F6-475E-9EF8-E53E3D27B81C}"/>
              </a:ext>
            </a:extLst>
          </p:cNvPr>
          <p:cNvSpPr/>
          <p:nvPr/>
        </p:nvSpPr>
        <p:spPr>
          <a:xfrm rot="10800000" flipH="1">
            <a:off x="5997947" y="136074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89" name="Straight Connector 88"/>
          <p:cNvCxnSpPr/>
          <p:nvPr/>
        </p:nvCxnSpPr>
        <p:spPr>
          <a:xfrm flipH="1" flipV="1">
            <a:off x="6065945" y="903730"/>
            <a:ext cx="190722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7954046" y="911874"/>
            <a:ext cx="0" cy="48876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91" name="Isosceles Triangle 90">
            <a:extLst>
              <a:ext uri="{FF2B5EF4-FFF2-40B4-BE49-F238E27FC236}">
                <a16:creationId xmlns:a16="http://schemas.microsoft.com/office/drawing/2014/main" id="{8D22B975-51F6-475E-9EF8-E53E3D27B81C}"/>
              </a:ext>
            </a:extLst>
          </p:cNvPr>
          <p:cNvSpPr/>
          <p:nvPr/>
        </p:nvSpPr>
        <p:spPr>
          <a:xfrm rot="10800000" flipH="1">
            <a:off x="7873473" y="1408368"/>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2" name="Flowchart: Process 91">
            <a:extLst>
              <a:ext uri="{FF2B5EF4-FFF2-40B4-BE49-F238E27FC236}">
                <a16:creationId xmlns:a16="http://schemas.microsoft.com/office/drawing/2014/main" id="{67B54128-3B63-4D7F-921A-5150FA07B590}"/>
              </a:ext>
            </a:extLst>
          </p:cNvPr>
          <p:cNvSpPr/>
          <p:nvPr/>
        </p:nvSpPr>
        <p:spPr>
          <a:xfrm rot="16200000">
            <a:off x="8439814" y="2708228"/>
            <a:ext cx="407541" cy="9940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RAIN WATER OHT TANK</a:t>
            </a:r>
          </a:p>
        </p:txBody>
      </p:sp>
      <p:pic>
        <p:nvPicPr>
          <p:cNvPr id="95" name="Picture 9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7526573">
            <a:off x="5835741" y="906355"/>
            <a:ext cx="305361" cy="401791"/>
          </a:xfrm>
          <a:prstGeom prst="rect">
            <a:avLst/>
          </a:prstGeom>
        </p:spPr>
      </p:pic>
      <p:sp>
        <p:nvSpPr>
          <p:cNvPr id="96" name="Flowchart: Process 95">
            <a:extLst>
              <a:ext uri="{FF2B5EF4-FFF2-40B4-BE49-F238E27FC236}">
                <a16:creationId xmlns:a16="http://schemas.microsoft.com/office/drawing/2014/main" id="{DE47567A-8AEB-4470-ABC8-DD727125A46A}"/>
              </a:ext>
            </a:extLst>
          </p:cNvPr>
          <p:cNvSpPr/>
          <p:nvPr/>
        </p:nvSpPr>
        <p:spPr>
          <a:xfrm>
            <a:off x="6406977" y="1304829"/>
            <a:ext cx="547731"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VCU-1</a:t>
            </a:r>
          </a:p>
        </p:txBody>
      </p:sp>
      <p:sp>
        <p:nvSpPr>
          <p:cNvPr id="97" name="Flowchart: Process 96">
            <a:extLst>
              <a:ext uri="{FF2B5EF4-FFF2-40B4-BE49-F238E27FC236}">
                <a16:creationId xmlns:a16="http://schemas.microsoft.com/office/drawing/2014/main" id="{DE47567A-8AEB-4470-ABC8-DD727125A46A}"/>
              </a:ext>
            </a:extLst>
          </p:cNvPr>
          <p:cNvSpPr/>
          <p:nvPr/>
        </p:nvSpPr>
        <p:spPr>
          <a:xfrm>
            <a:off x="6477000" y="1621091"/>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V-1</a:t>
            </a:r>
          </a:p>
        </p:txBody>
      </p:sp>
      <p:sp>
        <p:nvSpPr>
          <p:cNvPr id="98" name="TextBox 97"/>
          <p:cNvSpPr txBox="1"/>
          <p:nvPr/>
        </p:nvSpPr>
        <p:spPr>
          <a:xfrm>
            <a:off x="6079948" y="1107250"/>
            <a:ext cx="336098" cy="276999"/>
          </a:xfrm>
          <a:prstGeom prst="rect">
            <a:avLst/>
          </a:prstGeom>
          <a:noFill/>
        </p:spPr>
        <p:txBody>
          <a:bodyPr wrap="square" rtlCol="0">
            <a:spAutoFit/>
          </a:bodyPr>
          <a:lstStyle/>
          <a:p>
            <a:r>
              <a:rPr lang="en-IN" sz="1200" b="1" dirty="0">
                <a:solidFill>
                  <a:srgbClr val="FF0000"/>
                </a:solidFill>
              </a:rPr>
              <a:t>2”</a:t>
            </a:r>
          </a:p>
        </p:txBody>
      </p:sp>
      <p:pic>
        <p:nvPicPr>
          <p:cNvPr id="99" name="Picture 9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11586" y="969548"/>
            <a:ext cx="547731" cy="298696"/>
          </a:xfrm>
          <a:prstGeom prst="rect">
            <a:avLst/>
          </a:prstGeom>
        </p:spPr>
      </p:pic>
      <p:sp>
        <p:nvSpPr>
          <p:cNvPr id="100" name="Flowchart: Process 99">
            <a:extLst>
              <a:ext uri="{FF2B5EF4-FFF2-40B4-BE49-F238E27FC236}">
                <a16:creationId xmlns:a16="http://schemas.microsoft.com/office/drawing/2014/main" id="{DE47567A-8AEB-4470-ABC8-DD727125A46A}"/>
              </a:ext>
            </a:extLst>
          </p:cNvPr>
          <p:cNvSpPr/>
          <p:nvPr/>
        </p:nvSpPr>
        <p:spPr>
          <a:xfrm>
            <a:off x="6477000" y="1932675"/>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T-1</a:t>
            </a:r>
          </a:p>
        </p:txBody>
      </p:sp>
      <p:sp>
        <p:nvSpPr>
          <p:cNvPr id="101" name="Flowchart: Process 100">
            <a:extLst>
              <a:ext uri="{FF2B5EF4-FFF2-40B4-BE49-F238E27FC236}">
                <a16:creationId xmlns:a16="http://schemas.microsoft.com/office/drawing/2014/main" id="{DE47567A-8AEB-4470-ABC8-DD727125A46A}"/>
              </a:ext>
            </a:extLst>
          </p:cNvPr>
          <p:cNvSpPr/>
          <p:nvPr/>
        </p:nvSpPr>
        <p:spPr>
          <a:xfrm>
            <a:off x="6476999" y="2256320"/>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S-2</a:t>
            </a:r>
          </a:p>
        </p:txBody>
      </p:sp>
      <p:sp>
        <p:nvSpPr>
          <p:cNvPr id="102" name="Flowchart: Process 101">
            <a:extLst>
              <a:ext uri="{FF2B5EF4-FFF2-40B4-BE49-F238E27FC236}">
                <a16:creationId xmlns:a16="http://schemas.microsoft.com/office/drawing/2014/main" id="{DE47567A-8AEB-4470-ABC8-DD727125A46A}"/>
              </a:ext>
            </a:extLst>
          </p:cNvPr>
          <p:cNvSpPr/>
          <p:nvPr/>
        </p:nvSpPr>
        <p:spPr>
          <a:xfrm>
            <a:off x="3691964" y="4514282"/>
            <a:ext cx="48228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 </a:t>
            </a:r>
          </a:p>
        </p:txBody>
      </p:sp>
      <p:sp>
        <p:nvSpPr>
          <p:cNvPr id="103" name="Flowchart: Process 102">
            <a:extLst>
              <a:ext uri="{FF2B5EF4-FFF2-40B4-BE49-F238E27FC236}">
                <a16:creationId xmlns:a16="http://schemas.microsoft.com/office/drawing/2014/main" id="{DE47567A-8AEB-4470-ABC8-DD727125A46A}"/>
              </a:ext>
            </a:extLst>
          </p:cNvPr>
          <p:cNvSpPr/>
          <p:nvPr/>
        </p:nvSpPr>
        <p:spPr>
          <a:xfrm>
            <a:off x="3691964" y="4812254"/>
            <a:ext cx="397118"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 </a:t>
            </a:r>
          </a:p>
        </p:txBody>
      </p:sp>
      <p:sp>
        <p:nvSpPr>
          <p:cNvPr id="104" name="Flowchart: Process 103">
            <a:extLst>
              <a:ext uri="{FF2B5EF4-FFF2-40B4-BE49-F238E27FC236}">
                <a16:creationId xmlns:a16="http://schemas.microsoft.com/office/drawing/2014/main" id="{DE47567A-8AEB-4470-ABC8-DD727125A46A}"/>
              </a:ext>
            </a:extLst>
          </p:cNvPr>
          <p:cNvSpPr/>
          <p:nvPr/>
        </p:nvSpPr>
        <p:spPr>
          <a:xfrm>
            <a:off x="4055789" y="1168781"/>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T-1</a:t>
            </a:r>
          </a:p>
        </p:txBody>
      </p:sp>
      <p:sp>
        <p:nvSpPr>
          <p:cNvPr id="105" name="Flowchart: Process 104">
            <a:extLst>
              <a:ext uri="{FF2B5EF4-FFF2-40B4-BE49-F238E27FC236}">
                <a16:creationId xmlns:a16="http://schemas.microsoft.com/office/drawing/2014/main" id="{DE47567A-8AEB-4470-ABC8-DD727125A46A}"/>
              </a:ext>
            </a:extLst>
          </p:cNvPr>
          <p:cNvSpPr/>
          <p:nvPr/>
        </p:nvSpPr>
        <p:spPr>
          <a:xfrm>
            <a:off x="4476902" y="1169007"/>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S-2</a:t>
            </a:r>
          </a:p>
        </p:txBody>
      </p:sp>
      <p:sp>
        <p:nvSpPr>
          <p:cNvPr id="117" name="Flowchart: Process 116">
            <a:extLst>
              <a:ext uri="{FF2B5EF4-FFF2-40B4-BE49-F238E27FC236}">
                <a16:creationId xmlns:a16="http://schemas.microsoft.com/office/drawing/2014/main" id="{DE47567A-8AEB-4470-ABC8-DD727125A46A}"/>
              </a:ext>
            </a:extLst>
          </p:cNvPr>
          <p:cNvSpPr/>
          <p:nvPr/>
        </p:nvSpPr>
        <p:spPr>
          <a:xfrm>
            <a:off x="7149928" y="4514282"/>
            <a:ext cx="48228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 </a:t>
            </a:r>
          </a:p>
        </p:txBody>
      </p:sp>
      <p:sp>
        <p:nvSpPr>
          <p:cNvPr id="118" name="Flowchart: Process 117">
            <a:extLst>
              <a:ext uri="{FF2B5EF4-FFF2-40B4-BE49-F238E27FC236}">
                <a16:creationId xmlns:a16="http://schemas.microsoft.com/office/drawing/2014/main" id="{DE47567A-8AEB-4470-ABC8-DD727125A46A}"/>
              </a:ext>
            </a:extLst>
          </p:cNvPr>
          <p:cNvSpPr/>
          <p:nvPr/>
        </p:nvSpPr>
        <p:spPr>
          <a:xfrm>
            <a:off x="7149928" y="4812254"/>
            <a:ext cx="397118"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 </a:t>
            </a:r>
          </a:p>
        </p:txBody>
      </p:sp>
      <p:sp>
        <p:nvSpPr>
          <p:cNvPr id="120" name="Flowchart: Process 119">
            <a:extLst>
              <a:ext uri="{FF2B5EF4-FFF2-40B4-BE49-F238E27FC236}">
                <a16:creationId xmlns:a16="http://schemas.microsoft.com/office/drawing/2014/main" id="{DE47567A-8AEB-4470-ABC8-DD727125A46A}"/>
              </a:ext>
            </a:extLst>
          </p:cNvPr>
          <p:cNvSpPr/>
          <p:nvPr/>
        </p:nvSpPr>
        <p:spPr>
          <a:xfrm>
            <a:off x="7136023" y="1336433"/>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V-2</a:t>
            </a:r>
          </a:p>
        </p:txBody>
      </p:sp>
      <p:sp>
        <p:nvSpPr>
          <p:cNvPr id="123" name="Flowchart: Process 122">
            <a:extLst>
              <a:ext uri="{FF2B5EF4-FFF2-40B4-BE49-F238E27FC236}">
                <a16:creationId xmlns:a16="http://schemas.microsoft.com/office/drawing/2014/main" id="{DE47567A-8AEB-4470-ABC8-DD727125A46A}"/>
              </a:ext>
            </a:extLst>
          </p:cNvPr>
          <p:cNvSpPr/>
          <p:nvPr/>
        </p:nvSpPr>
        <p:spPr>
          <a:xfrm>
            <a:off x="7136022" y="1635248"/>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S-3</a:t>
            </a:r>
          </a:p>
        </p:txBody>
      </p:sp>
      <p:pic>
        <p:nvPicPr>
          <p:cNvPr id="124" name="Picture 1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4073427" flipH="1">
            <a:off x="7885824" y="938213"/>
            <a:ext cx="305361" cy="401791"/>
          </a:xfrm>
          <a:prstGeom prst="rect">
            <a:avLst/>
          </a:prstGeom>
        </p:spPr>
      </p:pic>
      <p:sp>
        <p:nvSpPr>
          <p:cNvPr id="125" name="TextBox 124"/>
          <p:cNvSpPr txBox="1"/>
          <p:nvPr/>
        </p:nvSpPr>
        <p:spPr>
          <a:xfrm>
            <a:off x="7632210" y="1146996"/>
            <a:ext cx="336098" cy="276999"/>
          </a:xfrm>
          <a:prstGeom prst="rect">
            <a:avLst/>
          </a:prstGeom>
          <a:noFill/>
        </p:spPr>
        <p:txBody>
          <a:bodyPr wrap="square" rtlCol="0">
            <a:spAutoFit/>
          </a:bodyPr>
          <a:lstStyle/>
          <a:p>
            <a:r>
              <a:rPr lang="en-IN" sz="1200" b="1" dirty="0">
                <a:solidFill>
                  <a:srgbClr val="FF0000"/>
                </a:solidFill>
              </a:rPr>
              <a:t>2”</a:t>
            </a:r>
          </a:p>
        </p:txBody>
      </p:sp>
      <p:sp>
        <p:nvSpPr>
          <p:cNvPr id="126" name="Flowchart: Process 125">
            <a:extLst>
              <a:ext uri="{FF2B5EF4-FFF2-40B4-BE49-F238E27FC236}">
                <a16:creationId xmlns:a16="http://schemas.microsoft.com/office/drawing/2014/main" id="{DE47567A-8AEB-4470-ABC8-DD727125A46A}"/>
              </a:ext>
            </a:extLst>
          </p:cNvPr>
          <p:cNvSpPr/>
          <p:nvPr/>
        </p:nvSpPr>
        <p:spPr>
          <a:xfrm>
            <a:off x="10097287" y="4514074"/>
            <a:ext cx="48228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M-1 </a:t>
            </a:r>
          </a:p>
        </p:txBody>
      </p:sp>
      <p:sp>
        <p:nvSpPr>
          <p:cNvPr id="128" name="Flowchart: Process 127">
            <a:extLst>
              <a:ext uri="{FF2B5EF4-FFF2-40B4-BE49-F238E27FC236}">
                <a16:creationId xmlns:a16="http://schemas.microsoft.com/office/drawing/2014/main" id="{DE47567A-8AEB-4470-ABC8-DD727125A46A}"/>
              </a:ext>
            </a:extLst>
          </p:cNvPr>
          <p:cNvSpPr/>
          <p:nvPr/>
        </p:nvSpPr>
        <p:spPr>
          <a:xfrm>
            <a:off x="10097287" y="4812046"/>
            <a:ext cx="397118"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S-1 </a:t>
            </a:r>
          </a:p>
        </p:txBody>
      </p:sp>
      <p:sp>
        <p:nvSpPr>
          <p:cNvPr id="129" name="Flowchart: Process 128">
            <a:extLst>
              <a:ext uri="{FF2B5EF4-FFF2-40B4-BE49-F238E27FC236}">
                <a16:creationId xmlns:a16="http://schemas.microsoft.com/office/drawing/2014/main" id="{DE47567A-8AEB-4470-ABC8-DD727125A46A}"/>
              </a:ext>
            </a:extLst>
          </p:cNvPr>
          <p:cNvSpPr/>
          <p:nvPr/>
        </p:nvSpPr>
        <p:spPr>
          <a:xfrm>
            <a:off x="9342636" y="1269438"/>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T-1</a:t>
            </a:r>
          </a:p>
        </p:txBody>
      </p:sp>
      <p:sp>
        <p:nvSpPr>
          <p:cNvPr id="130" name="Flowchart: Process 129">
            <a:extLst>
              <a:ext uri="{FF2B5EF4-FFF2-40B4-BE49-F238E27FC236}">
                <a16:creationId xmlns:a16="http://schemas.microsoft.com/office/drawing/2014/main" id="{DE47567A-8AEB-4470-ABC8-DD727125A46A}"/>
              </a:ext>
            </a:extLst>
          </p:cNvPr>
          <p:cNvSpPr/>
          <p:nvPr/>
        </p:nvSpPr>
        <p:spPr>
          <a:xfrm>
            <a:off x="9763749" y="1269664"/>
            <a:ext cx="38071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S-2</a:t>
            </a:r>
          </a:p>
        </p:txBody>
      </p:sp>
      <p:sp>
        <p:nvSpPr>
          <p:cNvPr id="131" name="Rectangle 130"/>
          <p:cNvSpPr/>
          <p:nvPr/>
        </p:nvSpPr>
        <p:spPr>
          <a:xfrm>
            <a:off x="1584635" y="5825100"/>
            <a:ext cx="1053782"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BORE STARTER POINT TO BORE SUMP</a:t>
            </a:r>
            <a:endParaRPr lang="en-IN" sz="900" b="1" dirty="0">
              <a:solidFill>
                <a:schemeClr val="tx1"/>
              </a:solidFill>
              <a:latin typeface="Times New Roman" panose="02020603050405020304" pitchFamily="18" charset="0"/>
              <a:cs typeface="Times New Roman" panose="02020603050405020304" pitchFamily="18" charset="0"/>
            </a:endParaRPr>
          </a:p>
        </p:txBody>
      </p:sp>
      <p:pic>
        <p:nvPicPr>
          <p:cNvPr id="57"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220405" y="6176457"/>
            <a:ext cx="818090" cy="402811"/>
          </a:xfrm>
          <a:prstGeom prst="rect">
            <a:avLst/>
          </a:prstGeom>
          <a:noFill/>
        </p:spPr>
      </p:pic>
    </p:spTree>
    <p:extLst>
      <p:ext uri="{BB962C8B-B14F-4D97-AF65-F5344CB8AC3E}">
        <p14:creationId xmlns:p14="http://schemas.microsoft.com/office/powerpoint/2010/main" val="230051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81207"/>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US" sz="2000" b="1" u="sng" dirty="0">
                <a:solidFill>
                  <a:srgbClr val="002060"/>
                </a:solidFill>
                <a:latin typeface="Times New Roman" pitchFamily="18" charset="0"/>
                <a:cs typeface="Times New Roman" pitchFamily="18" charset="0"/>
              </a:rPr>
              <a:t>BORE</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56855564"/>
              </p:ext>
            </p:extLst>
          </p:nvPr>
        </p:nvGraphicFramePr>
        <p:xfrm>
          <a:off x="347049" y="865158"/>
          <a:ext cx="11487149" cy="4559060"/>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449313">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81000">
                <a:tc>
                  <a:txBody>
                    <a:bodyPr/>
                    <a:lstStyle/>
                    <a:p>
                      <a:pPr algn="l">
                        <a:buFont typeface="Arial" pitchFamily="34" charset="0"/>
                        <a:buNone/>
                      </a:pPr>
                      <a:r>
                        <a:rPr lang="en-US" sz="1200" b="1" dirty="0">
                          <a:latin typeface="Times New Roman" pitchFamily="18" charset="0"/>
                          <a:cs typeface="Times New Roman" pitchFamily="18" charset="0"/>
                        </a:rPr>
                        <a:t>MASTER CONTROL UNIT</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4</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algn="ctr"/>
                      <a:endParaRPr lang="en-GB" sz="1200" b="1" dirty="0">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6195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8</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algn="ctr"/>
                      <a:endParaRPr lang="en-GB" sz="1200" b="1" dirty="0">
                        <a:latin typeface="Times New Roman" pitchFamily="18" charset="0"/>
                        <a:cs typeface="Times New Roman" pitchFamily="18" charset="0"/>
                      </a:endParaRPr>
                    </a:p>
                  </a:txBody>
                  <a:tcPr anchor="ctr"/>
                </a:tc>
                <a:extLst>
                  <a:ext uri="{0D108BD9-81ED-4DB2-BD59-A6C34878D82A}">
                    <a16:rowId xmlns:a16="http://schemas.microsoft.com/office/drawing/2014/main" val="3360900633"/>
                  </a:ext>
                </a:extLst>
              </a:tr>
              <a:tr h="352425">
                <a:tc>
                  <a:txBody>
                    <a:bodyPr/>
                    <a:lstStyle/>
                    <a:p>
                      <a:pPr algn="l">
                        <a:buFont typeface="Arial" pitchFamily="34" charset="0"/>
                        <a:buNone/>
                      </a:pPr>
                      <a:r>
                        <a:rPr lang="en-IN" sz="1200" b="1" baseline="0" dirty="0">
                          <a:latin typeface="Times New Roman" pitchFamily="18" charset="0"/>
                          <a:cs typeface="Times New Roman" pitchFamily="18" charset="0"/>
                        </a:rPr>
                        <a:t>WIRELESS LONG RANGE TRANSMITTER</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3</a:t>
                      </a:r>
                    </a:p>
                  </a:txBody>
                  <a:tcPr anchor="ctr"/>
                </a:tc>
                <a:tc>
                  <a:txBody>
                    <a:bodyPr/>
                    <a:lstStyle/>
                    <a:p>
                      <a:pPr algn="ctr"/>
                      <a:r>
                        <a:rPr lang="en-US" sz="1200" b="1" dirty="0">
                          <a:latin typeface="Times New Roman" pitchFamily="18" charset="0"/>
                          <a:cs typeface="Times New Roman" pitchFamily="18" charset="0"/>
                        </a:rPr>
                        <a:t>18,500</a:t>
                      </a:r>
                    </a:p>
                  </a:txBody>
                  <a:tcPr anchor="ctr"/>
                </a:tc>
                <a:tc>
                  <a:txBody>
                    <a:bodyPr/>
                    <a:lstStyle/>
                    <a:p>
                      <a:pPr algn="ctr"/>
                      <a:endParaRPr lang="en-GB" sz="1200" b="1" dirty="0">
                        <a:latin typeface="Times New Roman" pitchFamily="18" charset="0"/>
                        <a:cs typeface="Times New Roman" pitchFamily="18" charset="0"/>
                      </a:endParaRPr>
                    </a:p>
                  </a:txBody>
                  <a:tcPr anchor="ctr"/>
                </a:tc>
                <a:extLst>
                  <a:ext uri="{0D108BD9-81ED-4DB2-BD59-A6C34878D82A}">
                    <a16:rowId xmlns:a16="http://schemas.microsoft.com/office/drawing/2014/main" val="10003"/>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WIRELESS RANGE EXTENDER</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11,000</a:t>
                      </a:r>
                      <a:endParaRPr lang="en-IN" sz="1200" b="1" dirty="0">
                        <a:latin typeface="Times New Roman" pitchFamily="18" charset="0"/>
                        <a:cs typeface="Times New Roman" pitchFamily="18" charset="0"/>
                      </a:endParaRPr>
                    </a:p>
                  </a:txBody>
                  <a:tcPr anchor="ctr"/>
                </a:tc>
                <a:tc>
                  <a:txBody>
                    <a:bodyPr/>
                    <a:lstStyle/>
                    <a:p>
                      <a:pPr algn="ctr" fontAlgn="b"/>
                      <a:endParaRPr lang="en-US" sz="1200" b="1" i="0" u="none" strike="noStrike" dirty="0">
                        <a:solidFill>
                          <a:srgbClr val="000000"/>
                        </a:solidFill>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2659659545"/>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86719454"/>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2.5”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17,500</a:t>
                      </a: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4106455119"/>
                  </a:ext>
                </a:extLst>
              </a:tr>
              <a:tr h="35368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3”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19,500</a:t>
                      </a: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10004"/>
                  </a:ext>
                </a:extLst>
              </a:tr>
              <a:tr h="351167">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3” DIGITAL</a:t>
                      </a:r>
                      <a:r>
                        <a:rPr kumimoji="0" lang="en-US" sz="1200" b="1" kern="1200" baseline="0" dirty="0">
                          <a:solidFill>
                            <a:schemeClr val="dk1"/>
                          </a:solidFill>
                          <a:latin typeface="Times New Roman" pitchFamily="18" charset="0"/>
                          <a:ea typeface="+mn-ea"/>
                          <a:cs typeface="Times New Roman" pitchFamily="18" charset="0"/>
                        </a:rPr>
                        <a:t> </a:t>
                      </a:r>
                      <a:r>
                        <a:rPr kumimoji="0" lang="en-US" sz="1200" b="1" kern="1200" dirty="0">
                          <a:solidFill>
                            <a:schemeClr val="dk1"/>
                          </a:solidFill>
                          <a:latin typeface="Times New Roman" pitchFamily="18" charset="0"/>
                          <a:ea typeface="+mn-ea"/>
                          <a:cs typeface="Times New Roman" pitchFamily="18" charset="0"/>
                        </a:rPr>
                        <a:t>FLOWMETER WITH TOTALIZER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3</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19,500</a:t>
                      </a:r>
                      <a:endParaRPr lang="en-IN" sz="1200" b="1" dirty="0">
                        <a:latin typeface="Times New Roman" pitchFamily="18" charset="0"/>
                        <a:cs typeface="Times New Roman" pitchFamily="18" charset="0"/>
                      </a:endParaRPr>
                    </a:p>
                  </a:txBody>
                  <a:tcPr anchor="ctr"/>
                </a:tc>
                <a:tc>
                  <a:txBody>
                    <a:bodyPr/>
                    <a:lstStyle/>
                    <a:p>
                      <a:pPr algn="ctr" rtl="0" fontAlgn="ctr"/>
                      <a:endParaRPr lang="en-IN" sz="1200" b="1" i="0" u="none" strike="noStrike" dirty="0">
                        <a:solidFill>
                          <a:schemeClr val="tx1"/>
                        </a:solidFill>
                        <a:effectLst/>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871405297"/>
                  </a:ext>
                </a:extLst>
              </a:tr>
              <a:tr h="351167">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MULTI SEGMENT GRAPHICS DISPLAY</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12,500</a:t>
                      </a:r>
                      <a:endParaRPr lang="en-IN" sz="1200" b="1" dirty="0">
                        <a:latin typeface="Times New Roman" pitchFamily="18" charset="0"/>
                        <a:cs typeface="Times New Roman" pitchFamily="18" charset="0"/>
                      </a:endParaRPr>
                    </a:p>
                  </a:txBody>
                  <a:tcPr anchor="ctr"/>
                </a:tc>
                <a:tc>
                  <a:txBody>
                    <a:bodyPr/>
                    <a:lstStyle/>
                    <a:p>
                      <a:pPr algn="ctr" fontAlgn="b"/>
                      <a:endParaRPr lang="en-US" sz="1200" b="1" i="0" u="none" strike="noStrike" dirty="0">
                        <a:solidFill>
                          <a:srgbClr val="000000"/>
                        </a:solidFill>
                        <a:latin typeface="Times New Roman" pitchFamily="18" charset="0"/>
                        <a:cs typeface="Times New Roman" pitchFamily="18" charset="0"/>
                      </a:endParaRPr>
                    </a:p>
                  </a:txBody>
                  <a:tcPr marL="9525" marR="9525" marT="9525" marB="0" anchor="ctr"/>
                </a:tc>
                <a:extLst>
                  <a:ext uri="{0D108BD9-81ED-4DB2-BD59-A6C34878D82A}">
                    <a16:rowId xmlns:a16="http://schemas.microsoft.com/office/drawing/2014/main" val="10005"/>
                  </a:ext>
                </a:extLst>
              </a:tr>
              <a:tr h="321133">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TESTING, CALIBRATION &amp; TRAINING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endParaRPr lang="en-IN" sz="1200" b="1" i="0" u="none" strike="noStrike" dirty="0">
                        <a:solidFill>
                          <a:srgbClr val="000000"/>
                        </a:solidFill>
                        <a:effectLst/>
                        <a:latin typeface="Times New Roman" pitchFamily="18" charset="0"/>
                        <a:cs typeface="Times New Roman" pitchFamily="18" charset="0"/>
                      </a:endParaRPr>
                    </a:p>
                  </a:txBody>
                  <a:tcPr marL="9525" marR="9525" marT="9525" marB="0" anchor="b"/>
                </a:tc>
                <a:extLst>
                  <a:ext uri="{0D108BD9-81ED-4DB2-BD59-A6C34878D82A}">
                    <a16:rowId xmlns:a16="http://schemas.microsoft.com/office/drawing/2014/main" val="10006"/>
                  </a:ext>
                </a:extLst>
              </a:tr>
              <a:tr h="48092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endParaRPr lang="en-IN" sz="1600" b="1" i="0" u="none" strike="noStrike" dirty="0">
                        <a:solidFill>
                          <a:srgbClr val="000000"/>
                        </a:solidFill>
                        <a:effectLst/>
                        <a:latin typeface="Times New Roman" pitchFamily="18" charset="0"/>
                        <a:cs typeface="Times New Roman" pitchFamily="18" charset="0"/>
                      </a:endParaRPr>
                    </a:p>
                  </a:txBody>
                  <a:tcPr marL="9525" marR="9525" marT="9525" marB="0" anchor="b">
                    <a:solidFill>
                      <a:srgbClr val="00B050"/>
                    </a:solidFill>
                  </a:tcPr>
                </a:tc>
                <a:extLst>
                  <a:ext uri="{0D108BD9-81ED-4DB2-BD59-A6C34878D82A}">
                    <a16:rowId xmlns:a16="http://schemas.microsoft.com/office/drawing/2014/main" val="10009"/>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2019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p:cNvSpPr txBox="1">
            <a:spLocks/>
          </p:cNvSpPr>
          <p:nvPr/>
        </p:nvSpPr>
        <p:spPr>
          <a:xfrm>
            <a:off x="771849" y="304274"/>
            <a:ext cx="10930136" cy="44696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FULLY AUTOMATION + FLOWMETER – </a:t>
            </a:r>
            <a:r>
              <a:rPr lang="en-US" sz="1800" b="1" u="sng" dirty="0">
                <a:solidFill>
                  <a:srgbClr val="002060"/>
                </a:solidFill>
                <a:latin typeface="Times New Roman" pitchFamily="18" charset="0"/>
                <a:cs typeface="Times New Roman" pitchFamily="18" charset="0"/>
              </a:rPr>
              <a:t> UG SUMP TO SHOP FLOOR – III, HEAD OFFICE OHT &amp;CANTEEN VESSEL CLEANING M/C TANK</a:t>
            </a:r>
            <a:endParaRPr lang="en-US" sz="1800" b="1" u="sng" dirty="0">
              <a:solidFill>
                <a:schemeClr val="tx1"/>
              </a:solidFill>
              <a:latin typeface="Times New Roman" pitchFamily="18" charset="0"/>
              <a:cs typeface="Times New Roman" pitchFamily="18" charset="0"/>
            </a:endParaRPr>
          </a:p>
        </p:txBody>
      </p:sp>
      <p:pic>
        <p:nvPicPr>
          <p:cNvPr id="57"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17853" y="6236279"/>
            <a:ext cx="818090" cy="402811"/>
          </a:xfrm>
          <a:prstGeom prst="rect">
            <a:avLst/>
          </a:prstGeom>
          <a:noFill/>
        </p:spPr>
      </p:pic>
      <p:pic>
        <p:nvPicPr>
          <p:cNvPr id="9" name="Picture 8" descr="A concrete square box with a pipe in it&#10;&#10;AI-generated content may be incorrect.">
            <a:extLst>
              <a:ext uri="{FF2B5EF4-FFF2-40B4-BE49-F238E27FC236}">
                <a16:creationId xmlns:a16="http://schemas.microsoft.com/office/drawing/2014/main" id="{ADE74B4B-346A-42E0-0AC4-230033986AAC}"/>
              </a:ext>
            </a:extLst>
          </p:cNvPr>
          <p:cNvPicPr>
            <a:picLocks noChangeAspect="1"/>
          </p:cNvPicPr>
          <p:nvPr/>
        </p:nvPicPr>
        <p:blipFill>
          <a:blip r:embed="rId3">
            <a:extLst>
              <a:ext uri="{28A0092B-C50C-407E-A947-70E740481C1C}">
                <a14:useLocalDpi xmlns:a14="http://schemas.microsoft.com/office/drawing/2010/main" val="0"/>
              </a:ext>
            </a:extLst>
          </a:blip>
          <a:srcRect l="17790" t="26392" r="18015"/>
          <a:stretch/>
        </p:blipFill>
        <p:spPr>
          <a:xfrm>
            <a:off x="1793949" y="5380446"/>
            <a:ext cx="1134037" cy="975255"/>
          </a:xfrm>
          <a:prstGeom prst="rect">
            <a:avLst/>
          </a:prstGeom>
        </p:spPr>
      </p:pic>
      <p:sp>
        <p:nvSpPr>
          <p:cNvPr id="21" name="Flowchart: Process 20">
            <a:extLst>
              <a:ext uri="{FF2B5EF4-FFF2-40B4-BE49-F238E27FC236}">
                <a16:creationId xmlns:a16="http://schemas.microsoft.com/office/drawing/2014/main" id="{ABA0C426-B93F-DFDA-C415-70D8BDB67D8B}"/>
              </a:ext>
            </a:extLst>
          </p:cNvPr>
          <p:cNvSpPr/>
          <p:nvPr/>
        </p:nvSpPr>
        <p:spPr>
          <a:xfrm rot="16200000">
            <a:off x="2250367" y="6189516"/>
            <a:ext cx="312291" cy="74039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UG SUMP</a:t>
            </a:r>
          </a:p>
        </p:txBody>
      </p:sp>
      <p:sp>
        <p:nvSpPr>
          <p:cNvPr id="22" name="Rectangle 21">
            <a:extLst>
              <a:ext uri="{FF2B5EF4-FFF2-40B4-BE49-F238E27FC236}">
                <a16:creationId xmlns:a16="http://schemas.microsoft.com/office/drawing/2014/main" id="{D59BF0D1-81B8-4EC2-5C8B-C17DECA8E809}"/>
              </a:ext>
            </a:extLst>
          </p:cNvPr>
          <p:cNvSpPr/>
          <p:nvPr/>
        </p:nvSpPr>
        <p:spPr>
          <a:xfrm>
            <a:off x="2714405" y="6370093"/>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16,500 LTRS</a:t>
            </a:r>
            <a:endParaRPr lang="en-IN" sz="900" b="1" dirty="0">
              <a:solidFill>
                <a:schemeClr val="tx1"/>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55E1D14-B74C-CEE0-43AE-465C41565BD2}"/>
              </a:ext>
            </a:extLst>
          </p:cNvPr>
          <p:cNvCxnSpPr>
            <a:cxnSpLocks/>
          </p:cNvCxnSpPr>
          <p:nvPr/>
        </p:nvCxnSpPr>
        <p:spPr>
          <a:xfrm flipH="1">
            <a:off x="2927986" y="5860778"/>
            <a:ext cx="4299795"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7" name="Picture 6" descr="A water drop in a container&#10;&#10;AI-generated content may be incorrect.">
            <a:extLst>
              <a:ext uri="{FF2B5EF4-FFF2-40B4-BE49-F238E27FC236}">
                <a16:creationId xmlns:a16="http://schemas.microsoft.com/office/drawing/2014/main" id="{8D3ECAB5-F4A3-6A58-41A0-F2BF18234F70}"/>
              </a:ext>
            </a:extLst>
          </p:cNvPr>
          <p:cNvPicPr>
            <a:picLocks noChangeAspect="1"/>
          </p:cNvPicPr>
          <p:nvPr/>
        </p:nvPicPr>
        <p:blipFill>
          <a:blip r:embed="rId4">
            <a:extLst>
              <a:ext uri="{28A0092B-C50C-407E-A947-70E740481C1C}">
                <a14:useLocalDpi xmlns:a14="http://schemas.microsoft.com/office/drawing/2010/main" val="0"/>
              </a:ext>
            </a:extLst>
          </a:blip>
          <a:srcRect l="20253" r="19560"/>
          <a:stretch/>
        </p:blipFill>
        <p:spPr>
          <a:xfrm>
            <a:off x="2991421" y="1484618"/>
            <a:ext cx="720297" cy="1196762"/>
          </a:xfrm>
          <a:prstGeom prst="rect">
            <a:avLst/>
          </a:prstGeom>
        </p:spPr>
      </p:pic>
      <p:cxnSp>
        <p:nvCxnSpPr>
          <p:cNvPr id="12" name="Straight Connector 11">
            <a:extLst>
              <a:ext uri="{FF2B5EF4-FFF2-40B4-BE49-F238E27FC236}">
                <a16:creationId xmlns:a16="http://schemas.microsoft.com/office/drawing/2014/main" id="{852D5188-4079-DA8C-69D7-515FBE198019}"/>
              </a:ext>
            </a:extLst>
          </p:cNvPr>
          <p:cNvCxnSpPr>
            <a:cxnSpLocks/>
          </p:cNvCxnSpPr>
          <p:nvPr/>
        </p:nvCxnSpPr>
        <p:spPr>
          <a:xfrm flipV="1">
            <a:off x="7202143" y="811564"/>
            <a:ext cx="0" cy="505651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14" name="Picture 13">
            <a:extLst>
              <a:ext uri="{FF2B5EF4-FFF2-40B4-BE49-F238E27FC236}">
                <a16:creationId xmlns:a16="http://schemas.microsoft.com/office/drawing/2014/main" id="{9F751BC0-373C-8251-7970-E80955ED7E83}"/>
              </a:ext>
            </a:extLst>
          </p:cNvPr>
          <p:cNvPicPr>
            <a:picLocks noChangeAspect="1"/>
          </p:cNvPicPr>
          <p:nvPr/>
        </p:nvPicPr>
        <p:blipFill>
          <a:blip r:embed="rId5"/>
          <a:stretch>
            <a:fillRect/>
          </a:stretch>
        </p:blipFill>
        <p:spPr>
          <a:xfrm>
            <a:off x="8802355" y="1484618"/>
            <a:ext cx="696680" cy="955811"/>
          </a:xfrm>
          <a:prstGeom prst="rect">
            <a:avLst/>
          </a:prstGeom>
        </p:spPr>
      </p:pic>
      <p:pic>
        <p:nvPicPr>
          <p:cNvPr id="15" name="Picture 14">
            <a:extLst>
              <a:ext uri="{FF2B5EF4-FFF2-40B4-BE49-F238E27FC236}">
                <a16:creationId xmlns:a16="http://schemas.microsoft.com/office/drawing/2014/main" id="{BA575CB8-1DEB-9936-9C52-35B8E0289C9A}"/>
              </a:ext>
            </a:extLst>
          </p:cNvPr>
          <p:cNvPicPr>
            <a:picLocks noChangeAspect="1"/>
          </p:cNvPicPr>
          <p:nvPr/>
        </p:nvPicPr>
        <p:blipFill>
          <a:blip r:embed="rId5"/>
          <a:stretch>
            <a:fillRect/>
          </a:stretch>
        </p:blipFill>
        <p:spPr>
          <a:xfrm>
            <a:off x="9860609" y="1484618"/>
            <a:ext cx="696680" cy="955811"/>
          </a:xfrm>
          <a:prstGeom prst="rect">
            <a:avLst/>
          </a:prstGeom>
        </p:spPr>
      </p:pic>
      <p:cxnSp>
        <p:nvCxnSpPr>
          <p:cNvPr id="16" name="Straight Connector 15">
            <a:extLst>
              <a:ext uri="{FF2B5EF4-FFF2-40B4-BE49-F238E27FC236}">
                <a16:creationId xmlns:a16="http://schemas.microsoft.com/office/drawing/2014/main" id="{9B320702-24DF-50CD-59C7-9988A4C7FFE7}"/>
              </a:ext>
            </a:extLst>
          </p:cNvPr>
          <p:cNvCxnSpPr>
            <a:cxnSpLocks/>
          </p:cNvCxnSpPr>
          <p:nvPr/>
        </p:nvCxnSpPr>
        <p:spPr>
          <a:xfrm flipH="1">
            <a:off x="9422121" y="2261582"/>
            <a:ext cx="516638" cy="0"/>
          </a:xfrm>
          <a:prstGeom prst="line">
            <a:avLst/>
          </a:prstGeom>
          <a:ln w="76200">
            <a:solidFill>
              <a:srgbClr val="00B0F0"/>
            </a:solidFill>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053804A6-53A1-8C04-124A-7F684AD316D5}"/>
              </a:ext>
            </a:extLst>
          </p:cNvPr>
          <p:cNvCxnSpPr>
            <a:cxnSpLocks/>
          </p:cNvCxnSpPr>
          <p:nvPr/>
        </p:nvCxnSpPr>
        <p:spPr>
          <a:xfrm flipH="1">
            <a:off x="3332325" y="821470"/>
            <a:ext cx="5844778"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CE0EE6F6-A3F4-581B-687B-F2B5452EE148}"/>
              </a:ext>
            </a:extLst>
          </p:cNvPr>
          <p:cNvCxnSpPr>
            <a:cxnSpLocks/>
          </p:cNvCxnSpPr>
          <p:nvPr/>
        </p:nvCxnSpPr>
        <p:spPr>
          <a:xfrm flipH="1">
            <a:off x="3340872" y="803018"/>
            <a:ext cx="0" cy="51014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3" name="Isosceles Triangle 42">
            <a:extLst>
              <a:ext uri="{FF2B5EF4-FFF2-40B4-BE49-F238E27FC236}">
                <a16:creationId xmlns:a16="http://schemas.microsoft.com/office/drawing/2014/main" id="{48BCE017-3C51-A784-D3AA-ADA1F75C32EC}"/>
              </a:ext>
            </a:extLst>
          </p:cNvPr>
          <p:cNvSpPr/>
          <p:nvPr/>
        </p:nvSpPr>
        <p:spPr>
          <a:xfrm rot="10800000" flipH="1">
            <a:off x="3262450" y="1313158"/>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Rectangle 43">
            <a:extLst>
              <a:ext uri="{FF2B5EF4-FFF2-40B4-BE49-F238E27FC236}">
                <a16:creationId xmlns:a16="http://schemas.microsoft.com/office/drawing/2014/main" id="{60D8E134-36A0-5F7E-6E30-ACA5167C19DC}"/>
              </a:ext>
            </a:extLst>
          </p:cNvPr>
          <p:cNvSpPr/>
          <p:nvPr/>
        </p:nvSpPr>
        <p:spPr>
          <a:xfrm>
            <a:off x="3557114" y="1768275"/>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10,350 LTRS</a:t>
            </a:r>
            <a:endParaRPr lang="en-IN" sz="900" b="1" dirty="0">
              <a:solidFill>
                <a:schemeClr val="tx1"/>
              </a:solidFill>
              <a:latin typeface="Times New Roman" panose="02020603050405020304" pitchFamily="18" charset="0"/>
              <a:cs typeface="Times New Roman" panose="02020603050405020304" pitchFamily="18" charset="0"/>
            </a:endParaRPr>
          </a:p>
        </p:txBody>
      </p:sp>
      <p:cxnSp>
        <p:nvCxnSpPr>
          <p:cNvPr id="49" name="Straight Connector 48">
            <a:extLst>
              <a:ext uri="{FF2B5EF4-FFF2-40B4-BE49-F238E27FC236}">
                <a16:creationId xmlns:a16="http://schemas.microsoft.com/office/drawing/2014/main" id="{C014F07E-3AF3-839A-CB14-2915AA6DDAB8}"/>
              </a:ext>
            </a:extLst>
          </p:cNvPr>
          <p:cNvCxnSpPr>
            <a:cxnSpLocks/>
          </p:cNvCxnSpPr>
          <p:nvPr/>
        </p:nvCxnSpPr>
        <p:spPr>
          <a:xfrm>
            <a:off x="3347297" y="2260157"/>
            <a:ext cx="0" cy="721848"/>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51" name="Flowchart: Process 50">
            <a:extLst>
              <a:ext uri="{FF2B5EF4-FFF2-40B4-BE49-F238E27FC236}">
                <a16:creationId xmlns:a16="http://schemas.microsoft.com/office/drawing/2014/main" id="{BA811AE2-B2F8-939E-0181-E6AF0274E6D7}"/>
              </a:ext>
            </a:extLst>
          </p:cNvPr>
          <p:cNvSpPr/>
          <p:nvPr/>
        </p:nvSpPr>
        <p:spPr>
          <a:xfrm rot="16200000">
            <a:off x="9532841" y="2238940"/>
            <a:ext cx="312291" cy="884878"/>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HEAD OFFICE</a:t>
            </a:r>
          </a:p>
        </p:txBody>
      </p:sp>
      <p:sp>
        <p:nvSpPr>
          <p:cNvPr id="52" name="Rectangle 51">
            <a:extLst>
              <a:ext uri="{FF2B5EF4-FFF2-40B4-BE49-F238E27FC236}">
                <a16:creationId xmlns:a16="http://schemas.microsoft.com/office/drawing/2014/main" id="{AB7AFF17-C501-4E92-A43F-1D36D46B98CB}"/>
              </a:ext>
            </a:extLst>
          </p:cNvPr>
          <p:cNvSpPr/>
          <p:nvPr/>
        </p:nvSpPr>
        <p:spPr>
          <a:xfrm>
            <a:off x="8559699" y="2428539"/>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1000 LTRS</a:t>
            </a:r>
            <a:endParaRPr lang="en-IN" sz="900" b="1" dirty="0">
              <a:solidFill>
                <a:schemeClr val="tx1"/>
              </a:solidFill>
              <a:latin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9DF4485D-668A-C171-1C2D-B2D1310CAFFE}"/>
              </a:ext>
            </a:extLst>
          </p:cNvPr>
          <p:cNvSpPr/>
          <p:nvPr/>
        </p:nvSpPr>
        <p:spPr>
          <a:xfrm>
            <a:off x="10142080" y="2419712"/>
            <a:ext cx="720297" cy="388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1000 LTRS</a:t>
            </a:r>
            <a:endParaRPr lang="en-IN" sz="900" b="1" dirty="0">
              <a:solidFill>
                <a:schemeClr val="tx1"/>
              </a:solidFill>
              <a:latin typeface="Times New Roman" panose="02020603050405020304" pitchFamily="18" charset="0"/>
              <a:cs typeface="Times New Roman" panose="02020603050405020304" pitchFamily="18" charset="0"/>
            </a:endParaRPr>
          </a:p>
        </p:txBody>
      </p:sp>
      <p:sp>
        <p:nvSpPr>
          <p:cNvPr id="32" name="Flowchart: Process 31">
            <a:extLst>
              <a:ext uri="{FF2B5EF4-FFF2-40B4-BE49-F238E27FC236}">
                <a16:creationId xmlns:a16="http://schemas.microsoft.com/office/drawing/2014/main" id="{007671B7-F0E7-2BEA-A4C7-1C1809A1612E}"/>
              </a:ext>
            </a:extLst>
          </p:cNvPr>
          <p:cNvSpPr/>
          <p:nvPr/>
        </p:nvSpPr>
        <p:spPr>
          <a:xfrm rot="16200000">
            <a:off x="5058819" y="3349658"/>
            <a:ext cx="443522" cy="1129488"/>
          </a:xfrm>
          <a:prstGeom prst="flowChartProcess">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CANTEEN VESSEL CLEANING M/C</a:t>
            </a:r>
          </a:p>
        </p:txBody>
      </p:sp>
      <p:cxnSp>
        <p:nvCxnSpPr>
          <p:cNvPr id="37" name="Straight Connector 36">
            <a:extLst>
              <a:ext uri="{FF2B5EF4-FFF2-40B4-BE49-F238E27FC236}">
                <a16:creationId xmlns:a16="http://schemas.microsoft.com/office/drawing/2014/main" id="{3367A133-CD43-B93B-CF6A-F13B1D173A04}"/>
              </a:ext>
            </a:extLst>
          </p:cNvPr>
          <p:cNvCxnSpPr>
            <a:cxnSpLocks/>
          </p:cNvCxnSpPr>
          <p:nvPr/>
        </p:nvCxnSpPr>
        <p:spPr>
          <a:xfrm flipH="1">
            <a:off x="3335710" y="2993642"/>
            <a:ext cx="195290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65" name="Picture 64">
            <a:extLst>
              <a:ext uri="{FF2B5EF4-FFF2-40B4-BE49-F238E27FC236}">
                <a16:creationId xmlns:a16="http://schemas.microsoft.com/office/drawing/2014/main" id="{2E04DBD9-74AF-7FE8-7883-850D495D5A7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3517858" y="561838"/>
            <a:ext cx="397379" cy="375689"/>
          </a:xfrm>
          <a:prstGeom prst="rect">
            <a:avLst/>
          </a:prstGeom>
        </p:spPr>
      </p:pic>
      <p:sp>
        <p:nvSpPr>
          <p:cNvPr id="66" name="Rectangle 65">
            <a:extLst>
              <a:ext uri="{FF2B5EF4-FFF2-40B4-BE49-F238E27FC236}">
                <a16:creationId xmlns:a16="http://schemas.microsoft.com/office/drawing/2014/main" id="{A3DD7D4C-32D8-FB02-F046-90A32D5CA570}"/>
              </a:ext>
            </a:extLst>
          </p:cNvPr>
          <p:cNvSpPr/>
          <p:nvPr/>
        </p:nvSpPr>
        <p:spPr>
          <a:xfrm>
            <a:off x="3294051" y="546552"/>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pic>
        <p:nvPicPr>
          <p:cNvPr id="72" name="Picture 71">
            <a:extLst>
              <a:ext uri="{FF2B5EF4-FFF2-40B4-BE49-F238E27FC236}">
                <a16:creationId xmlns:a16="http://schemas.microsoft.com/office/drawing/2014/main" id="{1DAA6C9E-94E9-C280-B008-3C07CD0A31E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8507184" y="560412"/>
            <a:ext cx="397379" cy="375689"/>
          </a:xfrm>
          <a:prstGeom prst="rect">
            <a:avLst/>
          </a:prstGeom>
        </p:spPr>
      </p:pic>
      <p:sp>
        <p:nvSpPr>
          <p:cNvPr id="73" name="Rectangle 72">
            <a:extLst>
              <a:ext uri="{FF2B5EF4-FFF2-40B4-BE49-F238E27FC236}">
                <a16:creationId xmlns:a16="http://schemas.microsoft.com/office/drawing/2014/main" id="{EFA5488F-DB7D-1AFB-0653-505F49B7C7D6}"/>
              </a:ext>
            </a:extLst>
          </p:cNvPr>
          <p:cNvSpPr/>
          <p:nvPr/>
        </p:nvSpPr>
        <p:spPr>
          <a:xfrm>
            <a:off x="8308387" y="827163"/>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pic>
        <p:nvPicPr>
          <p:cNvPr id="81" name="Picture 80">
            <a:extLst>
              <a:ext uri="{FF2B5EF4-FFF2-40B4-BE49-F238E27FC236}">
                <a16:creationId xmlns:a16="http://schemas.microsoft.com/office/drawing/2014/main" id="{71C8E881-3A1B-89DD-96C2-001E7323621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4509501" y="2720499"/>
            <a:ext cx="397379" cy="375689"/>
          </a:xfrm>
          <a:prstGeom prst="rect">
            <a:avLst/>
          </a:prstGeom>
        </p:spPr>
      </p:pic>
      <p:sp>
        <p:nvSpPr>
          <p:cNvPr id="82" name="Rectangle 81">
            <a:extLst>
              <a:ext uri="{FF2B5EF4-FFF2-40B4-BE49-F238E27FC236}">
                <a16:creationId xmlns:a16="http://schemas.microsoft.com/office/drawing/2014/main" id="{D834E093-BF84-A005-A8C2-44BFFE464BE8}"/>
              </a:ext>
            </a:extLst>
          </p:cNvPr>
          <p:cNvSpPr/>
          <p:nvPr/>
        </p:nvSpPr>
        <p:spPr>
          <a:xfrm>
            <a:off x="4285694" y="2705213"/>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sp>
        <p:nvSpPr>
          <p:cNvPr id="25" name="Flowchart: Process 24">
            <a:extLst>
              <a:ext uri="{FF2B5EF4-FFF2-40B4-BE49-F238E27FC236}">
                <a16:creationId xmlns:a16="http://schemas.microsoft.com/office/drawing/2014/main" id="{179952EC-7729-917C-94D6-29D1F2B4DE35}"/>
              </a:ext>
            </a:extLst>
          </p:cNvPr>
          <p:cNvSpPr/>
          <p:nvPr/>
        </p:nvSpPr>
        <p:spPr>
          <a:xfrm rot="16200000">
            <a:off x="8994241" y="3812717"/>
            <a:ext cx="312291" cy="1146976"/>
          </a:xfrm>
          <a:prstGeom prst="flowChartProcess">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tx1"/>
                </a:solidFill>
                <a:latin typeface="Times New Roman" panose="02020603050405020304" pitchFamily="18" charset="0"/>
                <a:cs typeface="Times New Roman" panose="02020603050405020304" pitchFamily="18" charset="0"/>
              </a:rPr>
              <a:t>SHOP FLOOR  - III</a:t>
            </a:r>
          </a:p>
          <a:p>
            <a:pPr algn="ctr"/>
            <a:r>
              <a:rPr lang="en-US" sz="900" b="1" dirty="0">
                <a:solidFill>
                  <a:schemeClr val="tx1"/>
                </a:solidFill>
                <a:latin typeface="Times New Roman" panose="02020603050405020304" pitchFamily="18" charset="0"/>
                <a:cs typeface="Times New Roman" panose="02020603050405020304" pitchFamily="18" charset="0"/>
              </a:rPr>
              <a:t>OHT TANK</a:t>
            </a:r>
          </a:p>
        </p:txBody>
      </p:sp>
      <p:cxnSp>
        <p:nvCxnSpPr>
          <p:cNvPr id="38" name="Straight Connector 37">
            <a:extLst>
              <a:ext uri="{FF2B5EF4-FFF2-40B4-BE49-F238E27FC236}">
                <a16:creationId xmlns:a16="http://schemas.microsoft.com/office/drawing/2014/main" id="{776B7607-8318-4D15-E760-460BEC105EBF}"/>
              </a:ext>
            </a:extLst>
          </p:cNvPr>
          <p:cNvCxnSpPr>
            <a:cxnSpLocks/>
          </p:cNvCxnSpPr>
          <p:nvPr/>
        </p:nvCxnSpPr>
        <p:spPr>
          <a:xfrm flipH="1">
            <a:off x="7213865" y="3531060"/>
            <a:ext cx="195290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48" name="Picture 47">
            <a:extLst>
              <a:ext uri="{FF2B5EF4-FFF2-40B4-BE49-F238E27FC236}">
                <a16:creationId xmlns:a16="http://schemas.microsoft.com/office/drawing/2014/main" id="{0549438D-5625-0254-0E28-CBE53C1A445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812" t="5599" r="-2"/>
          <a:stretch/>
        </p:blipFill>
        <p:spPr>
          <a:xfrm>
            <a:off x="8387656" y="3240825"/>
            <a:ext cx="397379" cy="375689"/>
          </a:xfrm>
          <a:prstGeom prst="rect">
            <a:avLst/>
          </a:prstGeom>
        </p:spPr>
      </p:pic>
      <p:sp>
        <p:nvSpPr>
          <p:cNvPr id="50" name="Rectangle 49">
            <a:extLst>
              <a:ext uri="{FF2B5EF4-FFF2-40B4-BE49-F238E27FC236}">
                <a16:creationId xmlns:a16="http://schemas.microsoft.com/office/drawing/2014/main" id="{A84607D8-4CAC-5990-2A91-9D502AE33A8D}"/>
              </a:ext>
            </a:extLst>
          </p:cNvPr>
          <p:cNvSpPr/>
          <p:nvPr/>
        </p:nvSpPr>
        <p:spPr>
          <a:xfrm>
            <a:off x="8163849" y="3225539"/>
            <a:ext cx="397379" cy="2662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IN" sz="1000" b="1" dirty="0">
              <a:solidFill>
                <a:srgbClr val="FF0000"/>
              </a:solidFill>
              <a:latin typeface="Times New Roman" panose="02020603050405020304" pitchFamily="18" charset="0"/>
              <a:cs typeface="Times New Roman" panose="02020603050405020304" pitchFamily="18" charset="0"/>
            </a:endParaRPr>
          </a:p>
        </p:txBody>
      </p:sp>
      <p:sp>
        <p:nvSpPr>
          <p:cNvPr id="56" name="Flowchart: Process 55">
            <a:extLst>
              <a:ext uri="{FF2B5EF4-FFF2-40B4-BE49-F238E27FC236}">
                <a16:creationId xmlns:a16="http://schemas.microsoft.com/office/drawing/2014/main" id="{1530E205-91E8-9BAB-61E0-56632DD3741B}"/>
              </a:ext>
            </a:extLst>
          </p:cNvPr>
          <p:cNvSpPr/>
          <p:nvPr/>
        </p:nvSpPr>
        <p:spPr>
          <a:xfrm rot="16200000">
            <a:off x="2107219" y="1298200"/>
            <a:ext cx="386059" cy="1331071"/>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latin typeface="Times New Roman" panose="02020603050405020304" pitchFamily="18" charset="0"/>
                <a:cs typeface="Times New Roman" panose="02020603050405020304" pitchFamily="18" charset="0"/>
              </a:rPr>
              <a:t>CANTEEN VESSEL CLEANING M/C TANK</a:t>
            </a:r>
          </a:p>
        </p:txBody>
      </p:sp>
      <p:cxnSp>
        <p:nvCxnSpPr>
          <p:cNvPr id="27" name="Straight Connector 26">
            <a:extLst>
              <a:ext uri="{FF2B5EF4-FFF2-40B4-BE49-F238E27FC236}">
                <a16:creationId xmlns:a16="http://schemas.microsoft.com/office/drawing/2014/main" id="{C3FF7A6D-D57A-2B18-6DF9-175238DDC3A5}"/>
              </a:ext>
            </a:extLst>
          </p:cNvPr>
          <p:cNvCxnSpPr>
            <a:cxnSpLocks/>
          </p:cNvCxnSpPr>
          <p:nvPr/>
        </p:nvCxnSpPr>
        <p:spPr>
          <a:xfrm>
            <a:off x="5271525" y="2982004"/>
            <a:ext cx="0" cy="54905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8" name="Isosceles Triangle 27">
            <a:extLst>
              <a:ext uri="{FF2B5EF4-FFF2-40B4-BE49-F238E27FC236}">
                <a16:creationId xmlns:a16="http://schemas.microsoft.com/office/drawing/2014/main" id="{7BDD1A45-6702-6F97-52D3-E53B64D1BD33}"/>
              </a:ext>
            </a:extLst>
          </p:cNvPr>
          <p:cNvSpPr/>
          <p:nvPr/>
        </p:nvSpPr>
        <p:spPr>
          <a:xfrm rot="10800000" flipH="1">
            <a:off x="5190952" y="350068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7" name="Straight Connector 16">
            <a:extLst>
              <a:ext uri="{FF2B5EF4-FFF2-40B4-BE49-F238E27FC236}">
                <a16:creationId xmlns:a16="http://schemas.microsoft.com/office/drawing/2014/main" id="{E8D30F32-B86A-4935-FC6C-62B19C6D2663}"/>
              </a:ext>
            </a:extLst>
          </p:cNvPr>
          <p:cNvCxnSpPr>
            <a:cxnSpLocks/>
          </p:cNvCxnSpPr>
          <p:nvPr/>
        </p:nvCxnSpPr>
        <p:spPr>
          <a:xfrm>
            <a:off x="9149680" y="3519422"/>
            <a:ext cx="0" cy="54905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Isosceles Triangle 23">
            <a:extLst>
              <a:ext uri="{FF2B5EF4-FFF2-40B4-BE49-F238E27FC236}">
                <a16:creationId xmlns:a16="http://schemas.microsoft.com/office/drawing/2014/main" id="{A1FFC605-200D-8F7D-50E5-4F20498C95CE}"/>
              </a:ext>
            </a:extLst>
          </p:cNvPr>
          <p:cNvSpPr/>
          <p:nvPr/>
        </p:nvSpPr>
        <p:spPr>
          <a:xfrm rot="10800000" flipH="1">
            <a:off x="9069107" y="4038105"/>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9" name="Straight Connector 28">
            <a:extLst>
              <a:ext uri="{FF2B5EF4-FFF2-40B4-BE49-F238E27FC236}">
                <a16:creationId xmlns:a16="http://schemas.microsoft.com/office/drawing/2014/main" id="{BC81F875-B34A-8DE9-A57E-79BDDB2EACE6}"/>
              </a:ext>
            </a:extLst>
          </p:cNvPr>
          <p:cNvCxnSpPr>
            <a:cxnSpLocks/>
          </p:cNvCxnSpPr>
          <p:nvPr/>
        </p:nvCxnSpPr>
        <p:spPr>
          <a:xfrm flipH="1">
            <a:off x="9155386" y="837491"/>
            <a:ext cx="0" cy="501594"/>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1" name="Isosceles Triangle 30">
            <a:extLst>
              <a:ext uri="{FF2B5EF4-FFF2-40B4-BE49-F238E27FC236}">
                <a16:creationId xmlns:a16="http://schemas.microsoft.com/office/drawing/2014/main" id="{0EAAEDFE-5F81-A7F9-8C8E-7E5343268787}"/>
              </a:ext>
            </a:extLst>
          </p:cNvPr>
          <p:cNvSpPr/>
          <p:nvPr/>
        </p:nvSpPr>
        <p:spPr>
          <a:xfrm rot="10800000" flipH="1">
            <a:off x="9068418" y="1330539"/>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Flowchart: Process 5">
            <a:extLst>
              <a:ext uri="{FF2B5EF4-FFF2-40B4-BE49-F238E27FC236}">
                <a16:creationId xmlns:a16="http://schemas.microsoft.com/office/drawing/2014/main" id="{B3822CD1-289D-BEAC-F5D6-C6F19E116D23}"/>
              </a:ext>
            </a:extLst>
          </p:cNvPr>
          <p:cNvSpPr/>
          <p:nvPr/>
        </p:nvSpPr>
        <p:spPr>
          <a:xfrm>
            <a:off x="1971891" y="792945"/>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a:t>
            </a:r>
          </a:p>
        </p:txBody>
      </p:sp>
      <p:sp>
        <p:nvSpPr>
          <p:cNvPr id="8" name="Flowchart: Process 7">
            <a:extLst>
              <a:ext uri="{FF2B5EF4-FFF2-40B4-BE49-F238E27FC236}">
                <a16:creationId xmlns:a16="http://schemas.microsoft.com/office/drawing/2014/main" id="{DB016DF6-3222-2718-76FD-53F5CD123F61}"/>
              </a:ext>
            </a:extLst>
          </p:cNvPr>
          <p:cNvSpPr/>
          <p:nvPr/>
        </p:nvSpPr>
        <p:spPr>
          <a:xfrm>
            <a:off x="1971690" y="1086022"/>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pic>
        <p:nvPicPr>
          <p:cNvPr id="10" name="Picture 9">
            <a:extLst>
              <a:ext uri="{FF2B5EF4-FFF2-40B4-BE49-F238E27FC236}">
                <a16:creationId xmlns:a16="http://schemas.microsoft.com/office/drawing/2014/main" id="{E4180E1D-A05E-AA3D-8C46-DA03E4218227}"/>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flipH="1">
            <a:off x="2991421" y="1008269"/>
            <a:ext cx="459911" cy="289550"/>
          </a:xfrm>
          <a:prstGeom prst="rect">
            <a:avLst/>
          </a:prstGeom>
        </p:spPr>
      </p:pic>
      <p:sp>
        <p:nvSpPr>
          <p:cNvPr id="11" name="Flowchart: Process 10">
            <a:extLst>
              <a:ext uri="{FF2B5EF4-FFF2-40B4-BE49-F238E27FC236}">
                <a16:creationId xmlns:a16="http://schemas.microsoft.com/office/drawing/2014/main" id="{B267CF15-63B9-C27D-3909-C77EBB3AE5C4}"/>
              </a:ext>
            </a:extLst>
          </p:cNvPr>
          <p:cNvSpPr/>
          <p:nvPr/>
        </p:nvSpPr>
        <p:spPr>
          <a:xfrm>
            <a:off x="2458931" y="1092179"/>
            <a:ext cx="451403"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13" name="Flowchart: Process 12">
            <a:extLst>
              <a:ext uri="{FF2B5EF4-FFF2-40B4-BE49-F238E27FC236}">
                <a16:creationId xmlns:a16="http://schemas.microsoft.com/office/drawing/2014/main" id="{FB953AE8-7043-7EDB-818A-4032EE0FA294}"/>
              </a:ext>
            </a:extLst>
          </p:cNvPr>
          <p:cNvSpPr/>
          <p:nvPr/>
        </p:nvSpPr>
        <p:spPr>
          <a:xfrm>
            <a:off x="2519150" y="794742"/>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
        <p:nvSpPr>
          <p:cNvPr id="18" name="Flowchart: Process 17">
            <a:extLst>
              <a:ext uri="{FF2B5EF4-FFF2-40B4-BE49-F238E27FC236}">
                <a16:creationId xmlns:a16="http://schemas.microsoft.com/office/drawing/2014/main" id="{85781741-568C-E68C-361B-881B96A7BEC4}"/>
              </a:ext>
            </a:extLst>
          </p:cNvPr>
          <p:cNvSpPr/>
          <p:nvPr/>
        </p:nvSpPr>
        <p:spPr>
          <a:xfrm>
            <a:off x="9338893" y="748958"/>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a:t>
            </a:r>
          </a:p>
        </p:txBody>
      </p:sp>
      <p:sp>
        <p:nvSpPr>
          <p:cNvPr id="19" name="Flowchart: Process 18">
            <a:extLst>
              <a:ext uri="{FF2B5EF4-FFF2-40B4-BE49-F238E27FC236}">
                <a16:creationId xmlns:a16="http://schemas.microsoft.com/office/drawing/2014/main" id="{9326BF78-EFFB-F13B-94A2-6C869B854EB7}"/>
              </a:ext>
            </a:extLst>
          </p:cNvPr>
          <p:cNvSpPr/>
          <p:nvPr/>
        </p:nvSpPr>
        <p:spPr>
          <a:xfrm>
            <a:off x="9338692" y="1042035"/>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sp>
        <p:nvSpPr>
          <p:cNvPr id="20" name="Flowchart: Process 19">
            <a:extLst>
              <a:ext uri="{FF2B5EF4-FFF2-40B4-BE49-F238E27FC236}">
                <a16:creationId xmlns:a16="http://schemas.microsoft.com/office/drawing/2014/main" id="{71CCA5B4-B3AA-CE31-A268-294750675E54}"/>
              </a:ext>
            </a:extLst>
          </p:cNvPr>
          <p:cNvSpPr/>
          <p:nvPr/>
        </p:nvSpPr>
        <p:spPr>
          <a:xfrm>
            <a:off x="9825933" y="1048192"/>
            <a:ext cx="451403"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23" name="Flowchart: Process 22">
            <a:extLst>
              <a:ext uri="{FF2B5EF4-FFF2-40B4-BE49-F238E27FC236}">
                <a16:creationId xmlns:a16="http://schemas.microsoft.com/office/drawing/2014/main" id="{823F3271-F401-248A-1926-D8C507908C3F}"/>
              </a:ext>
            </a:extLst>
          </p:cNvPr>
          <p:cNvSpPr/>
          <p:nvPr/>
        </p:nvSpPr>
        <p:spPr>
          <a:xfrm>
            <a:off x="9886152" y="750755"/>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pic>
        <p:nvPicPr>
          <p:cNvPr id="30" name="Picture 29">
            <a:extLst>
              <a:ext uri="{FF2B5EF4-FFF2-40B4-BE49-F238E27FC236}">
                <a16:creationId xmlns:a16="http://schemas.microsoft.com/office/drawing/2014/main" id="{4909B4FD-558E-5FC0-05A2-3B60738B8CE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flipH="1">
            <a:off x="8792374" y="973254"/>
            <a:ext cx="459911" cy="289550"/>
          </a:xfrm>
          <a:prstGeom prst="rect">
            <a:avLst/>
          </a:prstGeom>
        </p:spPr>
      </p:pic>
      <p:pic>
        <p:nvPicPr>
          <p:cNvPr id="34" name="Picture 33">
            <a:extLst>
              <a:ext uri="{FF2B5EF4-FFF2-40B4-BE49-F238E27FC236}">
                <a16:creationId xmlns:a16="http://schemas.microsoft.com/office/drawing/2014/main" id="{E2EBCDBF-FE52-2962-DCA0-70A94439940A}"/>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flipH="1">
            <a:off x="8793039" y="3695863"/>
            <a:ext cx="459911" cy="289550"/>
          </a:xfrm>
          <a:prstGeom prst="rect">
            <a:avLst/>
          </a:prstGeom>
        </p:spPr>
      </p:pic>
      <p:sp>
        <p:nvSpPr>
          <p:cNvPr id="36" name="Flowchart: Process 35">
            <a:extLst>
              <a:ext uri="{FF2B5EF4-FFF2-40B4-BE49-F238E27FC236}">
                <a16:creationId xmlns:a16="http://schemas.microsoft.com/office/drawing/2014/main" id="{41F06DF3-51DB-AF0E-2628-BB2742EFC7B8}"/>
              </a:ext>
            </a:extLst>
          </p:cNvPr>
          <p:cNvSpPr/>
          <p:nvPr/>
        </p:nvSpPr>
        <p:spPr>
          <a:xfrm>
            <a:off x="9349660" y="3503451"/>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VCT</a:t>
            </a:r>
          </a:p>
        </p:txBody>
      </p:sp>
      <p:sp>
        <p:nvSpPr>
          <p:cNvPr id="41" name="Flowchart: Process 40">
            <a:extLst>
              <a:ext uri="{FF2B5EF4-FFF2-40B4-BE49-F238E27FC236}">
                <a16:creationId xmlns:a16="http://schemas.microsoft.com/office/drawing/2014/main" id="{B2EFC96C-032B-8344-7CE7-029F0A55766D}"/>
              </a:ext>
            </a:extLst>
          </p:cNvPr>
          <p:cNvSpPr/>
          <p:nvPr/>
        </p:nvSpPr>
        <p:spPr>
          <a:xfrm>
            <a:off x="9366551" y="3805074"/>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sp>
        <p:nvSpPr>
          <p:cNvPr id="45" name="Flowchart: Process 44">
            <a:extLst>
              <a:ext uri="{FF2B5EF4-FFF2-40B4-BE49-F238E27FC236}">
                <a16:creationId xmlns:a16="http://schemas.microsoft.com/office/drawing/2014/main" id="{7704B709-2DCC-A882-739D-B3D7CAAE0FB7}"/>
              </a:ext>
            </a:extLst>
          </p:cNvPr>
          <p:cNvSpPr/>
          <p:nvPr/>
        </p:nvSpPr>
        <p:spPr>
          <a:xfrm>
            <a:off x="9836700" y="3802685"/>
            <a:ext cx="451403"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MV</a:t>
            </a:r>
          </a:p>
        </p:txBody>
      </p:sp>
      <p:sp>
        <p:nvSpPr>
          <p:cNvPr id="46" name="Flowchart: Process 45">
            <a:extLst>
              <a:ext uri="{FF2B5EF4-FFF2-40B4-BE49-F238E27FC236}">
                <a16:creationId xmlns:a16="http://schemas.microsoft.com/office/drawing/2014/main" id="{DE45A8FC-34D3-85A0-278C-0E6F56F07B4D}"/>
              </a:ext>
            </a:extLst>
          </p:cNvPr>
          <p:cNvSpPr/>
          <p:nvPr/>
        </p:nvSpPr>
        <p:spPr>
          <a:xfrm>
            <a:off x="9896919" y="3505248"/>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
        <p:nvSpPr>
          <p:cNvPr id="47" name="Flowchart: Process 46">
            <a:extLst>
              <a:ext uri="{FF2B5EF4-FFF2-40B4-BE49-F238E27FC236}">
                <a16:creationId xmlns:a16="http://schemas.microsoft.com/office/drawing/2014/main" id="{A317150F-91A0-5C0A-7D48-B0F00A013F06}"/>
              </a:ext>
            </a:extLst>
          </p:cNvPr>
          <p:cNvSpPr/>
          <p:nvPr/>
        </p:nvSpPr>
        <p:spPr>
          <a:xfrm>
            <a:off x="3005754" y="5245214"/>
            <a:ext cx="408036"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M</a:t>
            </a:r>
          </a:p>
        </p:txBody>
      </p:sp>
      <p:sp>
        <p:nvSpPr>
          <p:cNvPr id="54" name="Flowchart: Process 53">
            <a:extLst>
              <a:ext uri="{FF2B5EF4-FFF2-40B4-BE49-F238E27FC236}">
                <a16:creationId xmlns:a16="http://schemas.microsoft.com/office/drawing/2014/main" id="{A641DCB6-8AB8-2FD3-2A70-23D860DC22C9}"/>
              </a:ext>
            </a:extLst>
          </p:cNvPr>
          <p:cNvSpPr/>
          <p:nvPr/>
        </p:nvSpPr>
        <p:spPr>
          <a:xfrm>
            <a:off x="2999968" y="5541140"/>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LLS</a:t>
            </a:r>
          </a:p>
        </p:txBody>
      </p:sp>
      <p:sp>
        <p:nvSpPr>
          <p:cNvPr id="2" name="Flowchart: Process 1">
            <a:extLst>
              <a:ext uri="{FF2B5EF4-FFF2-40B4-BE49-F238E27FC236}">
                <a16:creationId xmlns:a16="http://schemas.microsoft.com/office/drawing/2014/main" id="{4EE5D91C-96AD-B154-25C1-918D6E630958}"/>
              </a:ext>
            </a:extLst>
          </p:cNvPr>
          <p:cNvSpPr/>
          <p:nvPr/>
        </p:nvSpPr>
        <p:spPr>
          <a:xfrm>
            <a:off x="5007616" y="2365368"/>
            <a:ext cx="521299"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DWG</a:t>
            </a:r>
          </a:p>
        </p:txBody>
      </p:sp>
      <p:sp>
        <p:nvSpPr>
          <p:cNvPr id="3" name="Flowchart: Process 2">
            <a:extLst>
              <a:ext uri="{FF2B5EF4-FFF2-40B4-BE49-F238E27FC236}">
                <a16:creationId xmlns:a16="http://schemas.microsoft.com/office/drawing/2014/main" id="{45BF66AC-08F8-1438-DA76-7826D53B110C}"/>
              </a:ext>
            </a:extLst>
          </p:cNvPr>
          <p:cNvSpPr/>
          <p:nvPr/>
        </p:nvSpPr>
        <p:spPr>
          <a:xfrm>
            <a:off x="5007415" y="2658445"/>
            <a:ext cx="428957" cy="2588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latin typeface="Times New Roman" panose="02020603050405020304" pitchFamily="18" charset="0"/>
                <a:cs typeface="Times New Roman" panose="02020603050405020304" pitchFamily="18" charset="0"/>
              </a:rPr>
              <a:t>FM</a:t>
            </a:r>
          </a:p>
        </p:txBody>
      </p:sp>
    </p:spTree>
    <p:extLst>
      <p:ext uri="{BB962C8B-B14F-4D97-AF65-F5344CB8AC3E}">
        <p14:creationId xmlns:p14="http://schemas.microsoft.com/office/powerpoint/2010/main" val="1006753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590725" y="81207"/>
            <a:ext cx="10999798"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83361804"/>
              </p:ext>
            </p:extLst>
          </p:nvPr>
        </p:nvGraphicFramePr>
        <p:xfrm>
          <a:off x="347049" y="660058"/>
          <a:ext cx="11487149" cy="5450186"/>
        </p:xfrm>
        <a:graphic>
          <a:graphicData uri="http://schemas.openxmlformats.org/drawingml/2006/table">
            <a:tbl>
              <a:tblPr firstRow="1" bandRow="1">
                <a:tableStyleId>{5C22544A-7EE6-4342-B048-85BDC9FD1C3A}</a:tableStyleId>
              </a:tblPr>
              <a:tblGrid>
                <a:gridCol w="6450542">
                  <a:extLst>
                    <a:ext uri="{9D8B030D-6E8A-4147-A177-3AD203B41FA5}">
                      <a16:colId xmlns:a16="http://schemas.microsoft.com/office/drawing/2014/main" val="20000"/>
                    </a:ext>
                  </a:extLst>
                </a:gridCol>
                <a:gridCol w="1455208">
                  <a:extLst>
                    <a:ext uri="{9D8B030D-6E8A-4147-A177-3AD203B41FA5}">
                      <a16:colId xmlns:a16="http://schemas.microsoft.com/office/drawing/2014/main" val="20001"/>
                    </a:ext>
                  </a:extLst>
                </a:gridCol>
                <a:gridCol w="1457325">
                  <a:extLst>
                    <a:ext uri="{9D8B030D-6E8A-4147-A177-3AD203B41FA5}">
                      <a16:colId xmlns:a16="http://schemas.microsoft.com/office/drawing/2014/main" val="20002"/>
                    </a:ext>
                  </a:extLst>
                </a:gridCol>
                <a:gridCol w="2124074">
                  <a:extLst>
                    <a:ext uri="{9D8B030D-6E8A-4147-A177-3AD203B41FA5}">
                      <a16:colId xmlns:a16="http://schemas.microsoft.com/office/drawing/2014/main" val="20003"/>
                    </a:ext>
                  </a:extLst>
                </a:gridCol>
              </a:tblGrid>
              <a:tr h="533290">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52209">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MASTER CONTROL UNIT</a:t>
                      </a: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16,500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16,500</a:t>
                      </a:r>
                    </a:p>
                  </a:txBody>
                  <a:tcPr marL="9525" marR="9525" marT="9525" marB="0" anchor="ctr"/>
                </a:tc>
                <a:extLst>
                  <a:ext uri="{0D108BD9-81ED-4DB2-BD59-A6C34878D82A}">
                    <a16:rowId xmlns:a16="http://schemas.microsoft.com/office/drawing/2014/main" val="1353021243"/>
                  </a:ext>
                </a:extLst>
              </a:tr>
              <a:tr h="452209">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GRAPHICS DISPLAY WITH VALVE &amp; FLOWMETER INTERFACE CONTROLLER </a:t>
                      </a:r>
                    </a:p>
                  </a:txBody>
                  <a:tcPr anchor="ctr"/>
                </a:tc>
                <a:tc>
                  <a:txBody>
                    <a:bodyPr/>
                    <a:lstStyle/>
                    <a:p>
                      <a:pPr algn="ctr"/>
                      <a:r>
                        <a:rPr lang="en-GB" sz="1200" b="1" dirty="0">
                          <a:latin typeface="Times New Roman" pitchFamily="18" charset="0"/>
                          <a:cs typeface="Times New Roman" pitchFamily="18" charset="0"/>
                        </a:rPr>
                        <a:t>3</a:t>
                      </a:r>
                    </a:p>
                  </a:txBody>
                  <a:tcPr anchor="ctr"/>
                </a:tc>
                <a:tc>
                  <a:txBody>
                    <a:bodyPr/>
                    <a:lstStyle/>
                    <a:p>
                      <a:pPr algn="ctr"/>
                      <a:r>
                        <a:rPr lang="en-US" sz="1200" b="1" dirty="0">
                          <a:latin typeface="Times New Roman" pitchFamily="18" charset="0"/>
                          <a:cs typeface="Times New Roman" pitchFamily="18" charset="0"/>
                        </a:rPr>
                        <a:t>27,500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82,500</a:t>
                      </a:r>
                    </a:p>
                  </a:txBody>
                  <a:tcPr marL="9525" marR="9525" marT="9525" marB="0" anchor="ctr"/>
                </a:tc>
                <a:extLst>
                  <a:ext uri="{0D108BD9-81ED-4DB2-BD59-A6C34878D82A}">
                    <a16:rowId xmlns:a16="http://schemas.microsoft.com/office/drawing/2014/main" val="887110208"/>
                  </a:ext>
                </a:extLst>
              </a:tr>
              <a:tr h="542651">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dirty="0">
                          <a:latin typeface="Times New Roman" pitchFamily="18" charset="0"/>
                          <a:cs typeface="Times New Roman" pitchFamily="18" charset="0"/>
                        </a:rPr>
                        <a:t>MULTI SEGMENT GRAPHICS DISPLAY WITH GSM</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1</a:t>
                      </a:r>
                    </a:p>
                  </a:txBody>
                  <a:tcPr anchor="ctr"/>
                </a:tc>
                <a:tc>
                  <a:txBody>
                    <a:bodyPr/>
                    <a:lstStyle/>
                    <a:p>
                      <a:pPr algn="ctr"/>
                      <a:r>
                        <a:rPr lang="en-US" sz="1200" b="1" dirty="0">
                          <a:latin typeface="Times New Roman" pitchFamily="18" charset="0"/>
                          <a:cs typeface="Times New Roman" pitchFamily="18" charset="0"/>
                        </a:rPr>
                        <a:t>15,500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15,500</a:t>
                      </a:r>
                    </a:p>
                  </a:txBody>
                  <a:tcPr marL="9525" marR="9525" marT="9525" marB="0" anchor="ctr"/>
                </a:tc>
                <a:extLst>
                  <a:ext uri="{0D108BD9-81ED-4DB2-BD59-A6C34878D82A}">
                    <a16:rowId xmlns:a16="http://schemas.microsoft.com/office/drawing/2014/main" val="1405029980"/>
                  </a:ext>
                </a:extLst>
              </a:tr>
              <a:tr h="542651">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HYDROPHOBIC SUBMERSIBLE LINEAR LEVEL SENSOR </a:t>
                      </a:r>
                      <a:r>
                        <a:rPr lang="en-IN" sz="1200" b="1" baseline="0" dirty="0">
                          <a:latin typeface="Times New Roman" pitchFamily="18" charset="0"/>
                          <a:cs typeface="Times New Roman" pitchFamily="18" charset="0"/>
                        </a:rPr>
                        <a:t> </a:t>
                      </a:r>
                      <a:r>
                        <a:rPr lang="en-IN" sz="1200" b="1" dirty="0">
                          <a:latin typeface="Times New Roman" pitchFamily="18" charset="0"/>
                          <a:cs typeface="Times New Roman" pitchFamily="18" charset="0"/>
                        </a:rPr>
                        <a:t>(SS316L</a:t>
                      </a:r>
                      <a:r>
                        <a:rPr lang="en-IN" sz="1200" b="1" baseline="0" dirty="0">
                          <a:latin typeface="Times New Roman" pitchFamily="18" charset="0"/>
                          <a:cs typeface="Times New Roman" pitchFamily="18" charset="0"/>
                        </a:rPr>
                        <a:t> INDUSTRIAL GRADE)</a:t>
                      </a:r>
                      <a:endParaRPr lang="en-IN" sz="1200" b="1" dirty="0">
                        <a:latin typeface="Times New Roman" pitchFamily="18" charset="0"/>
                        <a:cs typeface="Times New Roman" pitchFamily="18" charset="0"/>
                      </a:endParaRPr>
                    </a:p>
                  </a:txBody>
                  <a:tcPr anchor="ctr"/>
                </a:tc>
                <a:tc>
                  <a:txBody>
                    <a:bodyPr/>
                    <a:lstStyle/>
                    <a:p>
                      <a:pPr algn="ctr"/>
                      <a:r>
                        <a:rPr lang="en-GB" sz="1200" b="1" dirty="0">
                          <a:latin typeface="Times New Roman" pitchFamily="18" charset="0"/>
                          <a:cs typeface="Times New Roman" pitchFamily="18" charset="0"/>
                        </a:rPr>
                        <a:t>4</a:t>
                      </a:r>
                    </a:p>
                  </a:txBody>
                  <a:tcPr anchor="ctr"/>
                </a:tc>
                <a:tc>
                  <a:txBody>
                    <a:bodyPr/>
                    <a:lstStyle/>
                    <a:p>
                      <a:pPr algn="ctr"/>
                      <a:r>
                        <a:rPr lang="en-US" sz="1200" b="1" dirty="0">
                          <a:latin typeface="Times New Roman" pitchFamily="18" charset="0"/>
                          <a:cs typeface="Times New Roman" pitchFamily="18" charset="0"/>
                        </a:rPr>
                        <a:t>11,000</a:t>
                      </a: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44,000</a:t>
                      </a:r>
                    </a:p>
                  </a:txBody>
                  <a:tcPr marL="9525" marR="9525" marT="9525" marB="0" anchor="ctr"/>
                </a:tc>
                <a:extLst>
                  <a:ext uri="{0D108BD9-81ED-4DB2-BD59-A6C34878D82A}">
                    <a16:rowId xmlns:a16="http://schemas.microsoft.com/office/drawing/2014/main" val="3360900633"/>
                  </a:ext>
                </a:extLst>
              </a:tr>
              <a:tr h="41680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IN" sz="1200" b="1" kern="1200" baseline="0" dirty="0">
                          <a:solidFill>
                            <a:schemeClr val="dk1"/>
                          </a:solidFill>
                          <a:latin typeface="Times New Roman" pitchFamily="18" charset="0"/>
                          <a:ea typeface="+mn-ea"/>
                          <a:cs typeface="Times New Roman" pitchFamily="18" charset="0"/>
                        </a:rPr>
                        <a:t>2” </a:t>
                      </a:r>
                      <a:r>
                        <a:rPr kumimoji="0" lang="en-IN" sz="1200" b="1" kern="1200" dirty="0">
                          <a:solidFill>
                            <a:schemeClr val="dk1"/>
                          </a:solidFill>
                          <a:latin typeface="Times New Roman" pitchFamily="18" charset="0"/>
                          <a:ea typeface="+mn-ea"/>
                          <a:cs typeface="Times New Roman" pitchFamily="18" charset="0"/>
                        </a:rPr>
                        <a:t>- MOTORIZED BUTTERFLY VALVE WITH MANUAL OVERRIDE</a:t>
                      </a:r>
                    </a:p>
                  </a:txBody>
                  <a:tcPr anchor="ctr"/>
                </a:tc>
                <a:tc>
                  <a:txBody>
                    <a:bodyPr/>
                    <a:lstStyle/>
                    <a:p>
                      <a:pPr algn="ctr"/>
                      <a:r>
                        <a:rPr lang="en-US" sz="1200" b="1" dirty="0">
                          <a:latin typeface="Times New Roman" pitchFamily="18" charset="0"/>
                          <a:cs typeface="Times New Roman" pitchFamily="18" charset="0"/>
                        </a:rPr>
                        <a:t>3</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16,500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49,500</a:t>
                      </a:r>
                    </a:p>
                  </a:txBody>
                  <a:tcPr marL="9525" marR="9525" marT="9525" marB="0" anchor="ctr"/>
                </a:tc>
                <a:extLst>
                  <a:ext uri="{0D108BD9-81ED-4DB2-BD59-A6C34878D82A}">
                    <a16:rowId xmlns:a16="http://schemas.microsoft.com/office/drawing/2014/main" val="1251303587"/>
                  </a:ext>
                </a:extLst>
              </a:tr>
              <a:tr h="41680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2” DIGITAL</a:t>
                      </a:r>
                      <a:r>
                        <a:rPr kumimoji="0" lang="en-US" sz="1200" b="1" kern="1200" baseline="0" dirty="0">
                          <a:solidFill>
                            <a:schemeClr val="dk1"/>
                          </a:solidFill>
                          <a:latin typeface="Times New Roman" pitchFamily="18" charset="0"/>
                          <a:ea typeface="+mn-ea"/>
                          <a:cs typeface="Times New Roman" pitchFamily="18" charset="0"/>
                        </a:rPr>
                        <a:t> </a:t>
                      </a:r>
                      <a:r>
                        <a:rPr kumimoji="0" lang="en-US" sz="1200" b="1" kern="1200" dirty="0">
                          <a:solidFill>
                            <a:schemeClr val="dk1"/>
                          </a:solidFill>
                          <a:latin typeface="Times New Roman" pitchFamily="18" charset="0"/>
                          <a:ea typeface="+mn-ea"/>
                          <a:cs typeface="Times New Roman" pitchFamily="18" charset="0"/>
                        </a:rPr>
                        <a:t>FLOWMETER WITH TOTALIZER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4</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10,500</a:t>
                      </a:r>
                      <a:endParaRPr lang="en-IN" sz="1200" b="1" dirty="0">
                        <a:latin typeface="Times New Roman" pitchFamily="18" charset="0"/>
                        <a:cs typeface="Times New Roman" pitchFamily="18" charset="0"/>
                      </a:endParaRPr>
                    </a:p>
                  </a:txBody>
                  <a:tcPr anchor="ct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42,000</a:t>
                      </a:r>
                    </a:p>
                  </a:txBody>
                  <a:tcPr marL="9525" marR="9525" marT="9525" marB="0" anchor="ctr"/>
                </a:tc>
                <a:extLst>
                  <a:ext uri="{0D108BD9-81ED-4DB2-BD59-A6C34878D82A}">
                    <a16:rowId xmlns:a16="http://schemas.microsoft.com/office/drawing/2014/main" val="10005"/>
                  </a:ext>
                </a:extLst>
              </a:tr>
              <a:tr h="381152">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AND COMMISSIONING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IN" sz="1200" b="1" kern="1200" dirty="0">
                          <a:solidFill>
                            <a:schemeClr val="dk1"/>
                          </a:solidFill>
                          <a:latin typeface="Times New Roman" pitchFamily="18" charset="0"/>
                          <a:ea typeface="+mn-ea"/>
                          <a:cs typeface="Times New Roman" pitchFamily="18" charset="0"/>
                        </a:rPr>
                        <a:t>37,500</a:t>
                      </a:r>
                    </a:p>
                  </a:txBody>
                  <a:tcPr marL="9525" marR="9525" marT="9525" marB="0" anchor="ctr"/>
                </a:tc>
                <a:extLst>
                  <a:ext uri="{0D108BD9-81ED-4DB2-BD59-A6C34878D82A}">
                    <a16:rowId xmlns:a16="http://schemas.microsoft.com/office/drawing/2014/main" val="10006"/>
                  </a:ext>
                </a:extLst>
              </a:tr>
              <a:tr h="570808">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2,87,500 </a:t>
                      </a:r>
                    </a:p>
                  </a:txBody>
                  <a:tcPr marL="9525" marR="9525" marT="9525" marB="0" anchor="ctr">
                    <a:solidFill>
                      <a:srgbClr val="00B050"/>
                    </a:solidFill>
                  </a:tcPr>
                </a:tc>
                <a:extLst>
                  <a:ext uri="{0D108BD9-81ED-4DB2-BD59-A6C34878D82A}">
                    <a16:rowId xmlns:a16="http://schemas.microsoft.com/office/drawing/2014/main" val="10009"/>
                  </a:ext>
                </a:extLst>
              </a:tr>
              <a:tr h="570808">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51,750 </a:t>
                      </a:r>
                    </a:p>
                  </a:txBody>
                  <a:tcPr marL="9525" marR="9525" marT="9525" marB="0" anchor="ctr">
                    <a:solidFill>
                      <a:srgbClr val="00B050"/>
                    </a:solidFill>
                  </a:tcPr>
                </a:tc>
                <a:extLst>
                  <a:ext uri="{0D108BD9-81ED-4DB2-BD59-A6C34878D82A}">
                    <a16:rowId xmlns:a16="http://schemas.microsoft.com/office/drawing/2014/main" val="1308321113"/>
                  </a:ext>
                </a:extLst>
              </a:tr>
              <a:tr h="570808">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600" b="1" i="0" u="none" strike="noStrike" dirty="0">
                          <a:solidFill>
                            <a:srgbClr val="000000"/>
                          </a:solidFill>
                          <a:effectLst/>
                          <a:latin typeface="Times New Roman" panose="02020603050405020304" pitchFamily="18" charset="0"/>
                        </a:rPr>
                        <a:t>3,39,250 </a:t>
                      </a:r>
                    </a:p>
                  </a:txBody>
                  <a:tcPr marL="9525" marR="9525" marT="9525" marB="0" anchor="ctr">
                    <a:solidFill>
                      <a:srgbClr val="00B050"/>
                    </a:solidFill>
                  </a:tcPr>
                </a:tc>
                <a:extLst>
                  <a:ext uri="{0D108BD9-81ED-4DB2-BD59-A6C34878D82A}">
                    <a16:rowId xmlns:a16="http://schemas.microsoft.com/office/drawing/2014/main" val="3539865217"/>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244825"/>
            <a:ext cx="818090" cy="402811"/>
          </a:xfrm>
          <a:prstGeom prst="rect">
            <a:avLst/>
          </a:prstGeom>
          <a:noFill/>
        </p:spPr>
      </p:pic>
      <p:sp>
        <p:nvSpPr>
          <p:cNvPr id="2" name="Rectangle 1">
            <a:extLst>
              <a:ext uri="{FF2B5EF4-FFF2-40B4-BE49-F238E27FC236}">
                <a16:creationId xmlns:a16="http://schemas.microsoft.com/office/drawing/2014/main" id="{8A665BB6-60E6-4A48-81A4-E4F426FB5296}"/>
              </a:ext>
            </a:extLst>
          </p:cNvPr>
          <p:cNvSpPr/>
          <p:nvPr/>
        </p:nvSpPr>
        <p:spPr>
          <a:xfrm>
            <a:off x="307649" y="225121"/>
            <a:ext cx="647615" cy="276999"/>
          </a:xfrm>
          <a:prstGeom prst="rect">
            <a:avLst/>
          </a:prstGeom>
          <a:solidFill>
            <a:srgbClr val="00B0F0"/>
          </a:solidFill>
        </p:spPr>
        <p:txBody>
          <a:bodyPr wrap="square">
            <a:spAutoFit/>
          </a:bodyPr>
          <a:lstStyle/>
          <a:p>
            <a:pPr algn="ctr"/>
            <a:r>
              <a:rPr lang="en-US" sz="1200" b="1" dirty="0">
                <a:latin typeface="Times New Roman" panose="02020603050405020304" pitchFamily="18" charset="0"/>
                <a:cs typeface="Times New Roman" panose="02020603050405020304" pitchFamily="18" charset="0"/>
              </a:rPr>
              <a:t>SET-2</a:t>
            </a:r>
          </a:p>
        </p:txBody>
      </p:sp>
    </p:spTree>
    <p:extLst>
      <p:ext uri="{BB962C8B-B14F-4D97-AF65-F5344CB8AC3E}">
        <p14:creationId xmlns:p14="http://schemas.microsoft.com/office/powerpoint/2010/main" val="1509170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 name="Straight Connector 64"/>
          <p:cNvCxnSpPr/>
          <p:nvPr/>
        </p:nvCxnSpPr>
        <p:spPr>
          <a:xfrm flipH="1">
            <a:off x="5131288" y="1481657"/>
            <a:ext cx="3335378" cy="11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Title 1"/>
          <p:cNvSpPr>
            <a:spLocks noGrp="1"/>
          </p:cNvSpPr>
          <p:nvPr>
            <p:ph type="title"/>
          </p:nvPr>
        </p:nvSpPr>
        <p:spPr>
          <a:xfrm>
            <a:off x="195869" y="74966"/>
            <a:ext cx="11729258" cy="551567"/>
          </a:xfrm>
        </p:spPr>
        <p:txBody>
          <a:bodyPr>
            <a:normAutofit/>
          </a:bodyPr>
          <a:lstStyle/>
          <a:p>
            <a:pPr algn="ctr"/>
            <a:r>
              <a:rPr lang="en-IN" sz="2000" b="1" u="sng" dirty="0">
                <a:solidFill>
                  <a:srgbClr val="FF0000"/>
                </a:solidFill>
                <a:latin typeface="Times New Roman" pitchFamily="18" charset="0"/>
                <a:cs typeface="Times New Roman" pitchFamily="18" charset="0"/>
              </a:rPr>
              <a:t>FLOWMETER – </a:t>
            </a:r>
            <a:r>
              <a:rPr lang="en-IN" sz="2000" b="1" u="sng" dirty="0">
                <a:solidFill>
                  <a:srgbClr val="002060"/>
                </a:solidFill>
                <a:latin typeface="Times New Roman" pitchFamily="18" charset="0"/>
                <a:cs typeface="Times New Roman" pitchFamily="18" charset="0"/>
              </a:rPr>
              <a:t>TEATMENT PLANT</a:t>
            </a:r>
            <a:endParaRPr lang="en-US" sz="2000" b="1" u="sng" dirty="0">
              <a:solidFill>
                <a:srgbClr val="002060"/>
              </a:solidFill>
              <a:latin typeface="Times New Roman" pitchFamily="18" charset="0"/>
              <a:cs typeface="Times New Roman" pitchFamily="18" charset="0"/>
            </a:endParaRP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36035" r="35709" b="42241"/>
          <a:stretch/>
        </p:blipFill>
        <p:spPr>
          <a:xfrm>
            <a:off x="1889085" y="1481657"/>
            <a:ext cx="6518275" cy="601133"/>
          </a:xfrm>
          <a:prstGeom prst="rect">
            <a:avLst/>
          </a:prstGeom>
        </p:spPr>
      </p:pic>
      <p:pic>
        <p:nvPicPr>
          <p:cNvPr id="57" name="Picture 56"/>
          <p:cNvPicPr>
            <a:picLocks noChangeAspect="1"/>
          </p:cNvPicPr>
          <p:nvPr/>
        </p:nvPicPr>
        <p:blipFill rotWithShape="1">
          <a:blip r:embed="rId2">
            <a:extLst>
              <a:ext uri="{28A0092B-C50C-407E-A947-70E740481C1C}">
                <a14:useLocalDpi xmlns:a14="http://schemas.microsoft.com/office/drawing/2010/main" val="0"/>
              </a:ext>
            </a:extLst>
          </a:blip>
          <a:srcRect t="36035" r="35709" b="42241"/>
          <a:stretch/>
        </p:blipFill>
        <p:spPr>
          <a:xfrm>
            <a:off x="1889079" y="2794036"/>
            <a:ext cx="6518275" cy="601133"/>
          </a:xfrm>
          <a:prstGeom prst="rect">
            <a:avLst/>
          </a:prstGeom>
        </p:spPr>
      </p:pic>
      <p:pic>
        <p:nvPicPr>
          <p:cNvPr id="58" name="Picture 57"/>
          <p:cNvPicPr>
            <a:picLocks noChangeAspect="1"/>
          </p:cNvPicPr>
          <p:nvPr/>
        </p:nvPicPr>
        <p:blipFill rotWithShape="1">
          <a:blip r:embed="rId2">
            <a:extLst>
              <a:ext uri="{28A0092B-C50C-407E-A947-70E740481C1C}">
                <a14:useLocalDpi xmlns:a14="http://schemas.microsoft.com/office/drawing/2010/main" val="0"/>
              </a:ext>
            </a:extLst>
          </a:blip>
          <a:srcRect t="36035" r="35709" b="42241"/>
          <a:stretch/>
        </p:blipFill>
        <p:spPr>
          <a:xfrm>
            <a:off x="1889079" y="4089487"/>
            <a:ext cx="6518275" cy="601133"/>
          </a:xfrm>
          <a:prstGeom prst="rect">
            <a:avLst/>
          </a:prstGeom>
        </p:spPr>
      </p:pic>
      <p:pic>
        <p:nvPicPr>
          <p:cNvPr id="64" name="Picture 63"/>
          <p:cNvPicPr>
            <a:picLocks noChangeAspect="1"/>
          </p:cNvPicPr>
          <p:nvPr/>
        </p:nvPicPr>
        <p:blipFill rotWithShape="1">
          <a:blip r:embed="rId3" cstate="print">
            <a:extLst>
              <a:ext uri="{28A0092B-C50C-407E-A947-70E740481C1C}">
                <a14:useLocalDpi xmlns:a14="http://schemas.microsoft.com/office/drawing/2010/main" val="0"/>
              </a:ext>
            </a:extLst>
          </a:blip>
          <a:srcRect l="2134" t="10314" r="3677" b="10314"/>
          <a:stretch/>
        </p:blipFill>
        <p:spPr>
          <a:xfrm>
            <a:off x="8411206" y="1268950"/>
            <a:ext cx="878854" cy="592475"/>
          </a:xfrm>
          <a:prstGeom prst="rect">
            <a:avLst/>
          </a:prstGeom>
        </p:spPr>
      </p:pic>
      <p:sp>
        <p:nvSpPr>
          <p:cNvPr id="7" name="Rectangle 6"/>
          <p:cNvSpPr/>
          <p:nvPr/>
        </p:nvSpPr>
        <p:spPr>
          <a:xfrm>
            <a:off x="8530585" y="1363691"/>
            <a:ext cx="655748" cy="1843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1" name="Straight Connector 70"/>
          <p:cNvCxnSpPr/>
          <p:nvPr/>
        </p:nvCxnSpPr>
        <p:spPr>
          <a:xfrm flipH="1">
            <a:off x="5163027" y="2785569"/>
            <a:ext cx="3335378" cy="11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73" name="Picture 72"/>
          <p:cNvPicPr>
            <a:picLocks noChangeAspect="1"/>
          </p:cNvPicPr>
          <p:nvPr/>
        </p:nvPicPr>
        <p:blipFill rotWithShape="1">
          <a:blip r:embed="rId3" cstate="print">
            <a:extLst>
              <a:ext uri="{28A0092B-C50C-407E-A947-70E740481C1C}">
                <a14:useLocalDpi xmlns:a14="http://schemas.microsoft.com/office/drawing/2010/main" val="0"/>
              </a:ext>
            </a:extLst>
          </a:blip>
          <a:srcRect l="2134" t="10314" r="3677" b="10314"/>
          <a:stretch/>
        </p:blipFill>
        <p:spPr>
          <a:xfrm>
            <a:off x="8442945" y="2572862"/>
            <a:ext cx="878854" cy="592475"/>
          </a:xfrm>
          <a:prstGeom prst="rect">
            <a:avLst/>
          </a:prstGeom>
        </p:spPr>
      </p:pic>
      <p:sp>
        <p:nvSpPr>
          <p:cNvPr id="74" name="Rectangle 73"/>
          <p:cNvSpPr/>
          <p:nvPr/>
        </p:nvSpPr>
        <p:spPr>
          <a:xfrm>
            <a:off x="8562324" y="2676149"/>
            <a:ext cx="655748" cy="1843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8" name="Straight Connector 97"/>
          <p:cNvCxnSpPr/>
          <p:nvPr/>
        </p:nvCxnSpPr>
        <p:spPr>
          <a:xfrm flipH="1">
            <a:off x="5178281" y="4089471"/>
            <a:ext cx="3335378" cy="112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99" name="Picture 98"/>
          <p:cNvPicPr>
            <a:picLocks noChangeAspect="1"/>
          </p:cNvPicPr>
          <p:nvPr/>
        </p:nvPicPr>
        <p:blipFill rotWithShape="1">
          <a:blip r:embed="rId3" cstate="print">
            <a:extLst>
              <a:ext uri="{28A0092B-C50C-407E-A947-70E740481C1C}">
                <a14:useLocalDpi xmlns:a14="http://schemas.microsoft.com/office/drawing/2010/main" val="0"/>
              </a:ext>
            </a:extLst>
          </a:blip>
          <a:srcRect l="2134" t="10314" r="3677" b="10314"/>
          <a:stretch/>
        </p:blipFill>
        <p:spPr>
          <a:xfrm>
            <a:off x="8458199" y="3876764"/>
            <a:ext cx="878854" cy="592475"/>
          </a:xfrm>
          <a:prstGeom prst="rect">
            <a:avLst/>
          </a:prstGeom>
        </p:spPr>
      </p:pic>
      <p:sp>
        <p:nvSpPr>
          <p:cNvPr id="100" name="Rectangle 99"/>
          <p:cNvSpPr/>
          <p:nvPr/>
        </p:nvSpPr>
        <p:spPr>
          <a:xfrm>
            <a:off x="8577578" y="3971505"/>
            <a:ext cx="655748" cy="18432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Flowchart: Process 103">
            <a:extLst>
              <a:ext uri="{FF2B5EF4-FFF2-40B4-BE49-F238E27FC236}">
                <a16:creationId xmlns:a16="http://schemas.microsoft.com/office/drawing/2014/main" id="{DE47567A-8AEB-4470-ABC8-DD727125A46A}"/>
              </a:ext>
            </a:extLst>
          </p:cNvPr>
          <p:cNvSpPr/>
          <p:nvPr/>
        </p:nvSpPr>
        <p:spPr>
          <a:xfrm>
            <a:off x="5260822" y="1114632"/>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FM-1</a:t>
            </a:r>
          </a:p>
        </p:txBody>
      </p:sp>
      <p:sp>
        <p:nvSpPr>
          <p:cNvPr id="105" name="Flowchart: Process 104">
            <a:extLst>
              <a:ext uri="{FF2B5EF4-FFF2-40B4-BE49-F238E27FC236}">
                <a16:creationId xmlns:a16="http://schemas.microsoft.com/office/drawing/2014/main" id="{DE47567A-8AEB-4470-ABC8-DD727125A46A}"/>
              </a:ext>
            </a:extLst>
          </p:cNvPr>
          <p:cNvSpPr/>
          <p:nvPr/>
        </p:nvSpPr>
        <p:spPr>
          <a:xfrm>
            <a:off x="5291667" y="2403628"/>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FM-2</a:t>
            </a:r>
          </a:p>
        </p:txBody>
      </p:sp>
      <p:sp>
        <p:nvSpPr>
          <p:cNvPr id="106" name="Flowchart: Process 105">
            <a:extLst>
              <a:ext uri="{FF2B5EF4-FFF2-40B4-BE49-F238E27FC236}">
                <a16:creationId xmlns:a16="http://schemas.microsoft.com/office/drawing/2014/main" id="{DE47567A-8AEB-4470-ABC8-DD727125A46A}"/>
              </a:ext>
            </a:extLst>
          </p:cNvPr>
          <p:cNvSpPr/>
          <p:nvPr/>
        </p:nvSpPr>
        <p:spPr>
          <a:xfrm>
            <a:off x="5310595" y="3732854"/>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FM-3</a:t>
            </a:r>
          </a:p>
        </p:txBody>
      </p:sp>
      <p:sp>
        <p:nvSpPr>
          <p:cNvPr id="108" name="Flowchart: Process 107">
            <a:extLst>
              <a:ext uri="{FF2B5EF4-FFF2-40B4-BE49-F238E27FC236}">
                <a16:creationId xmlns:a16="http://schemas.microsoft.com/office/drawing/2014/main" id="{DE47567A-8AEB-4470-ABC8-DD727125A46A}"/>
              </a:ext>
            </a:extLst>
          </p:cNvPr>
          <p:cNvSpPr/>
          <p:nvPr/>
        </p:nvSpPr>
        <p:spPr>
          <a:xfrm>
            <a:off x="8603836" y="1953065"/>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DWG-1</a:t>
            </a:r>
          </a:p>
        </p:txBody>
      </p:sp>
      <p:sp>
        <p:nvSpPr>
          <p:cNvPr id="109" name="Flowchart: Process 108">
            <a:extLst>
              <a:ext uri="{FF2B5EF4-FFF2-40B4-BE49-F238E27FC236}">
                <a16:creationId xmlns:a16="http://schemas.microsoft.com/office/drawing/2014/main" id="{DE47567A-8AEB-4470-ABC8-DD727125A46A}"/>
              </a:ext>
            </a:extLst>
          </p:cNvPr>
          <p:cNvSpPr/>
          <p:nvPr/>
        </p:nvSpPr>
        <p:spPr>
          <a:xfrm>
            <a:off x="8634681" y="3242061"/>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DWG-2</a:t>
            </a:r>
          </a:p>
        </p:txBody>
      </p:sp>
      <p:sp>
        <p:nvSpPr>
          <p:cNvPr id="110" name="Flowchart: Process 109">
            <a:extLst>
              <a:ext uri="{FF2B5EF4-FFF2-40B4-BE49-F238E27FC236}">
                <a16:creationId xmlns:a16="http://schemas.microsoft.com/office/drawing/2014/main" id="{DE47567A-8AEB-4470-ABC8-DD727125A46A}"/>
              </a:ext>
            </a:extLst>
          </p:cNvPr>
          <p:cNvSpPr/>
          <p:nvPr/>
        </p:nvSpPr>
        <p:spPr>
          <a:xfrm>
            <a:off x="8653609" y="4571287"/>
            <a:ext cx="509245" cy="3066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latin typeface="Times New Roman" pitchFamily="18" charset="0"/>
                <a:cs typeface="Times New Roman" pitchFamily="18" charset="0"/>
              </a:rPr>
              <a:t>DWG-3</a:t>
            </a:r>
          </a:p>
        </p:txBody>
      </p:sp>
      <p:pic>
        <p:nvPicPr>
          <p:cNvPr id="31"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84924"/>
            <a:ext cx="818090" cy="402811"/>
          </a:xfrm>
          <a:prstGeom prst="rect">
            <a:avLst/>
          </a:prstGeom>
          <a:noFill/>
        </p:spPr>
      </p:pic>
      <p:pic>
        <p:nvPicPr>
          <p:cNvPr id="35" name="Picture 34"/>
          <p:cNvPicPr>
            <a:picLocks noChangeAspect="1"/>
          </p:cNvPicPr>
          <p:nvPr/>
        </p:nvPicPr>
        <p:blipFill rotWithShape="1">
          <a:blip r:embed="rId5" cstate="print">
            <a:extLst>
              <a:ext uri="{28A0092B-C50C-407E-A947-70E740481C1C}">
                <a14:useLocalDpi xmlns:a14="http://schemas.microsoft.com/office/drawing/2010/main" val="0"/>
              </a:ext>
            </a:extLst>
          </a:blip>
          <a:srcRect l="13335" t="13089" r="12744"/>
          <a:stretch/>
        </p:blipFill>
        <p:spPr>
          <a:xfrm>
            <a:off x="4559511" y="1140152"/>
            <a:ext cx="715210" cy="906519"/>
          </a:xfrm>
          <a:prstGeom prst="rect">
            <a:avLst/>
          </a:prstGeom>
        </p:spPr>
      </p:pic>
      <p:pic>
        <p:nvPicPr>
          <p:cNvPr id="36" name="Picture 35"/>
          <p:cNvPicPr>
            <a:picLocks noChangeAspect="1"/>
          </p:cNvPicPr>
          <p:nvPr/>
        </p:nvPicPr>
        <p:blipFill rotWithShape="1">
          <a:blip r:embed="rId5" cstate="print">
            <a:extLst>
              <a:ext uri="{28A0092B-C50C-407E-A947-70E740481C1C}">
                <a14:useLocalDpi xmlns:a14="http://schemas.microsoft.com/office/drawing/2010/main" val="0"/>
              </a:ext>
            </a:extLst>
          </a:blip>
          <a:srcRect l="13335" t="13089" r="12744"/>
          <a:stretch/>
        </p:blipFill>
        <p:spPr>
          <a:xfrm>
            <a:off x="4593365" y="2415839"/>
            <a:ext cx="715210" cy="906519"/>
          </a:xfrm>
          <a:prstGeom prst="rect">
            <a:avLst/>
          </a:prstGeom>
        </p:spPr>
      </p:pic>
      <p:pic>
        <p:nvPicPr>
          <p:cNvPr id="37" name="Picture 36"/>
          <p:cNvPicPr>
            <a:picLocks noChangeAspect="1"/>
          </p:cNvPicPr>
          <p:nvPr/>
        </p:nvPicPr>
        <p:blipFill rotWithShape="1">
          <a:blip r:embed="rId5" cstate="print">
            <a:extLst>
              <a:ext uri="{28A0092B-C50C-407E-A947-70E740481C1C}">
                <a14:useLocalDpi xmlns:a14="http://schemas.microsoft.com/office/drawing/2010/main" val="0"/>
              </a:ext>
            </a:extLst>
          </a:blip>
          <a:srcRect l="13335" t="13089" r="12744"/>
          <a:stretch/>
        </p:blipFill>
        <p:spPr>
          <a:xfrm>
            <a:off x="4633694" y="3725953"/>
            <a:ext cx="715210" cy="906519"/>
          </a:xfrm>
          <a:prstGeom prst="rect">
            <a:avLst/>
          </a:prstGeom>
        </p:spPr>
      </p:pic>
      <p:sp>
        <p:nvSpPr>
          <p:cNvPr id="39" name="Flowchart: Process 38">
            <a:extLst>
              <a:ext uri="{FF2B5EF4-FFF2-40B4-BE49-F238E27FC236}">
                <a16:creationId xmlns:a16="http://schemas.microsoft.com/office/drawing/2014/main" id="{DE47567A-8AEB-4470-ABC8-DD727125A46A}"/>
              </a:ext>
            </a:extLst>
          </p:cNvPr>
          <p:cNvSpPr/>
          <p:nvPr/>
        </p:nvSpPr>
        <p:spPr>
          <a:xfrm>
            <a:off x="4031047" y="1176894"/>
            <a:ext cx="730424" cy="30662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latin typeface="Times New Roman" pitchFamily="18" charset="0"/>
                <a:cs typeface="Times New Roman" pitchFamily="18" charset="0"/>
              </a:rPr>
              <a:t>2 INCH PIPESIZE</a:t>
            </a:r>
          </a:p>
        </p:txBody>
      </p:sp>
      <p:sp>
        <p:nvSpPr>
          <p:cNvPr id="40" name="Flowchart: Process 39">
            <a:extLst>
              <a:ext uri="{FF2B5EF4-FFF2-40B4-BE49-F238E27FC236}">
                <a16:creationId xmlns:a16="http://schemas.microsoft.com/office/drawing/2014/main" id="{DE47567A-8AEB-4470-ABC8-DD727125A46A}"/>
              </a:ext>
            </a:extLst>
          </p:cNvPr>
          <p:cNvSpPr/>
          <p:nvPr/>
        </p:nvSpPr>
        <p:spPr>
          <a:xfrm>
            <a:off x="3990903" y="2471014"/>
            <a:ext cx="730424" cy="30662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latin typeface="Times New Roman" pitchFamily="18" charset="0"/>
                <a:cs typeface="Times New Roman" pitchFamily="18" charset="0"/>
              </a:rPr>
              <a:t>2 INCH PIPESIZE</a:t>
            </a:r>
          </a:p>
        </p:txBody>
      </p:sp>
      <p:sp>
        <p:nvSpPr>
          <p:cNvPr id="41" name="Flowchart: Process 40">
            <a:extLst>
              <a:ext uri="{FF2B5EF4-FFF2-40B4-BE49-F238E27FC236}">
                <a16:creationId xmlns:a16="http://schemas.microsoft.com/office/drawing/2014/main" id="{DE47567A-8AEB-4470-ABC8-DD727125A46A}"/>
              </a:ext>
            </a:extLst>
          </p:cNvPr>
          <p:cNvSpPr/>
          <p:nvPr/>
        </p:nvSpPr>
        <p:spPr>
          <a:xfrm>
            <a:off x="4039277" y="3843831"/>
            <a:ext cx="730424" cy="306624"/>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latin typeface="Times New Roman" pitchFamily="18" charset="0"/>
                <a:cs typeface="Times New Roman" pitchFamily="18" charset="0"/>
              </a:rPr>
              <a:t>2 INCH PIPESIZE</a:t>
            </a:r>
          </a:p>
        </p:txBody>
      </p:sp>
    </p:spTree>
    <p:extLst>
      <p:ext uri="{BB962C8B-B14F-4D97-AF65-F5344CB8AC3E}">
        <p14:creationId xmlns:p14="http://schemas.microsoft.com/office/powerpoint/2010/main" val="3337927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95449" y="71682"/>
            <a:ext cx="11573757"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IN" sz="2000" b="1" u="sng" dirty="0">
                <a:solidFill>
                  <a:srgbClr val="002060"/>
                </a:solidFill>
                <a:latin typeface="Times New Roman" pitchFamily="18" charset="0"/>
                <a:cs typeface="Times New Roman" pitchFamily="18" charset="0"/>
              </a:rPr>
              <a:t>POWER HOUSE, TEATMENT PLANT &amp; STP</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436535230"/>
              </p:ext>
            </p:extLst>
          </p:nvPr>
        </p:nvGraphicFramePr>
        <p:xfrm>
          <a:off x="342900" y="855633"/>
          <a:ext cx="11487148" cy="2407848"/>
        </p:xfrm>
        <a:graphic>
          <a:graphicData uri="http://schemas.openxmlformats.org/drawingml/2006/table">
            <a:tbl>
              <a:tblPr firstRow="1" bandRow="1">
                <a:tableStyleId>{5C22544A-7EE6-4342-B048-85BDC9FD1C3A}</a:tableStyleId>
              </a:tblPr>
              <a:tblGrid>
                <a:gridCol w="6829424">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2038349">
                  <a:extLst>
                    <a:ext uri="{9D8B030D-6E8A-4147-A177-3AD203B41FA5}">
                      <a16:colId xmlns:a16="http://schemas.microsoft.com/office/drawing/2014/main" val="20003"/>
                    </a:ext>
                  </a:extLst>
                </a:gridCol>
              </a:tblGrid>
              <a:tr h="549834">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7413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MULTI SEGMENT GRAPHICS DISPLAY</a:t>
                      </a:r>
                      <a:r>
                        <a:rPr kumimoji="0" lang="en-US" sz="1200" b="1" kern="1200" baseline="0" dirty="0">
                          <a:solidFill>
                            <a:schemeClr val="dk1"/>
                          </a:solidFill>
                          <a:latin typeface="Times New Roman" pitchFamily="18" charset="0"/>
                          <a:ea typeface="+mn-ea"/>
                          <a:cs typeface="Times New Roman" pitchFamily="18" charset="0"/>
                        </a:rPr>
                        <a:t> WITH GSM</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3</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15,500</a:t>
                      </a:r>
                      <a:endParaRPr lang="en-IN" sz="1200" b="1" dirty="0">
                        <a:latin typeface="Times New Roman" pitchFamily="18" charset="0"/>
                        <a:cs typeface="Times New Roman" pitchFamily="18" charset="0"/>
                      </a:endParaRPr>
                    </a:p>
                  </a:txBody>
                  <a:tcPr anchor="ctr"/>
                </a:tc>
                <a:tc>
                  <a:txBody>
                    <a:bodyPr/>
                    <a:lstStyle/>
                    <a:p>
                      <a:pPr algn="ctr" rtl="0" fontAlgn="ctr"/>
                      <a:r>
                        <a:rPr lang="en-US" sz="1200" b="1" i="0" u="none" strike="noStrike" dirty="0">
                          <a:solidFill>
                            <a:schemeClr val="tx1"/>
                          </a:solidFill>
                          <a:effectLst/>
                          <a:latin typeface="Times New Roman"/>
                        </a:rPr>
                        <a:t>46,500</a:t>
                      </a:r>
                      <a:endParaRPr lang="en-IN" sz="1200" b="1" i="0" u="none" strike="noStrike" dirty="0">
                        <a:solidFill>
                          <a:schemeClr val="tx1"/>
                        </a:solidFill>
                        <a:effectLst/>
                        <a:latin typeface="Times New Roman"/>
                      </a:endParaRPr>
                    </a:p>
                  </a:txBody>
                  <a:tcPr marL="9525" marR="9525" marT="9525" marB="0" anchor="ctr"/>
                </a:tc>
                <a:extLst>
                  <a:ext uri="{0D108BD9-81ED-4DB2-BD59-A6C34878D82A}">
                    <a16:rowId xmlns:a16="http://schemas.microsoft.com/office/drawing/2014/main" val="10001"/>
                  </a:ext>
                </a:extLst>
              </a:tr>
              <a:tr h="410234">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2” DIGITAL</a:t>
                      </a:r>
                      <a:r>
                        <a:rPr kumimoji="0" lang="en-US" sz="1200" b="1" kern="1200" baseline="0" dirty="0">
                          <a:solidFill>
                            <a:schemeClr val="dk1"/>
                          </a:solidFill>
                          <a:latin typeface="Times New Roman" pitchFamily="18" charset="0"/>
                          <a:ea typeface="+mn-ea"/>
                          <a:cs typeface="Times New Roman" pitchFamily="18" charset="0"/>
                        </a:rPr>
                        <a:t> </a:t>
                      </a:r>
                      <a:r>
                        <a:rPr kumimoji="0" lang="en-US" sz="1200" b="1" kern="1200" dirty="0">
                          <a:solidFill>
                            <a:schemeClr val="dk1"/>
                          </a:solidFill>
                          <a:latin typeface="Times New Roman" pitchFamily="18" charset="0"/>
                          <a:ea typeface="+mn-ea"/>
                          <a:cs typeface="Times New Roman" pitchFamily="18" charset="0"/>
                        </a:rPr>
                        <a:t>FLOWMETER WITH TOTALIZER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6</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10,500</a:t>
                      </a:r>
                      <a:endParaRPr lang="en-IN" sz="1200" b="1" dirty="0">
                        <a:latin typeface="Times New Roman" pitchFamily="18" charset="0"/>
                        <a:cs typeface="Times New Roman" pitchFamily="18" charset="0"/>
                      </a:endParaRPr>
                    </a:p>
                  </a:txBody>
                  <a:tcPr anchor="ctr"/>
                </a:tc>
                <a:tc>
                  <a:txBody>
                    <a:bodyPr/>
                    <a:lstStyle/>
                    <a:p>
                      <a:pPr algn="ctr" rtl="0" fontAlgn="ctr"/>
                      <a:r>
                        <a:rPr lang="en-US" sz="1200" b="1" i="0" u="none" strike="noStrike" dirty="0">
                          <a:solidFill>
                            <a:schemeClr val="tx1"/>
                          </a:solidFill>
                          <a:effectLst/>
                          <a:latin typeface="Times New Roman"/>
                        </a:rPr>
                        <a:t>63,000</a:t>
                      </a:r>
                      <a:endParaRPr lang="en-IN" sz="1200" b="1" i="0" u="none" strike="noStrike" dirty="0">
                        <a:solidFill>
                          <a:schemeClr val="tx1"/>
                        </a:solidFill>
                        <a:effectLst/>
                        <a:latin typeface="Times New Roman"/>
                      </a:endParaRPr>
                    </a:p>
                  </a:txBody>
                  <a:tcPr marL="9525" marR="9525" marT="9525" marB="0" anchor="ctr"/>
                </a:tc>
                <a:extLst>
                  <a:ext uri="{0D108BD9-81ED-4DB2-BD59-A6C34878D82A}">
                    <a16:rowId xmlns:a16="http://schemas.microsoft.com/office/drawing/2014/main" val="10002"/>
                  </a:ext>
                </a:extLst>
              </a:tr>
              <a:tr h="410234">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AND COMMISSIONING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US" sz="1200" b="1" i="0" u="none" strike="noStrike" kern="1200" dirty="0">
                          <a:solidFill>
                            <a:srgbClr val="000000"/>
                          </a:solidFill>
                          <a:effectLst/>
                          <a:latin typeface="Times New Roman" pitchFamily="18" charset="0"/>
                          <a:ea typeface="+mn-ea"/>
                          <a:cs typeface="Times New Roman" pitchFamily="18" charset="0"/>
                        </a:rPr>
                        <a:t>16,425</a:t>
                      </a:r>
                      <a:endParaRPr kumimoji="0" lang="en-IN" sz="1200" b="1" i="0" u="none" strike="noStrike" kern="1200" dirty="0">
                        <a:solidFill>
                          <a:srgbClr val="000000"/>
                        </a:solidFill>
                        <a:effectLst/>
                        <a:latin typeface="Times New Roman" pitchFamily="18" charset="0"/>
                        <a:ea typeface="+mn-ea"/>
                        <a:cs typeface="Times New Roman" pitchFamily="18" charset="0"/>
                      </a:endParaRPr>
                    </a:p>
                  </a:txBody>
                  <a:tcPr marL="9525" marR="9525" marT="9525" marB="0" anchor="ctr"/>
                </a:tc>
                <a:extLst>
                  <a:ext uri="{0D108BD9-81ED-4DB2-BD59-A6C34878D82A}">
                    <a16:rowId xmlns:a16="http://schemas.microsoft.com/office/drawing/2014/main" val="10004"/>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IN" sz="1600" b="1" i="0" u="none" strike="noStrike" dirty="0">
                          <a:solidFill>
                            <a:srgbClr val="000000"/>
                          </a:solidFill>
                          <a:effectLst/>
                          <a:latin typeface="Times New Roman" panose="02020603050405020304" pitchFamily="18" charset="0"/>
                        </a:rPr>
                        <a:t>1,25,925</a:t>
                      </a:r>
                    </a:p>
                  </a:txBody>
                  <a:tcPr marL="9525" marR="9525" marT="9525" marB="0" anchor="ctr">
                    <a:solidFill>
                      <a:srgbClr val="00B050"/>
                    </a:solidFill>
                  </a:tcPr>
                </a:tc>
                <a:extLst>
                  <a:ext uri="{0D108BD9-81ED-4DB2-BD59-A6C34878D82A}">
                    <a16:rowId xmlns:a16="http://schemas.microsoft.com/office/drawing/2014/main" val="10009"/>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
        <p:nvSpPr>
          <p:cNvPr id="7" name="Flowchart: Process 6">
            <a:extLst>
              <a:ext uri="{FF2B5EF4-FFF2-40B4-BE49-F238E27FC236}">
                <a16:creationId xmlns:a16="http://schemas.microsoft.com/office/drawing/2014/main" id="{DE47567A-8AEB-4470-ABC8-DD727125A46A}"/>
              </a:ext>
            </a:extLst>
          </p:cNvPr>
          <p:cNvSpPr/>
          <p:nvPr/>
        </p:nvSpPr>
        <p:spPr>
          <a:xfrm>
            <a:off x="10258893" y="3264426"/>
            <a:ext cx="1343324" cy="28872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FF0000"/>
                </a:solidFill>
                <a:latin typeface="Times New Roman" pitchFamily="18" charset="0"/>
                <a:cs typeface="Times New Roman" pitchFamily="18" charset="0"/>
              </a:rPr>
              <a:t>*WITHOUT GST</a:t>
            </a:r>
          </a:p>
        </p:txBody>
      </p:sp>
    </p:spTree>
    <p:extLst>
      <p:ext uri="{BB962C8B-B14F-4D97-AF65-F5344CB8AC3E}">
        <p14:creationId xmlns:p14="http://schemas.microsoft.com/office/powerpoint/2010/main" val="414502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95449" y="71682"/>
            <a:ext cx="11573757" cy="48397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SYSTEM REQUIREMENTS AND ESTIMATE –  </a:t>
            </a:r>
            <a:r>
              <a:rPr lang="en-IN" sz="2000" b="1" u="sng" dirty="0">
                <a:solidFill>
                  <a:srgbClr val="002060"/>
                </a:solidFill>
                <a:latin typeface="Times New Roman" pitchFamily="18" charset="0"/>
                <a:cs typeface="Times New Roman" pitchFamily="18" charset="0"/>
              </a:rPr>
              <a:t>BORE MOTOR CONTROL</a:t>
            </a:r>
            <a:endParaRPr lang="en-US" sz="2000" b="1" u="sng" dirty="0">
              <a:solidFill>
                <a:schemeClr val="tx1"/>
              </a:solidFill>
              <a:latin typeface="Times New Roman" pitchFamily="18" charset="0"/>
              <a:cs typeface="Times New Roman" pitchFamily="18" charset="0"/>
            </a:endParaRPr>
          </a:p>
        </p:txBody>
      </p:sp>
      <p:graphicFrame>
        <p:nvGraphicFramePr>
          <p:cNvPr id="5"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2995468072"/>
              </p:ext>
            </p:extLst>
          </p:nvPr>
        </p:nvGraphicFramePr>
        <p:xfrm>
          <a:off x="342900" y="633438"/>
          <a:ext cx="11487148" cy="3124440"/>
        </p:xfrm>
        <a:graphic>
          <a:graphicData uri="http://schemas.openxmlformats.org/drawingml/2006/table">
            <a:tbl>
              <a:tblPr firstRow="1" bandRow="1">
                <a:tableStyleId>{5C22544A-7EE6-4342-B048-85BDC9FD1C3A}</a:tableStyleId>
              </a:tblPr>
              <a:tblGrid>
                <a:gridCol w="6829424">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2038349">
                  <a:extLst>
                    <a:ext uri="{9D8B030D-6E8A-4147-A177-3AD203B41FA5}">
                      <a16:colId xmlns:a16="http://schemas.microsoft.com/office/drawing/2014/main" val="20003"/>
                    </a:ext>
                  </a:extLst>
                </a:gridCol>
              </a:tblGrid>
              <a:tr h="549834">
                <a:tc>
                  <a:txBody>
                    <a:bodyPr/>
                    <a:lstStyle/>
                    <a:p>
                      <a:pPr algn="ctr">
                        <a:lnSpc>
                          <a:spcPct val="100000"/>
                        </a:lnSpc>
                      </a:pPr>
                      <a:r>
                        <a:rPr lang="en-IN" sz="1600" b="1" dirty="0">
                          <a:latin typeface="Times New Roman" pitchFamily="18" charset="0"/>
                          <a:cs typeface="Times New Roman" pitchFamily="18" charset="0"/>
                        </a:rPr>
                        <a:t>UNIT</a:t>
                      </a: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QUANTITY</a:t>
                      </a:r>
                      <a:endParaRPr lang="en-IN" sz="1600" b="1" dirty="0">
                        <a:latin typeface="Times New Roman" pitchFamily="18" charset="0"/>
                        <a:cs typeface="Times New Roman" pitchFamily="18" charset="0"/>
                      </a:endParaRPr>
                    </a:p>
                  </a:txBody>
                  <a:tcPr anchor="ctr"/>
                </a:tc>
                <a:tc>
                  <a:txBody>
                    <a:bodyPr/>
                    <a:lstStyle/>
                    <a:p>
                      <a:pPr lvl="0" algn="ctr">
                        <a:lnSpc>
                          <a:spcPct val="100000"/>
                        </a:lnSpc>
                        <a:spcAft>
                          <a:spcPts val="0"/>
                        </a:spcAft>
                        <a:tabLst>
                          <a:tab pos="3684905" algn="l"/>
                        </a:tabLst>
                      </a:pPr>
                      <a:r>
                        <a:rPr lang="en-US" sz="1600" b="1" dirty="0">
                          <a:effectLst/>
                          <a:latin typeface="Times New Roman" pitchFamily="18" charset="0"/>
                          <a:ea typeface="Calibri"/>
                          <a:cs typeface="Times New Roman" pitchFamily="18" charset="0"/>
                        </a:rPr>
                        <a:t>UNIT COST</a:t>
                      </a:r>
                      <a:endParaRPr lang="en-IN" sz="1600" b="1" dirty="0">
                        <a:effectLst/>
                        <a:latin typeface="Times New Roman" pitchFamily="18" charset="0"/>
                        <a:ea typeface="Calibri"/>
                        <a:cs typeface="Times New Roman" pitchFamily="18" charset="0"/>
                      </a:endParaRPr>
                    </a:p>
                  </a:txBody>
                  <a:tcPr marL="68580" marR="68580" marT="0" marB="0"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74133">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1200" b="1" kern="1200" dirty="0">
                          <a:solidFill>
                            <a:schemeClr val="dk1"/>
                          </a:solidFill>
                          <a:latin typeface="Times New Roman" pitchFamily="18" charset="0"/>
                          <a:ea typeface="+mn-ea"/>
                          <a:cs typeface="Times New Roman" pitchFamily="18" charset="0"/>
                        </a:rPr>
                        <a:t>WIRELESS SMART MOTOR CONTROLLER</a:t>
                      </a:r>
                      <a:endParaRPr kumimoji="0" lang="en-IN" sz="1200" b="1" kern="1200" dirty="0">
                        <a:solidFill>
                          <a:schemeClr val="dk1"/>
                        </a:solidFill>
                        <a:latin typeface="Times New Roman" pitchFamily="18" charset="0"/>
                        <a:ea typeface="+mn-ea"/>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a:t>
                      </a:r>
                      <a:endParaRPr lang="en-IN" sz="1200" b="1" dirty="0">
                        <a:latin typeface="Times New Roman" pitchFamily="18" charset="0"/>
                        <a:cs typeface="Times New Roman" pitchFamily="18" charset="0"/>
                      </a:endParaRPr>
                    </a:p>
                  </a:txBody>
                  <a:tcPr anchor="ctr"/>
                </a:tc>
                <a:tc>
                  <a:txBody>
                    <a:bodyPr/>
                    <a:lstStyle/>
                    <a:p>
                      <a:pPr algn="ctr"/>
                      <a:r>
                        <a:rPr lang="en-US" sz="1200" b="1" dirty="0">
                          <a:latin typeface="Times New Roman" pitchFamily="18" charset="0"/>
                          <a:cs typeface="Times New Roman" pitchFamily="18" charset="0"/>
                        </a:rPr>
                        <a:t>13,500</a:t>
                      </a:r>
                      <a:endParaRPr lang="en-IN" sz="1200" b="1" dirty="0">
                        <a:latin typeface="Times New Roman" pitchFamily="18" charset="0"/>
                        <a:cs typeface="Times New Roman" pitchFamily="18" charset="0"/>
                      </a:endParaRPr>
                    </a:p>
                  </a:txBody>
                  <a:tcPr anchor="ctr"/>
                </a:tc>
                <a:tc>
                  <a:txBody>
                    <a:bodyPr/>
                    <a:lstStyle/>
                    <a:p>
                      <a:pPr algn="ctr" rtl="0" fontAlgn="ctr"/>
                      <a:r>
                        <a:rPr lang="en-US" sz="1200" b="1" i="0" u="none" strike="noStrike" dirty="0">
                          <a:solidFill>
                            <a:schemeClr val="tx1"/>
                          </a:solidFill>
                          <a:effectLst/>
                          <a:latin typeface="Times New Roman"/>
                        </a:rPr>
                        <a:t>13,500</a:t>
                      </a:r>
                      <a:endParaRPr lang="en-IN" sz="1200" b="1" i="0" u="none" strike="noStrike" dirty="0">
                        <a:solidFill>
                          <a:schemeClr val="tx1"/>
                        </a:solidFill>
                        <a:effectLst/>
                        <a:latin typeface="Times New Roman"/>
                      </a:endParaRPr>
                    </a:p>
                  </a:txBody>
                  <a:tcPr marL="9525" marR="9525" marT="9525" marB="0" anchor="ctr"/>
                </a:tc>
                <a:extLst>
                  <a:ext uri="{0D108BD9-81ED-4DB2-BD59-A6C34878D82A}">
                    <a16:rowId xmlns:a16="http://schemas.microsoft.com/office/drawing/2014/main" val="10001"/>
                  </a:ext>
                </a:extLst>
              </a:tr>
              <a:tr h="410234">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200" b="1" dirty="0">
                          <a:latin typeface="Times New Roman" pitchFamily="18" charset="0"/>
                          <a:cs typeface="Times New Roman" pitchFamily="18" charset="0"/>
                        </a:rPr>
                        <a:t>HARDWARE</a:t>
                      </a:r>
                      <a:r>
                        <a:rPr lang="en-IN" sz="1200" b="1" baseline="0" dirty="0">
                          <a:latin typeface="Times New Roman" pitchFamily="18" charset="0"/>
                          <a:cs typeface="Times New Roman" pitchFamily="18" charset="0"/>
                        </a:rPr>
                        <a:t> INSTALLATION AND COMMISSIONING CHARGES</a:t>
                      </a:r>
                      <a:endParaRPr lang="en-IN" sz="1200" b="1" dirty="0">
                        <a:latin typeface="Times New Roman" pitchFamily="18" charset="0"/>
                        <a:cs typeface="Times New Roman" pitchFamily="18" charset="0"/>
                      </a:endParaRPr>
                    </a:p>
                  </a:txBody>
                  <a:tcPr anchor="ctr"/>
                </a:tc>
                <a:tc gridSpan="2">
                  <a:txBody>
                    <a:bodyPr/>
                    <a:lstStyle/>
                    <a:p>
                      <a:pPr algn="ctr"/>
                      <a:endParaRPr lang="en-IN" sz="1200" b="1" dirty="0">
                        <a:latin typeface="Times New Roman" pitchFamily="18" charset="0"/>
                        <a:cs typeface="Times New Roman" pitchFamily="18" charset="0"/>
                      </a:endParaRPr>
                    </a:p>
                  </a:txBody>
                  <a:tcPr anchor="ctr"/>
                </a:tc>
                <a:tc hMerge="1">
                  <a:txBody>
                    <a:bodyPr/>
                    <a:lstStyle/>
                    <a:p>
                      <a:endParaRPr lang="en-IN"/>
                    </a:p>
                  </a:txBody>
                  <a:tcPr/>
                </a:tc>
                <a:tc>
                  <a:txBody>
                    <a:bodyPr/>
                    <a:lstStyle/>
                    <a:p>
                      <a:pPr marL="0" algn="ctr" rtl="0" eaLnBrk="1" fontAlgn="ctr" latinLnBrk="0" hangingPunct="1"/>
                      <a:r>
                        <a:rPr kumimoji="0" lang="en-US" sz="1200" b="1" i="0" u="none" strike="noStrike" kern="1200" dirty="0">
                          <a:solidFill>
                            <a:srgbClr val="000000"/>
                          </a:solidFill>
                          <a:effectLst/>
                          <a:latin typeface="Times New Roman" pitchFamily="18" charset="0"/>
                          <a:ea typeface="+mn-ea"/>
                          <a:cs typeface="Times New Roman" pitchFamily="18" charset="0"/>
                        </a:rPr>
                        <a:t>2,000</a:t>
                      </a:r>
                      <a:endParaRPr kumimoji="0" lang="en-IN" sz="1200" b="1" i="0" u="none" strike="noStrike" kern="1200" dirty="0">
                        <a:solidFill>
                          <a:srgbClr val="000000"/>
                        </a:solidFill>
                        <a:effectLst/>
                        <a:latin typeface="Times New Roman" pitchFamily="18" charset="0"/>
                        <a:ea typeface="+mn-ea"/>
                        <a:cs typeface="Times New Roman" pitchFamily="18" charset="0"/>
                      </a:endParaRPr>
                    </a:p>
                  </a:txBody>
                  <a:tcPr marL="9525" marR="9525" marT="9525" marB="0" anchor="ctr"/>
                </a:tc>
                <a:extLst>
                  <a:ext uri="{0D108BD9-81ED-4DB2-BD59-A6C34878D82A}">
                    <a16:rowId xmlns:a16="http://schemas.microsoft.com/office/drawing/2014/main" val="10004"/>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IN" sz="1200" b="1" dirty="0">
                          <a:solidFill>
                            <a:srgbClr val="002060"/>
                          </a:solidFill>
                          <a:latin typeface="Times New Roman" pitchFamily="18" charset="0"/>
                          <a:cs typeface="Times New Roman" pitchFamily="18" charset="0"/>
                        </a:rPr>
                        <a:t>TOTAL</a:t>
                      </a:r>
                      <a:r>
                        <a:rPr lang="en-IN" sz="1200" b="1" baseline="0" dirty="0">
                          <a:solidFill>
                            <a:srgbClr val="002060"/>
                          </a:solidFill>
                          <a:latin typeface="Times New Roman" pitchFamily="18" charset="0"/>
                          <a:cs typeface="Times New Roman" pitchFamily="18" charset="0"/>
                        </a:rPr>
                        <a:t> COST WITHOUT TAX</a:t>
                      </a:r>
                      <a:endParaRPr lang="en-IN" sz="1200" b="1" dirty="0">
                        <a:solidFill>
                          <a:srgbClr val="002060"/>
                        </a:solidFill>
                        <a:latin typeface="Times New Roman" pitchFamily="18" charset="0"/>
                        <a:cs typeface="Times New Roman" pitchFamily="18" charset="0"/>
                      </a:endParaRPr>
                    </a:p>
                  </a:txBody>
                  <a:tcPr anchor="ctr"/>
                </a:tc>
                <a:tc hMerge="1">
                  <a:txBody>
                    <a:bodyPr/>
                    <a:lstStyle/>
                    <a:p>
                      <a:pPr algn="ctr"/>
                      <a:endParaRPr lang="en-IN" sz="2000" b="1" dirty="0">
                        <a:latin typeface="Calibri" pitchFamily="34" charset="0"/>
                        <a:cs typeface="Calibri" pitchFamily="34" charset="0"/>
                      </a:endParaRPr>
                    </a:p>
                  </a:txBody>
                  <a:tcPr/>
                </a:tc>
                <a:tc>
                  <a:txBody>
                    <a:bodyPr/>
                    <a:lstStyle/>
                    <a:p>
                      <a:pPr algn="ctr" fontAlgn="b"/>
                      <a:r>
                        <a:rPr lang="en-US" sz="1800" b="1" i="0" u="none" strike="noStrike" dirty="0">
                          <a:solidFill>
                            <a:srgbClr val="000000"/>
                          </a:solidFill>
                          <a:effectLst/>
                          <a:latin typeface="Times New Roman" panose="02020603050405020304" pitchFamily="18" charset="0"/>
                        </a:rPr>
                        <a:t>15,500</a:t>
                      </a:r>
                      <a:endParaRPr lang="en-IN" sz="1800" b="1" i="0" u="none" strike="noStrike" dirty="0">
                        <a:solidFill>
                          <a:srgbClr val="000000"/>
                        </a:solidFill>
                        <a:effectLst/>
                        <a:latin typeface="Times New Roman" panose="02020603050405020304" pitchFamily="18" charset="0"/>
                      </a:endParaRPr>
                    </a:p>
                  </a:txBody>
                  <a:tcPr marL="9525" marR="9525" marT="9525" marB="0" anchor="ctr">
                    <a:solidFill>
                      <a:srgbClr val="00B050"/>
                    </a:solidFill>
                  </a:tcPr>
                </a:tc>
                <a:extLst>
                  <a:ext uri="{0D108BD9-81ED-4DB2-BD59-A6C34878D82A}">
                    <a16:rowId xmlns:a16="http://schemas.microsoft.com/office/drawing/2014/main" val="10009"/>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GST 18%</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US" sz="1800" b="1" i="0" u="none" strike="noStrike" dirty="0">
                          <a:solidFill>
                            <a:srgbClr val="000000"/>
                          </a:solidFill>
                          <a:effectLst/>
                          <a:latin typeface="Times New Roman" panose="02020603050405020304" pitchFamily="18" charset="0"/>
                        </a:rPr>
                        <a:t>2,790</a:t>
                      </a:r>
                      <a:endParaRPr lang="en-IN" sz="1800" b="1" i="0" u="none" strike="noStrike" dirty="0">
                        <a:solidFill>
                          <a:srgbClr val="000000"/>
                        </a:solidFill>
                        <a:effectLst/>
                        <a:latin typeface="Times New Roman" panose="02020603050405020304" pitchFamily="18" charset="0"/>
                      </a:endParaRPr>
                    </a:p>
                  </a:txBody>
                  <a:tcPr marL="9525" marR="9525" marT="9525" marB="0" anchor="ctr">
                    <a:solidFill>
                      <a:srgbClr val="00B050"/>
                    </a:solidFill>
                  </a:tcPr>
                </a:tc>
                <a:extLst>
                  <a:ext uri="{0D108BD9-81ED-4DB2-BD59-A6C34878D82A}">
                    <a16:rowId xmlns:a16="http://schemas.microsoft.com/office/drawing/2014/main" val="1484589417"/>
                  </a:ext>
                </a:extLst>
              </a:tr>
              <a:tr h="563413">
                <a:tc>
                  <a:txBody>
                    <a:bodyPr/>
                    <a:lstStyle/>
                    <a:p>
                      <a:pPr algn="ctr"/>
                      <a:endParaRPr lang="en-IN" sz="1400" b="1" dirty="0">
                        <a:latin typeface="Times New Roman" pitchFamily="18" charset="0"/>
                        <a:cs typeface="Times New Roman" pitchFamily="18" charset="0"/>
                      </a:endParaRPr>
                    </a:p>
                  </a:txBody>
                  <a:tcPr anchor="ctr"/>
                </a:tc>
                <a:tc gridSpan="2">
                  <a:txBody>
                    <a:bodyPr/>
                    <a:lstStyle/>
                    <a:p>
                      <a:pPr algn="r"/>
                      <a:r>
                        <a:rPr lang="en-US" sz="1200" b="1" dirty="0">
                          <a:solidFill>
                            <a:srgbClr val="002060"/>
                          </a:solidFill>
                          <a:latin typeface="Times New Roman" pitchFamily="18" charset="0"/>
                          <a:cs typeface="Times New Roman" pitchFamily="18" charset="0"/>
                        </a:rPr>
                        <a:t>TOTAL COST WITH TAX</a:t>
                      </a:r>
                      <a:endParaRPr lang="en-IN" sz="1200" b="1" dirty="0">
                        <a:solidFill>
                          <a:srgbClr val="002060"/>
                        </a:solidFill>
                        <a:latin typeface="Times New Roman" pitchFamily="18" charset="0"/>
                        <a:cs typeface="Times New Roman" pitchFamily="18" charset="0"/>
                      </a:endParaRPr>
                    </a:p>
                  </a:txBody>
                  <a:tcPr anchor="ctr"/>
                </a:tc>
                <a:tc hMerge="1">
                  <a:txBody>
                    <a:bodyPr/>
                    <a:lstStyle/>
                    <a:p>
                      <a:endParaRPr lang="en-IN"/>
                    </a:p>
                  </a:txBody>
                  <a:tcPr/>
                </a:tc>
                <a:tc>
                  <a:txBody>
                    <a:bodyPr/>
                    <a:lstStyle/>
                    <a:p>
                      <a:pPr algn="ctr" fontAlgn="b"/>
                      <a:r>
                        <a:rPr lang="en-IN" sz="1800" b="1" i="0" u="none" strike="noStrike" dirty="0">
                          <a:solidFill>
                            <a:srgbClr val="000000"/>
                          </a:solidFill>
                          <a:effectLst/>
                          <a:latin typeface="Times New Roman" panose="02020603050405020304" pitchFamily="18" charset="0"/>
                        </a:rPr>
                        <a:t>18,290</a:t>
                      </a:r>
                    </a:p>
                  </a:txBody>
                  <a:tcPr marL="9525" marR="9525" marT="9525" marB="0" anchor="ctr">
                    <a:solidFill>
                      <a:srgbClr val="00B050"/>
                    </a:solidFill>
                  </a:tcPr>
                </a:tc>
                <a:extLst>
                  <a:ext uri="{0D108BD9-81ED-4DB2-BD59-A6C34878D82A}">
                    <a16:rowId xmlns:a16="http://schemas.microsoft.com/office/drawing/2014/main" val="2984850862"/>
                  </a:ext>
                </a:extLst>
              </a:tr>
            </a:tbl>
          </a:graphicData>
        </a:graphic>
      </p:graphicFrame>
      <p:pic>
        <p:nvPicPr>
          <p:cNvPr id="6"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1108267" y="6176457"/>
            <a:ext cx="818090" cy="402811"/>
          </a:xfrm>
          <a:prstGeom prst="rect">
            <a:avLst/>
          </a:prstGeom>
          <a:noFill/>
        </p:spPr>
      </p:pic>
      <p:sp>
        <p:nvSpPr>
          <p:cNvPr id="2" name="Rectangle 1">
            <a:extLst>
              <a:ext uri="{FF2B5EF4-FFF2-40B4-BE49-F238E27FC236}">
                <a16:creationId xmlns:a16="http://schemas.microsoft.com/office/drawing/2014/main" id="{5BF6CB95-CCDB-3516-7C8D-8C7224407B84}"/>
              </a:ext>
            </a:extLst>
          </p:cNvPr>
          <p:cNvSpPr/>
          <p:nvPr/>
        </p:nvSpPr>
        <p:spPr>
          <a:xfrm>
            <a:off x="515342" y="3714097"/>
            <a:ext cx="10941746" cy="3042949"/>
          </a:xfrm>
          <a:prstGeom prst="rect">
            <a:avLst/>
          </a:prstGeom>
        </p:spPr>
        <p:txBody>
          <a:bodyPr wrap="square">
            <a:spAutoFit/>
          </a:bodyPr>
          <a:lstStyle/>
          <a:p>
            <a:pPr>
              <a:lnSpc>
                <a:spcPct val="200000"/>
              </a:lnSpc>
            </a:pPr>
            <a:r>
              <a:rPr lang="en-US" sz="1400" b="1" u="sng" dirty="0">
                <a:solidFill>
                  <a:srgbClr val="FF0000"/>
                </a:solidFill>
                <a:latin typeface="Times New Roman" pitchFamily="18" charset="0"/>
                <a:cs typeface="Times New Roman" pitchFamily="18" charset="0"/>
              </a:rPr>
              <a:t>TEAMS &amp; CONDITIONS:</a:t>
            </a:r>
          </a:p>
          <a:p>
            <a:pPr>
              <a:lnSpc>
                <a:spcPct val="200000"/>
              </a:lnSpc>
            </a:pPr>
            <a:r>
              <a:rPr lang="en-US" sz="1400" b="1" dirty="0">
                <a:latin typeface="Times New Roman" pitchFamily="18" charset="0"/>
                <a:cs typeface="Times New Roman" pitchFamily="18" charset="0"/>
              </a:rPr>
              <a:t>1. Payment: 100% in advance with PO.</a:t>
            </a:r>
          </a:p>
          <a:p>
            <a:pPr>
              <a:lnSpc>
                <a:spcPct val="200000"/>
              </a:lnSpc>
            </a:pPr>
            <a:r>
              <a:rPr lang="en-US" sz="1400" dirty="0">
                <a:latin typeface="Times New Roman" pitchFamily="18" charset="0"/>
                <a:cs typeface="Times New Roman" pitchFamily="18" charset="0"/>
              </a:rPr>
              <a:t>2. Delivery: 3 -4 Weeks against PO.</a:t>
            </a:r>
          </a:p>
          <a:p>
            <a:pPr>
              <a:lnSpc>
                <a:spcPct val="200000"/>
              </a:lnSpc>
            </a:pPr>
            <a:r>
              <a:rPr lang="en-US" sz="1400" b="1" dirty="0">
                <a:latin typeface="Times New Roman" pitchFamily="18" charset="0"/>
                <a:cs typeface="Times New Roman" pitchFamily="18" charset="0"/>
              </a:rPr>
              <a:t>3. Warranty: One year from the date of Commissioning.</a:t>
            </a:r>
          </a:p>
          <a:p>
            <a:pPr>
              <a:lnSpc>
                <a:spcPct val="200000"/>
              </a:lnSpc>
            </a:pPr>
            <a:r>
              <a:rPr lang="en-US" sz="1400" dirty="0">
                <a:latin typeface="Times New Roman" pitchFamily="18" charset="0"/>
                <a:cs typeface="Times New Roman" pitchFamily="18" charset="0"/>
              </a:rPr>
              <a:t>4. No warranty for products failure under High Voltage &amp; Natural disasters.</a:t>
            </a:r>
          </a:p>
          <a:p>
            <a:pPr>
              <a:lnSpc>
                <a:spcPct val="200000"/>
              </a:lnSpc>
            </a:pPr>
            <a:r>
              <a:rPr lang="en-US" sz="1400" b="1" dirty="0">
                <a:latin typeface="Times New Roman" pitchFamily="18" charset="0"/>
                <a:cs typeface="Times New Roman" pitchFamily="18" charset="0"/>
              </a:rPr>
              <a:t>7. AMC would be 15% of the total value post-warranty</a:t>
            </a:r>
            <a:r>
              <a:rPr lang="en-US" sz="1400" dirty="0">
                <a:latin typeface="Times New Roman" pitchFamily="18" charset="0"/>
                <a:cs typeface="Times New Roman" pitchFamily="18" charset="0"/>
              </a:rPr>
              <a:t>.</a:t>
            </a:r>
          </a:p>
          <a:p>
            <a:pPr>
              <a:lnSpc>
                <a:spcPct val="200000"/>
              </a:lnSpc>
            </a:pPr>
            <a:r>
              <a:rPr lang="en-US" sz="1400" dirty="0">
                <a:latin typeface="Times New Roman" pitchFamily="18" charset="0"/>
                <a:cs typeface="Times New Roman" pitchFamily="18" charset="0"/>
              </a:rPr>
              <a:t>8. Quotation Valid for 30 days.</a:t>
            </a:r>
            <a:endParaRPr lang="en-IN" sz="1400" dirty="0">
              <a:latin typeface="Times New Roman" pitchFamily="18" charset="0"/>
              <a:cs typeface="Times New Roman" pitchFamily="18" charset="0"/>
            </a:endParaRPr>
          </a:p>
        </p:txBody>
      </p:sp>
    </p:spTree>
    <p:extLst>
      <p:ext uri="{BB962C8B-B14F-4D97-AF65-F5344CB8AC3E}">
        <p14:creationId xmlns:p14="http://schemas.microsoft.com/office/powerpoint/2010/main" val="1421472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p:cNvSpPr txBox="1">
            <a:spLocks/>
          </p:cNvSpPr>
          <p:nvPr/>
        </p:nvSpPr>
        <p:spPr>
          <a:xfrm>
            <a:off x="290685" y="213728"/>
            <a:ext cx="11673428"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1800" b="1" u="sng" dirty="0">
                <a:solidFill>
                  <a:srgbClr val="FF0000"/>
                </a:solidFill>
                <a:latin typeface="Times New Roman" pitchFamily="18" charset="0"/>
                <a:cs typeface="Times New Roman" pitchFamily="18" charset="0"/>
              </a:rPr>
              <a:t>FULLY AUTOMATION – </a:t>
            </a:r>
            <a:r>
              <a:rPr lang="en-US" sz="1800" b="1" u="sng" dirty="0">
                <a:solidFill>
                  <a:srgbClr val="002060"/>
                </a:solidFill>
                <a:latin typeface="Times New Roman" pitchFamily="18" charset="0"/>
                <a:cs typeface="Times New Roman" pitchFamily="18" charset="0"/>
              </a:rPr>
              <a:t>BORE 1 &amp; 2 TO MAIN SUMP, MAIN SUMP TO 3 OHT TANKS, MAIN SUMP TO 6 OHT TANKS &amp; 1 TANK MONITORING ONLY</a:t>
            </a:r>
            <a:endParaRPr lang="en-US" sz="1800" b="1" u="sng" dirty="0">
              <a:solidFill>
                <a:schemeClr val="tx1"/>
              </a:solidFill>
              <a:latin typeface="Times New Roman" pitchFamily="18" charset="0"/>
              <a:cs typeface="Times New Roman" pitchFamily="18" charset="0"/>
            </a:endParaRPr>
          </a:p>
        </p:txBody>
      </p:sp>
      <p:sp>
        <p:nvSpPr>
          <p:cNvPr id="21" name="Flowchart: Process 20">
            <a:extLst>
              <a:ext uri="{FF2B5EF4-FFF2-40B4-BE49-F238E27FC236}">
                <a16:creationId xmlns:a16="http://schemas.microsoft.com/office/drawing/2014/main" id="{B13D8400-58C8-7C71-980E-922A2EA8D5B9}"/>
              </a:ext>
            </a:extLst>
          </p:cNvPr>
          <p:cNvSpPr/>
          <p:nvPr/>
        </p:nvSpPr>
        <p:spPr>
          <a:xfrm rot="16200000">
            <a:off x="2388497" y="6127019"/>
            <a:ext cx="276906" cy="909439"/>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000" b="1" dirty="0">
                <a:solidFill>
                  <a:schemeClr val="bg1"/>
                </a:solidFill>
                <a:latin typeface="Times New Roman" panose="02020603050405020304" pitchFamily="18" charset="0"/>
                <a:cs typeface="Times New Roman" panose="02020603050405020304" pitchFamily="18" charset="0"/>
              </a:rPr>
              <a:t>MAIN SUMP</a:t>
            </a:r>
          </a:p>
        </p:txBody>
      </p:sp>
      <p:cxnSp>
        <p:nvCxnSpPr>
          <p:cNvPr id="47" name="Straight Connector 46">
            <a:extLst>
              <a:ext uri="{FF2B5EF4-FFF2-40B4-BE49-F238E27FC236}">
                <a16:creationId xmlns:a16="http://schemas.microsoft.com/office/drawing/2014/main" id="{E4D864A8-6DDC-99CB-9B0A-FBE2E0AA7B37}"/>
              </a:ext>
            </a:extLst>
          </p:cNvPr>
          <p:cNvCxnSpPr>
            <a:cxnSpLocks/>
          </p:cNvCxnSpPr>
          <p:nvPr/>
        </p:nvCxnSpPr>
        <p:spPr>
          <a:xfrm>
            <a:off x="1977528" y="820396"/>
            <a:ext cx="0" cy="425320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pic>
        <p:nvPicPr>
          <p:cNvPr id="4" name="Picture 3" descr="A concrete square box with a pipe in it&#10;&#10;AI-generated content may be incorrect.">
            <a:extLst>
              <a:ext uri="{FF2B5EF4-FFF2-40B4-BE49-F238E27FC236}">
                <a16:creationId xmlns:a16="http://schemas.microsoft.com/office/drawing/2014/main" id="{EE1EB89D-2D64-797A-77FA-D04C18D4DF5A}"/>
              </a:ext>
            </a:extLst>
          </p:cNvPr>
          <p:cNvPicPr>
            <a:picLocks noChangeAspect="1"/>
          </p:cNvPicPr>
          <p:nvPr/>
        </p:nvPicPr>
        <p:blipFill>
          <a:blip r:embed="rId2">
            <a:extLst>
              <a:ext uri="{28A0092B-C50C-407E-A947-70E740481C1C}">
                <a14:useLocalDpi xmlns:a14="http://schemas.microsoft.com/office/drawing/2010/main" val="0"/>
              </a:ext>
            </a:extLst>
          </a:blip>
          <a:srcRect l="20752" t="27884" r="17619"/>
          <a:stretch/>
        </p:blipFill>
        <p:spPr>
          <a:xfrm>
            <a:off x="1781391" y="5031077"/>
            <a:ext cx="1483101" cy="1360929"/>
          </a:xfrm>
          <a:prstGeom prst="rect">
            <a:avLst/>
          </a:prstGeom>
        </p:spPr>
      </p:pic>
      <p:sp>
        <p:nvSpPr>
          <p:cNvPr id="6" name="Flowchart: Process 5">
            <a:extLst>
              <a:ext uri="{FF2B5EF4-FFF2-40B4-BE49-F238E27FC236}">
                <a16:creationId xmlns:a16="http://schemas.microsoft.com/office/drawing/2014/main" id="{AF696676-5EFB-A7A0-8D88-6CB73B1AC898}"/>
              </a:ext>
            </a:extLst>
          </p:cNvPr>
          <p:cNvSpPr/>
          <p:nvPr/>
        </p:nvSpPr>
        <p:spPr>
          <a:xfrm>
            <a:off x="2586205" y="4760941"/>
            <a:ext cx="351219"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LLS</a:t>
            </a:r>
          </a:p>
        </p:txBody>
      </p:sp>
      <p:pic>
        <p:nvPicPr>
          <p:cNvPr id="8" name="Picture 7">
            <a:extLst>
              <a:ext uri="{FF2B5EF4-FFF2-40B4-BE49-F238E27FC236}">
                <a16:creationId xmlns:a16="http://schemas.microsoft.com/office/drawing/2014/main" id="{3BA4811D-9005-5F3B-4185-3588C55F05B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165906" y="5015248"/>
            <a:ext cx="818091" cy="669873"/>
          </a:xfrm>
          <a:prstGeom prst="rect">
            <a:avLst/>
          </a:prstGeom>
        </p:spPr>
      </p:pic>
      <p:pic>
        <p:nvPicPr>
          <p:cNvPr id="9" name="Picture 8">
            <a:extLst>
              <a:ext uri="{FF2B5EF4-FFF2-40B4-BE49-F238E27FC236}">
                <a16:creationId xmlns:a16="http://schemas.microsoft.com/office/drawing/2014/main" id="{696D5097-FCD7-E20F-60B5-8686967E8AC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04" t="8515" r="7806"/>
          <a:stretch/>
        </p:blipFill>
        <p:spPr>
          <a:xfrm>
            <a:off x="165905" y="5804230"/>
            <a:ext cx="818091" cy="669873"/>
          </a:xfrm>
          <a:prstGeom prst="rect">
            <a:avLst/>
          </a:prstGeom>
        </p:spPr>
      </p:pic>
      <p:cxnSp>
        <p:nvCxnSpPr>
          <p:cNvPr id="10" name="Straight Connector 9">
            <a:extLst>
              <a:ext uri="{FF2B5EF4-FFF2-40B4-BE49-F238E27FC236}">
                <a16:creationId xmlns:a16="http://schemas.microsoft.com/office/drawing/2014/main" id="{17CC7EE8-A2F0-23E0-8AAE-480B94A78EE0}"/>
              </a:ext>
            </a:extLst>
          </p:cNvPr>
          <p:cNvCxnSpPr>
            <a:cxnSpLocks/>
          </p:cNvCxnSpPr>
          <p:nvPr/>
        </p:nvCxnSpPr>
        <p:spPr>
          <a:xfrm flipH="1">
            <a:off x="975450" y="5350182"/>
            <a:ext cx="635886"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 name="Isosceles Triangle 12">
            <a:extLst>
              <a:ext uri="{FF2B5EF4-FFF2-40B4-BE49-F238E27FC236}">
                <a16:creationId xmlns:a16="http://schemas.microsoft.com/office/drawing/2014/main" id="{4525DA46-90CC-0A30-E0AE-79BD797C7E9B}"/>
              </a:ext>
            </a:extLst>
          </p:cNvPr>
          <p:cNvSpPr/>
          <p:nvPr/>
        </p:nvSpPr>
        <p:spPr>
          <a:xfrm rot="16200000" flipH="1" flipV="1">
            <a:off x="1600850" y="5256608"/>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4" name="Straight Connector 13">
            <a:extLst>
              <a:ext uri="{FF2B5EF4-FFF2-40B4-BE49-F238E27FC236}">
                <a16:creationId xmlns:a16="http://schemas.microsoft.com/office/drawing/2014/main" id="{7C9F24D8-F178-6CA2-A903-01CF6377CA1C}"/>
              </a:ext>
            </a:extLst>
          </p:cNvPr>
          <p:cNvCxnSpPr>
            <a:cxnSpLocks/>
          </p:cNvCxnSpPr>
          <p:nvPr/>
        </p:nvCxnSpPr>
        <p:spPr>
          <a:xfrm flipH="1">
            <a:off x="983996" y="6129678"/>
            <a:ext cx="627340"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 name="Isosceles Triangle 14">
            <a:extLst>
              <a:ext uri="{FF2B5EF4-FFF2-40B4-BE49-F238E27FC236}">
                <a16:creationId xmlns:a16="http://schemas.microsoft.com/office/drawing/2014/main" id="{2751891C-8990-5711-4619-BFC5224184C2}"/>
              </a:ext>
            </a:extLst>
          </p:cNvPr>
          <p:cNvSpPr/>
          <p:nvPr/>
        </p:nvSpPr>
        <p:spPr>
          <a:xfrm rot="16200000" flipH="1" flipV="1">
            <a:off x="1609396" y="6036104"/>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Process 16">
            <a:extLst>
              <a:ext uri="{FF2B5EF4-FFF2-40B4-BE49-F238E27FC236}">
                <a16:creationId xmlns:a16="http://schemas.microsoft.com/office/drawing/2014/main" id="{5DC3173D-D8B5-3E02-DBFA-58915A957012}"/>
              </a:ext>
            </a:extLst>
          </p:cNvPr>
          <p:cNvSpPr/>
          <p:nvPr/>
        </p:nvSpPr>
        <p:spPr>
          <a:xfrm>
            <a:off x="1006315" y="4837784"/>
            <a:ext cx="385814"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SMC</a:t>
            </a:r>
          </a:p>
        </p:txBody>
      </p:sp>
      <p:sp>
        <p:nvSpPr>
          <p:cNvPr id="18" name="Flowchart: Process 17">
            <a:extLst>
              <a:ext uri="{FF2B5EF4-FFF2-40B4-BE49-F238E27FC236}">
                <a16:creationId xmlns:a16="http://schemas.microsoft.com/office/drawing/2014/main" id="{6A692FE3-FA77-181A-C2E9-2D8AF8033C3D}"/>
              </a:ext>
            </a:extLst>
          </p:cNvPr>
          <p:cNvSpPr/>
          <p:nvPr/>
        </p:nvSpPr>
        <p:spPr>
          <a:xfrm>
            <a:off x="1006316" y="6377862"/>
            <a:ext cx="385814"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SMC</a:t>
            </a:r>
          </a:p>
        </p:txBody>
      </p:sp>
      <p:sp>
        <p:nvSpPr>
          <p:cNvPr id="19" name="Flowchart: Process 18">
            <a:extLst>
              <a:ext uri="{FF2B5EF4-FFF2-40B4-BE49-F238E27FC236}">
                <a16:creationId xmlns:a16="http://schemas.microsoft.com/office/drawing/2014/main" id="{22FA119F-11E0-E76E-70F5-3326E04A618D}"/>
              </a:ext>
            </a:extLst>
          </p:cNvPr>
          <p:cNvSpPr/>
          <p:nvPr/>
        </p:nvSpPr>
        <p:spPr>
          <a:xfrm>
            <a:off x="2586206" y="4478680"/>
            <a:ext cx="339426"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M</a:t>
            </a:r>
          </a:p>
        </p:txBody>
      </p:sp>
      <p:cxnSp>
        <p:nvCxnSpPr>
          <p:cNvPr id="22" name="Straight Connector 21">
            <a:extLst>
              <a:ext uri="{FF2B5EF4-FFF2-40B4-BE49-F238E27FC236}">
                <a16:creationId xmlns:a16="http://schemas.microsoft.com/office/drawing/2014/main" id="{5767969C-3B22-91DC-23E8-9FCFA589E366}"/>
              </a:ext>
            </a:extLst>
          </p:cNvPr>
          <p:cNvCxnSpPr>
            <a:cxnSpLocks/>
          </p:cNvCxnSpPr>
          <p:nvPr/>
        </p:nvCxnSpPr>
        <p:spPr>
          <a:xfrm>
            <a:off x="617403" y="827894"/>
            <a:ext cx="1377217"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4" name="Flowchart: Process 23">
            <a:extLst>
              <a:ext uri="{FF2B5EF4-FFF2-40B4-BE49-F238E27FC236}">
                <a16:creationId xmlns:a16="http://schemas.microsoft.com/office/drawing/2014/main" id="{6EFDEACF-0E81-E8BB-4457-A85D7872A2E5}"/>
              </a:ext>
            </a:extLst>
          </p:cNvPr>
          <p:cNvSpPr/>
          <p:nvPr/>
        </p:nvSpPr>
        <p:spPr>
          <a:xfrm rot="16200000">
            <a:off x="432123" y="2547176"/>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MAIN OHT TANK </a:t>
            </a:r>
          </a:p>
        </p:txBody>
      </p:sp>
      <p:cxnSp>
        <p:nvCxnSpPr>
          <p:cNvPr id="25" name="Straight Connector 24">
            <a:extLst>
              <a:ext uri="{FF2B5EF4-FFF2-40B4-BE49-F238E27FC236}">
                <a16:creationId xmlns:a16="http://schemas.microsoft.com/office/drawing/2014/main" id="{8FC9A728-CA45-005D-8C49-80456244C43B}"/>
              </a:ext>
            </a:extLst>
          </p:cNvPr>
          <p:cNvCxnSpPr>
            <a:cxnSpLocks/>
          </p:cNvCxnSpPr>
          <p:nvPr/>
        </p:nvCxnSpPr>
        <p:spPr>
          <a:xfrm>
            <a:off x="617403" y="810802"/>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26" name="Isosceles Triangle 25">
            <a:extLst>
              <a:ext uri="{FF2B5EF4-FFF2-40B4-BE49-F238E27FC236}">
                <a16:creationId xmlns:a16="http://schemas.microsoft.com/office/drawing/2014/main" id="{65454581-828A-DF14-A41F-3D68F101ACCD}"/>
              </a:ext>
            </a:extLst>
          </p:cNvPr>
          <p:cNvSpPr/>
          <p:nvPr/>
        </p:nvSpPr>
        <p:spPr>
          <a:xfrm flipH="1" flipV="1">
            <a:off x="538981" y="143587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Flowchart: Process 26">
            <a:extLst>
              <a:ext uri="{FF2B5EF4-FFF2-40B4-BE49-F238E27FC236}">
                <a16:creationId xmlns:a16="http://schemas.microsoft.com/office/drawing/2014/main" id="{6EBCECB3-2BF2-3AFA-5904-FA6CD223EC51}"/>
              </a:ext>
            </a:extLst>
          </p:cNvPr>
          <p:cNvSpPr/>
          <p:nvPr/>
        </p:nvSpPr>
        <p:spPr>
          <a:xfrm>
            <a:off x="789493" y="1330878"/>
            <a:ext cx="374044"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LLS</a:t>
            </a:r>
          </a:p>
        </p:txBody>
      </p:sp>
      <p:sp>
        <p:nvSpPr>
          <p:cNvPr id="28" name="Flowchart: Process 27">
            <a:extLst>
              <a:ext uri="{FF2B5EF4-FFF2-40B4-BE49-F238E27FC236}">
                <a16:creationId xmlns:a16="http://schemas.microsoft.com/office/drawing/2014/main" id="{6CCD20B3-552A-4F66-C379-AB5E43A947C9}"/>
              </a:ext>
            </a:extLst>
          </p:cNvPr>
          <p:cNvSpPr/>
          <p:nvPr/>
        </p:nvSpPr>
        <p:spPr>
          <a:xfrm>
            <a:off x="789492" y="1041201"/>
            <a:ext cx="441102" cy="25940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DWG</a:t>
            </a:r>
          </a:p>
        </p:txBody>
      </p:sp>
      <p:pic>
        <p:nvPicPr>
          <p:cNvPr id="29" name="Picture 28" descr="A water drop in a container&#10;&#10;AI-generated content may be incorrect.">
            <a:extLst>
              <a:ext uri="{FF2B5EF4-FFF2-40B4-BE49-F238E27FC236}">
                <a16:creationId xmlns:a16="http://schemas.microsoft.com/office/drawing/2014/main" id="{1B7173C4-E230-02AB-6889-83A0560E6045}"/>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290684" y="1623019"/>
            <a:ext cx="673346" cy="1140899"/>
          </a:xfrm>
          <a:prstGeom prst="rect">
            <a:avLst/>
          </a:prstGeom>
        </p:spPr>
      </p:pic>
      <p:cxnSp>
        <p:nvCxnSpPr>
          <p:cNvPr id="34" name="Straight Connector 33">
            <a:extLst>
              <a:ext uri="{FF2B5EF4-FFF2-40B4-BE49-F238E27FC236}">
                <a16:creationId xmlns:a16="http://schemas.microsoft.com/office/drawing/2014/main" id="{B995A4DF-7A69-3085-9373-252D841A3D8F}"/>
              </a:ext>
            </a:extLst>
          </p:cNvPr>
          <p:cNvCxnSpPr>
            <a:cxnSpLocks/>
          </p:cNvCxnSpPr>
          <p:nvPr/>
        </p:nvCxnSpPr>
        <p:spPr>
          <a:xfrm>
            <a:off x="2523035" y="777870"/>
            <a:ext cx="0" cy="4253207"/>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4988D28B-C298-D376-BD67-FC3B1BD2D0C9}"/>
              </a:ext>
            </a:extLst>
          </p:cNvPr>
          <p:cNvCxnSpPr>
            <a:cxnSpLocks/>
          </p:cNvCxnSpPr>
          <p:nvPr/>
        </p:nvCxnSpPr>
        <p:spPr>
          <a:xfrm>
            <a:off x="2506024" y="793576"/>
            <a:ext cx="8392088" cy="17226"/>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7" name="Flowchart: Process 36">
            <a:extLst>
              <a:ext uri="{FF2B5EF4-FFF2-40B4-BE49-F238E27FC236}">
                <a16:creationId xmlns:a16="http://schemas.microsoft.com/office/drawing/2014/main" id="{B130B116-EB64-C189-1564-99372709DBFC}"/>
              </a:ext>
            </a:extLst>
          </p:cNvPr>
          <p:cNvSpPr/>
          <p:nvPr/>
        </p:nvSpPr>
        <p:spPr>
          <a:xfrm rot="16200000">
            <a:off x="6036742" y="2520111"/>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ADMIN BLOCK OHT TANK</a:t>
            </a:r>
          </a:p>
        </p:txBody>
      </p:sp>
      <p:cxnSp>
        <p:nvCxnSpPr>
          <p:cNvPr id="38" name="Straight Connector 37">
            <a:extLst>
              <a:ext uri="{FF2B5EF4-FFF2-40B4-BE49-F238E27FC236}">
                <a16:creationId xmlns:a16="http://schemas.microsoft.com/office/drawing/2014/main" id="{23E563AF-D204-3AA7-A876-7ED2BBA88BE4}"/>
              </a:ext>
            </a:extLst>
          </p:cNvPr>
          <p:cNvCxnSpPr>
            <a:cxnSpLocks/>
          </p:cNvCxnSpPr>
          <p:nvPr/>
        </p:nvCxnSpPr>
        <p:spPr>
          <a:xfrm>
            <a:off x="6222022" y="792283"/>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39" name="Isosceles Triangle 38">
            <a:extLst>
              <a:ext uri="{FF2B5EF4-FFF2-40B4-BE49-F238E27FC236}">
                <a16:creationId xmlns:a16="http://schemas.microsoft.com/office/drawing/2014/main" id="{3891245B-0914-3BD8-AB9F-571DC01556F6}"/>
              </a:ext>
            </a:extLst>
          </p:cNvPr>
          <p:cNvSpPr/>
          <p:nvPr/>
        </p:nvSpPr>
        <p:spPr>
          <a:xfrm flipH="1" flipV="1">
            <a:off x="6143600" y="1417353"/>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5" name="Picture 44" descr="A water drop in a container&#10;&#10;AI-generated content may be incorrect.">
            <a:extLst>
              <a:ext uri="{FF2B5EF4-FFF2-40B4-BE49-F238E27FC236}">
                <a16:creationId xmlns:a16="http://schemas.microsoft.com/office/drawing/2014/main" id="{E41AE0B7-5FD7-8880-F987-265ADF59A957}"/>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5886757" y="1587408"/>
            <a:ext cx="673346" cy="1140899"/>
          </a:xfrm>
          <a:prstGeom prst="rect">
            <a:avLst/>
          </a:prstGeom>
        </p:spPr>
      </p:pic>
      <p:sp>
        <p:nvSpPr>
          <p:cNvPr id="46" name="Flowchart: Process 45">
            <a:extLst>
              <a:ext uri="{FF2B5EF4-FFF2-40B4-BE49-F238E27FC236}">
                <a16:creationId xmlns:a16="http://schemas.microsoft.com/office/drawing/2014/main" id="{68868A2C-D552-96BF-0C4D-74CD081C31F9}"/>
              </a:ext>
            </a:extLst>
          </p:cNvPr>
          <p:cNvSpPr/>
          <p:nvPr/>
        </p:nvSpPr>
        <p:spPr>
          <a:xfrm rot="16200000">
            <a:off x="8411049" y="2518685"/>
            <a:ext cx="377039" cy="909476"/>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A BLOCK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cxnSp>
        <p:nvCxnSpPr>
          <p:cNvPr id="48" name="Straight Connector 47">
            <a:extLst>
              <a:ext uri="{FF2B5EF4-FFF2-40B4-BE49-F238E27FC236}">
                <a16:creationId xmlns:a16="http://schemas.microsoft.com/office/drawing/2014/main" id="{B514A3DF-6D58-52D0-002F-82FC787A5F80}"/>
              </a:ext>
            </a:extLst>
          </p:cNvPr>
          <p:cNvCxnSpPr>
            <a:cxnSpLocks/>
          </p:cNvCxnSpPr>
          <p:nvPr/>
        </p:nvCxnSpPr>
        <p:spPr>
          <a:xfrm>
            <a:off x="8596329" y="790857"/>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49" name="Isosceles Triangle 48">
            <a:extLst>
              <a:ext uri="{FF2B5EF4-FFF2-40B4-BE49-F238E27FC236}">
                <a16:creationId xmlns:a16="http://schemas.microsoft.com/office/drawing/2014/main" id="{831380A4-B2E2-1340-9670-F81B63EB58FD}"/>
              </a:ext>
            </a:extLst>
          </p:cNvPr>
          <p:cNvSpPr/>
          <p:nvPr/>
        </p:nvSpPr>
        <p:spPr>
          <a:xfrm flipH="1" flipV="1">
            <a:off x="8517907" y="1415927"/>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2" name="Picture 51" descr="A water drop in a container&#10;&#10;AI-generated content may be incorrect.">
            <a:extLst>
              <a:ext uri="{FF2B5EF4-FFF2-40B4-BE49-F238E27FC236}">
                <a16:creationId xmlns:a16="http://schemas.microsoft.com/office/drawing/2014/main" id="{5E68B53A-EF44-28BA-A42A-CF4E6527ECB5}"/>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8269610" y="1594528"/>
            <a:ext cx="673346" cy="1140899"/>
          </a:xfrm>
          <a:prstGeom prst="rect">
            <a:avLst/>
          </a:prstGeom>
        </p:spPr>
      </p:pic>
      <p:cxnSp>
        <p:nvCxnSpPr>
          <p:cNvPr id="55" name="Straight Connector 54">
            <a:extLst>
              <a:ext uri="{FF2B5EF4-FFF2-40B4-BE49-F238E27FC236}">
                <a16:creationId xmlns:a16="http://schemas.microsoft.com/office/drawing/2014/main" id="{FC33F768-FDA5-B134-2473-EDE25FD98F53}"/>
              </a:ext>
            </a:extLst>
          </p:cNvPr>
          <p:cNvCxnSpPr>
            <a:cxnSpLocks/>
          </p:cNvCxnSpPr>
          <p:nvPr/>
        </p:nvCxnSpPr>
        <p:spPr>
          <a:xfrm>
            <a:off x="3111271" y="3529413"/>
            <a:ext cx="0" cy="1497559"/>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id="{2D04E18D-8649-C79D-BFCD-C9598C8AC445}"/>
              </a:ext>
            </a:extLst>
          </p:cNvPr>
          <p:cNvCxnSpPr>
            <a:cxnSpLocks/>
          </p:cNvCxnSpPr>
          <p:nvPr/>
        </p:nvCxnSpPr>
        <p:spPr>
          <a:xfrm>
            <a:off x="3111271" y="3546505"/>
            <a:ext cx="8189873" cy="0"/>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63" name="Flowchart: Process 62">
            <a:extLst>
              <a:ext uri="{FF2B5EF4-FFF2-40B4-BE49-F238E27FC236}">
                <a16:creationId xmlns:a16="http://schemas.microsoft.com/office/drawing/2014/main" id="{71BC4B29-29EE-94B7-55AF-4A09DA1D8573}"/>
              </a:ext>
            </a:extLst>
          </p:cNvPr>
          <p:cNvSpPr/>
          <p:nvPr/>
        </p:nvSpPr>
        <p:spPr>
          <a:xfrm>
            <a:off x="3208624" y="4759513"/>
            <a:ext cx="351219"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LLS</a:t>
            </a:r>
          </a:p>
        </p:txBody>
      </p:sp>
      <p:sp>
        <p:nvSpPr>
          <p:cNvPr id="64" name="Flowchart: Process 63">
            <a:extLst>
              <a:ext uri="{FF2B5EF4-FFF2-40B4-BE49-F238E27FC236}">
                <a16:creationId xmlns:a16="http://schemas.microsoft.com/office/drawing/2014/main" id="{34355FDF-1C72-2DF7-5573-9CD141F9BCF0}"/>
              </a:ext>
            </a:extLst>
          </p:cNvPr>
          <p:cNvSpPr/>
          <p:nvPr/>
        </p:nvSpPr>
        <p:spPr>
          <a:xfrm>
            <a:off x="3208625" y="4477252"/>
            <a:ext cx="339426" cy="23581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solidFill>
                <a:latin typeface="Times New Roman" panose="02020603050405020304" pitchFamily="18" charset="0"/>
                <a:cs typeface="Times New Roman" panose="02020603050405020304" pitchFamily="18" charset="0"/>
              </a:rPr>
              <a:t>M</a:t>
            </a:r>
          </a:p>
        </p:txBody>
      </p:sp>
      <p:cxnSp>
        <p:nvCxnSpPr>
          <p:cNvPr id="74" name="Straight Connector 73">
            <a:extLst>
              <a:ext uri="{FF2B5EF4-FFF2-40B4-BE49-F238E27FC236}">
                <a16:creationId xmlns:a16="http://schemas.microsoft.com/office/drawing/2014/main" id="{802A7C06-8101-D1E9-C60B-82A622E92A4D}"/>
              </a:ext>
            </a:extLst>
          </p:cNvPr>
          <p:cNvCxnSpPr>
            <a:cxnSpLocks/>
          </p:cNvCxnSpPr>
          <p:nvPr/>
        </p:nvCxnSpPr>
        <p:spPr>
          <a:xfrm flipH="1">
            <a:off x="7263095" y="3534051"/>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75" name="Isosceles Triangle 74">
            <a:extLst>
              <a:ext uri="{FF2B5EF4-FFF2-40B4-BE49-F238E27FC236}">
                <a16:creationId xmlns:a16="http://schemas.microsoft.com/office/drawing/2014/main" id="{7249E54F-CE4B-CBDE-D740-735B39F48917}"/>
              </a:ext>
            </a:extLst>
          </p:cNvPr>
          <p:cNvSpPr/>
          <p:nvPr/>
        </p:nvSpPr>
        <p:spPr>
          <a:xfrm flipH="1" flipV="1">
            <a:off x="7184674" y="3988204"/>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0" name="Flowchart: Process 129">
            <a:extLst>
              <a:ext uri="{FF2B5EF4-FFF2-40B4-BE49-F238E27FC236}">
                <a16:creationId xmlns:a16="http://schemas.microsoft.com/office/drawing/2014/main" id="{BE19136A-FB7A-584A-F5CD-F60C2DD67128}"/>
              </a:ext>
            </a:extLst>
          </p:cNvPr>
          <p:cNvSpPr/>
          <p:nvPr/>
        </p:nvSpPr>
        <p:spPr>
          <a:xfrm>
            <a:off x="6834424" y="5371023"/>
            <a:ext cx="855193"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STAFF QUARTERS OHT TANK</a:t>
            </a:r>
          </a:p>
        </p:txBody>
      </p:sp>
      <p:sp>
        <p:nvSpPr>
          <p:cNvPr id="132" name="Flowchart: Process 131">
            <a:extLst>
              <a:ext uri="{FF2B5EF4-FFF2-40B4-BE49-F238E27FC236}">
                <a16:creationId xmlns:a16="http://schemas.microsoft.com/office/drawing/2014/main" id="{E68F0EE9-3B9D-F784-0B4B-D952FED4D5B3}"/>
              </a:ext>
            </a:extLst>
          </p:cNvPr>
          <p:cNvSpPr/>
          <p:nvPr/>
        </p:nvSpPr>
        <p:spPr>
          <a:xfrm>
            <a:off x="6778674" y="588368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cxnSp>
        <p:nvCxnSpPr>
          <p:cNvPr id="133" name="Straight Connector 132">
            <a:extLst>
              <a:ext uri="{FF2B5EF4-FFF2-40B4-BE49-F238E27FC236}">
                <a16:creationId xmlns:a16="http://schemas.microsoft.com/office/drawing/2014/main" id="{D75B6886-19B6-7C8D-2410-DF87D56BDAD3}"/>
              </a:ext>
            </a:extLst>
          </p:cNvPr>
          <p:cNvCxnSpPr>
            <a:cxnSpLocks/>
          </p:cNvCxnSpPr>
          <p:nvPr/>
        </p:nvCxnSpPr>
        <p:spPr>
          <a:xfrm flipH="1">
            <a:off x="5913020" y="3542429"/>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34" name="Isosceles Triangle 133">
            <a:extLst>
              <a:ext uri="{FF2B5EF4-FFF2-40B4-BE49-F238E27FC236}">
                <a16:creationId xmlns:a16="http://schemas.microsoft.com/office/drawing/2014/main" id="{C0DA1B77-197E-249E-2C80-8F6247E7027C}"/>
              </a:ext>
            </a:extLst>
          </p:cNvPr>
          <p:cNvSpPr/>
          <p:nvPr/>
        </p:nvSpPr>
        <p:spPr>
          <a:xfrm flipH="1" flipV="1">
            <a:off x="5834599" y="399658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5" name="Flowchart: Process 134">
            <a:extLst>
              <a:ext uri="{FF2B5EF4-FFF2-40B4-BE49-F238E27FC236}">
                <a16:creationId xmlns:a16="http://schemas.microsoft.com/office/drawing/2014/main" id="{63089688-B805-59A8-63FB-C1C087EC2A1A}"/>
              </a:ext>
            </a:extLst>
          </p:cNvPr>
          <p:cNvSpPr/>
          <p:nvPr/>
        </p:nvSpPr>
        <p:spPr>
          <a:xfrm>
            <a:off x="5484349" y="5379401"/>
            <a:ext cx="855193"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B TYPE</a:t>
            </a:r>
          </a:p>
          <a:p>
            <a:pPr algn="ctr"/>
            <a:r>
              <a:rPr lang="en-US" sz="800" b="1" dirty="0">
                <a:solidFill>
                  <a:schemeClr val="bg1"/>
                </a:solidFill>
                <a:latin typeface="Times New Roman" panose="02020603050405020304" pitchFamily="18" charset="0"/>
                <a:cs typeface="Times New Roman" panose="02020603050405020304" pitchFamily="18" charset="0"/>
              </a:rPr>
              <a:t>QUARTERS OHT TANK</a:t>
            </a:r>
          </a:p>
        </p:txBody>
      </p:sp>
      <p:sp>
        <p:nvSpPr>
          <p:cNvPr id="136" name="Flowchart: Process 135">
            <a:extLst>
              <a:ext uri="{FF2B5EF4-FFF2-40B4-BE49-F238E27FC236}">
                <a16:creationId xmlns:a16="http://schemas.microsoft.com/office/drawing/2014/main" id="{A6528E1F-27BE-CC10-F5E9-05D40A29CCC8}"/>
              </a:ext>
            </a:extLst>
          </p:cNvPr>
          <p:cNvSpPr/>
          <p:nvPr/>
        </p:nvSpPr>
        <p:spPr>
          <a:xfrm>
            <a:off x="5428599" y="5892065"/>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1 TANK</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sp>
        <p:nvSpPr>
          <p:cNvPr id="139" name="Flowchart: Process 138">
            <a:extLst>
              <a:ext uri="{FF2B5EF4-FFF2-40B4-BE49-F238E27FC236}">
                <a16:creationId xmlns:a16="http://schemas.microsoft.com/office/drawing/2014/main" id="{A05389E0-A310-8438-674B-3A14545D4447}"/>
              </a:ext>
            </a:extLst>
          </p:cNvPr>
          <p:cNvSpPr/>
          <p:nvPr/>
        </p:nvSpPr>
        <p:spPr>
          <a:xfrm>
            <a:off x="10413691" y="2792584"/>
            <a:ext cx="855194" cy="377039"/>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B BLOCK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40" name="Flowchart: Process 139">
            <a:extLst>
              <a:ext uri="{FF2B5EF4-FFF2-40B4-BE49-F238E27FC236}">
                <a16:creationId xmlns:a16="http://schemas.microsoft.com/office/drawing/2014/main" id="{8EC295F1-786B-AA4E-EA9F-3343E7308AFD}"/>
              </a:ext>
            </a:extLst>
          </p:cNvPr>
          <p:cNvSpPr/>
          <p:nvPr/>
        </p:nvSpPr>
        <p:spPr>
          <a:xfrm>
            <a:off x="9403130" y="180010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cxnSp>
        <p:nvCxnSpPr>
          <p:cNvPr id="141" name="Straight Connector 140">
            <a:extLst>
              <a:ext uri="{FF2B5EF4-FFF2-40B4-BE49-F238E27FC236}">
                <a16:creationId xmlns:a16="http://schemas.microsoft.com/office/drawing/2014/main" id="{7E297B35-0182-E7A1-3DC2-5831469C4342}"/>
              </a:ext>
            </a:extLst>
          </p:cNvPr>
          <p:cNvCxnSpPr>
            <a:cxnSpLocks/>
          </p:cNvCxnSpPr>
          <p:nvPr/>
        </p:nvCxnSpPr>
        <p:spPr>
          <a:xfrm flipH="1">
            <a:off x="4562788" y="3542429"/>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2" name="Isosceles Triangle 141">
            <a:extLst>
              <a:ext uri="{FF2B5EF4-FFF2-40B4-BE49-F238E27FC236}">
                <a16:creationId xmlns:a16="http://schemas.microsoft.com/office/drawing/2014/main" id="{150DF4F5-8293-C3F4-F9AA-8B6514FD71A6}"/>
              </a:ext>
            </a:extLst>
          </p:cNvPr>
          <p:cNvSpPr/>
          <p:nvPr/>
        </p:nvSpPr>
        <p:spPr>
          <a:xfrm flipH="1" flipV="1">
            <a:off x="4484367" y="399658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3" name="Flowchart: Process 142">
            <a:extLst>
              <a:ext uri="{FF2B5EF4-FFF2-40B4-BE49-F238E27FC236}">
                <a16:creationId xmlns:a16="http://schemas.microsoft.com/office/drawing/2014/main" id="{2DBFEFF2-708E-6587-41A6-DAE8DAC4ADC3}"/>
              </a:ext>
            </a:extLst>
          </p:cNvPr>
          <p:cNvSpPr/>
          <p:nvPr/>
        </p:nvSpPr>
        <p:spPr>
          <a:xfrm>
            <a:off x="4134117" y="5379401"/>
            <a:ext cx="855193"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BOYS HOSTEL OHT TANK</a:t>
            </a:r>
          </a:p>
        </p:txBody>
      </p:sp>
      <p:sp>
        <p:nvSpPr>
          <p:cNvPr id="144" name="Flowchart: Process 143">
            <a:extLst>
              <a:ext uri="{FF2B5EF4-FFF2-40B4-BE49-F238E27FC236}">
                <a16:creationId xmlns:a16="http://schemas.microsoft.com/office/drawing/2014/main" id="{287C9911-D17F-4CB1-9629-35C485DC9AF2}"/>
              </a:ext>
            </a:extLst>
          </p:cNvPr>
          <p:cNvSpPr/>
          <p:nvPr/>
        </p:nvSpPr>
        <p:spPr>
          <a:xfrm>
            <a:off x="4078367" y="5892065"/>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8 TANK (INTERLINKED)</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cxnSp>
        <p:nvCxnSpPr>
          <p:cNvPr id="145" name="Straight Connector 144">
            <a:extLst>
              <a:ext uri="{FF2B5EF4-FFF2-40B4-BE49-F238E27FC236}">
                <a16:creationId xmlns:a16="http://schemas.microsoft.com/office/drawing/2014/main" id="{B50D3E4D-3068-8F17-F62F-04B0B3439819}"/>
              </a:ext>
            </a:extLst>
          </p:cNvPr>
          <p:cNvCxnSpPr>
            <a:cxnSpLocks/>
          </p:cNvCxnSpPr>
          <p:nvPr/>
        </p:nvCxnSpPr>
        <p:spPr>
          <a:xfrm flipH="1">
            <a:off x="8584997" y="3539577"/>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46" name="Isosceles Triangle 145">
            <a:extLst>
              <a:ext uri="{FF2B5EF4-FFF2-40B4-BE49-F238E27FC236}">
                <a16:creationId xmlns:a16="http://schemas.microsoft.com/office/drawing/2014/main" id="{8055010B-E1AA-777A-12CF-1F88BB250A42}"/>
              </a:ext>
            </a:extLst>
          </p:cNvPr>
          <p:cNvSpPr/>
          <p:nvPr/>
        </p:nvSpPr>
        <p:spPr>
          <a:xfrm flipH="1" flipV="1">
            <a:off x="8506576" y="3993730"/>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7" name="Flowchart: Process 146">
            <a:extLst>
              <a:ext uri="{FF2B5EF4-FFF2-40B4-BE49-F238E27FC236}">
                <a16:creationId xmlns:a16="http://schemas.microsoft.com/office/drawing/2014/main" id="{63973F5D-C543-75BF-DDEC-A44B49AA2165}"/>
              </a:ext>
            </a:extLst>
          </p:cNvPr>
          <p:cNvSpPr/>
          <p:nvPr/>
        </p:nvSpPr>
        <p:spPr>
          <a:xfrm>
            <a:off x="8173420" y="5376549"/>
            <a:ext cx="855194"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GIRLS HOSTEL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48" name="Flowchart: Process 147">
            <a:extLst>
              <a:ext uri="{FF2B5EF4-FFF2-40B4-BE49-F238E27FC236}">
                <a16:creationId xmlns:a16="http://schemas.microsoft.com/office/drawing/2014/main" id="{4D6B839C-B160-22BF-B132-C36268868663}"/>
              </a:ext>
            </a:extLst>
          </p:cNvPr>
          <p:cNvSpPr/>
          <p:nvPr/>
        </p:nvSpPr>
        <p:spPr>
          <a:xfrm>
            <a:off x="8109123" y="5889213"/>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4 TANK</a:t>
            </a:r>
          </a:p>
          <a:p>
            <a:pPr algn="ctr"/>
            <a:r>
              <a:rPr lang="en-US" sz="700" b="1" dirty="0">
                <a:solidFill>
                  <a:srgbClr val="FF0000"/>
                </a:solidFill>
                <a:latin typeface="Times New Roman" panose="02020603050405020304" pitchFamily="18" charset="0"/>
                <a:cs typeface="Times New Roman" panose="02020603050405020304" pitchFamily="18" charset="0"/>
              </a:rPr>
              <a:t>(INTERLINKED)</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cxnSp>
        <p:nvCxnSpPr>
          <p:cNvPr id="149" name="Straight Connector 148">
            <a:extLst>
              <a:ext uri="{FF2B5EF4-FFF2-40B4-BE49-F238E27FC236}">
                <a16:creationId xmlns:a16="http://schemas.microsoft.com/office/drawing/2014/main" id="{A3E6DA4E-9E5B-3D35-E46B-A7B748F8F673}"/>
              </a:ext>
            </a:extLst>
          </p:cNvPr>
          <p:cNvCxnSpPr>
            <a:cxnSpLocks/>
          </p:cNvCxnSpPr>
          <p:nvPr/>
        </p:nvCxnSpPr>
        <p:spPr>
          <a:xfrm flipH="1">
            <a:off x="9943789" y="3539579"/>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0" name="Isosceles Triangle 149">
            <a:extLst>
              <a:ext uri="{FF2B5EF4-FFF2-40B4-BE49-F238E27FC236}">
                <a16:creationId xmlns:a16="http://schemas.microsoft.com/office/drawing/2014/main" id="{26FFDE05-E332-01C5-3508-E6739FCDEFDA}"/>
              </a:ext>
            </a:extLst>
          </p:cNvPr>
          <p:cNvSpPr/>
          <p:nvPr/>
        </p:nvSpPr>
        <p:spPr>
          <a:xfrm flipH="1" flipV="1">
            <a:off x="9865368" y="3993732"/>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1" name="Flowchart: Process 150">
            <a:extLst>
              <a:ext uri="{FF2B5EF4-FFF2-40B4-BE49-F238E27FC236}">
                <a16:creationId xmlns:a16="http://schemas.microsoft.com/office/drawing/2014/main" id="{5A92A117-EFDF-CFB1-204F-FC73E355940D}"/>
              </a:ext>
            </a:extLst>
          </p:cNvPr>
          <p:cNvSpPr/>
          <p:nvPr/>
        </p:nvSpPr>
        <p:spPr>
          <a:xfrm>
            <a:off x="9523665" y="5376551"/>
            <a:ext cx="855194"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GUEST HOUSE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52" name="Flowchart: Process 151">
            <a:extLst>
              <a:ext uri="{FF2B5EF4-FFF2-40B4-BE49-F238E27FC236}">
                <a16:creationId xmlns:a16="http://schemas.microsoft.com/office/drawing/2014/main" id="{F3243EEB-1D38-A75F-708B-F1F69C115FFF}"/>
              </a:ext>
            </a:extLst>
          </p:cNvPr>
          <p:cNvSpPr/>
          <p:nvPr/>
        </p:nvSpPr>
        <p:spPr>
          <a:xfrm>
            <a:off x="9459368" y="5889215"/>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1 TANK</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cxnSp>
        <p:nvCxnSpPr>
          <p:cNvPr id="153" name="Straight Connector 152">
            <a:extLst>
              <a:ext uri="{FF2B5EF4-FFF2-40B4-BE49-F238E27FC236}">
                <a16:creationId xmlns:a16="http://schemas.microsoft.com/office/drawing/2014/main" id="{5FC17938-421F-EBF1-8DB5-34DD4B1FA6F4}"/>
              </a:ext>
            </a:extLst>
          </p:cNvPr>
          <p:cNvCxnSpPr>
            <a:cxnSpLocks/>
          </p:cNvCxnSpPr>
          <p:nvPr/>
        </p:nvCxnSpPr>
        <p:spPr>
          <a:xfrm flipH="1">
            <a:off x="11275510" y="3538151"/>
            <a:ext cx="1" cy="45415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54" name="Isosceles Triangle 153">
            <a:extLst>
              <a:ext uri="{FF2B5EF4-FFF2-40B4-BE49-F238E27FC236}">
                <a16:creationId xmlns:a16="http://schemas.microsoft.com/office/drawing/2014/main" id="{CDA79DB1-1558-5FBD-3486-C2D5CC85967E}"/>
              </a:ext>
            </a:extLst>
          </p:cNvPr>
          <p:cNvSpPr/>
          <p:nvPr/>
        </p:nvSpPr>
        <p:spPr>
          <a:xfrm flipH="1" flipV="1">
            <a:off x="11197089" y="3992304"/>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5" name="Flowchart: Process 154">
            <a:extLst>
              <a:ext uri="{FF2B5EF4-FFF2-40B4-BE49-F238E27FC236}">
                <a16:creationId xmlns:a16="http://schemas.microsoft.com/office/drawing/2014/main" id="{BBC4A295-0E5B-736D-7537-67BC67F576C0}"/>
              </a:ext>
            </a:extLst>
          </p:cNvPr>
          <p:cNvSpPr/>
          <p:nvPr/>
        </p:nvSpPr>
        <p:spPr>
          <a:xfrm>
            <a:off x="10855386" y="5375123"/>
            <a:ext cx="855194" cy="453088"/>
          </a:xfrm>
          <a:prstGeom prst="flowChartProcess">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bg1"/>
                </a:solidFill>
                <a:latin typeface="Times New Roman" panose="02020603050405020304" pitchFamily="18" charset="0"/>
                <a:cs typeface="Times New Roman" panose="02020603050405020304" pitchFamily="18" charset="0"/>
              </a:rPr>
              <a:t>GIRLS HOSTEL  </a:t>
            </a:r>
          </a:p>
          <a:p>
            <a:pPr algn="ctr"/>
            <a:r>
              <a:rPr lang="en-US" sz="800" b="1" dirty="0">
                <a:solidFill>
                  <a:schemeClr val="bg1"/>
                </a:solidFill>
                <a:latin typeface="Times New Roman" panose="02020603050405020304" pitchFamily="18" charset="0"/>
                <a:cs typeface="Times New Roman" panose="02020603050405020304" pitchFamily="18" charset="0"/>
              </a:rPr>
              <a:t>OHT TANK</a:t>
            </a:r>
          </a:p>
        </p:txBody>
      </p:sp>
      <p:sp>
        <p:nvSpPr>
          <p:cNvPr id="156" name="Flowchart: Process 155">
            <a:extLst>
              <a:ext uri="{FF2B5EF4-FFF2-40B4-BE49-F238E27FC236}">
                <a16:creationId xmlns:a16="http://schemas.microsoft.com/office/drawing/2014/main" id="{432C0103-0331-43FE-6EAE-57889ADF666C}"/>
              </a:ext>
            </a:extLst>
          </p:cNvPr>
          <p:cNvSpPr/>
          <p:nvPr/>
        </p:nvSpPr>
        <p:spPr>
          <a:xfrm>
            <a:off x="10791089" y="588778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1 TANK</a:t>
            </a:r>
          </a:p>
          <a:p>
            <a:pPr algn="ctr"/>
            <a:r>
              <a:rPr lang="en-US" sz="700" b="1" dirty="0">
                <a:solidFill>
                  <a:schemeClr val="tx1"/>
                </a:solidFill>
                <a:latin typeface="Times New Roman" panose="02020603050405020304" pitchFamily="18" charset="0"/>
                <a:cs typeface="Times New Roman" panose="02020603050405020304" pitchFamily="18" charset="0"/>
              </a:rPr>
              <a:t>VCT             -  1 NO’S</a:t>
            </a:r>
          </a:p>
          <a:p>
            <a:pPr algn="ctr"/>
            <a:r>
              <a:rPr lang="en-US" sz="700" b="1" dirty="0">
                <a:solidFill>
                  <a:schemeClr val="tx1"/>
                </a:solidFill>
                <a:latin typeface="Times New Roman" panose="02020603050405020304" pitchFamily="18" charset="0"/>
                <a:cs typeface="Times New Roman" panose="02020603050405020304" pitchFamily="18" charset="0"/>
              </a:rPr>
              <a:t>SENSOR      – 1 NO’S</a:t>
            </a:r>
          </a:p>
          <a:p>
            <a:pPr algn="ctr"/>
            <a:r>
              <a:rPr lang="en-US" sz="700" b="1" dirty="0">
                <a:solidFill>
                  <a:schemeClr val="tx1"/>
                </a:solidFill>
                <a:latin typeface="Times New Roman" panose="02020603050405020304" pitchFamily="18" charset="0"/>
                <a:cs typeface="Times New Roman" panose="02020603050405020304" pitchFamily="18" charset="0"/>
              </a:rPr>
              <a:t>2” VALVE    – 1 NO’S</a:t>
            </a:r>
          </a:p>
        </p:txBody>
      </p:sp>
      <p:pic>
        <p:nvPicPr>
          <p:cNvPr id="158" name="Picture 157" descr="A water drop in a container&#10;&#10;AI-generated content may be incorrect.">
            <a:extLst>
              <a:ext uri="{FF2B5EF4-FFF2-40B4-BE49-F238E27FC236}">
                <a16:creationId xmlns:a16="http://schemas.microsoft.com/office/drawing/2014/main" id="{716EE6C2-B2D5-F82F-50EB-E7CF8719AC28}"/>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4229362" y="4163425"/>
            <a:ext cx="673346" cy="1140899"/>
          </a:xfrm>
          <a:prstGeom prst="rect">
            <a:avLst/>
          </a:prstGeom>
        </p:spPr>
      </p:pic>
      <p:pic>
        <p:nvPicPr>
          <p:cNvPr id="159" name="Picture 158" descr="A water drop in a container&#10;&#10;AI-generated content may be incorrect.">
            <a:extLst>
              <a:ext uri="{FF2B5EF4-FFF2-40B4-BE49-F238E27FC236}">
                <a16:creationId xmlns:a16="http://schemas.microsoft.com/office/drawing/2014/main" id="{2ACB493E-E1CE-C4A3-B460-1341C57C4082}"/>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5578180" y="4161998"/>
            <a:ext cx="673346" cy="1140899"/>
          </a:xfrm>
          <a:prstGeom prst="rect">
            <a:avLst/>
          </a:prstGeom>
        </p:spPr>
      </p:pic>
      <p:pic>
        <p:nvPicPr>
          <p:cNvPr id="160" name="Picture 159" descr="A water drop in a container&#10;&#10;AI-generated content may be incorrect.">
            <a:extLst>
              <a:ext uri="{FF2B5EF4-FFF2-40B4-BE49-F238E27FC236}">
                <a16:creationId xmlns:a16="http://schemas.microsoft.com/office/drawing/2014/main" id="{AE36C730-127E-B30B-339A-144892986A4E}"/>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6926577" y="4161837"/>
            <a:ext cx="673346" cy="1140899"/>
          </a:xfrm>
          <a:prstGeom prst="rect">
            <a:avLst/>
          </a:prstGeom>
        </p:spPr>
      </p:pic>
      <p:pic>
        <p:nvPicPr>
          <p:cNvPr id="161" name="Picture 160" descr="A water drop in a container&#10;&#10;AI-generated content may be incorrect.">
            <a:extLst>
              <a:ext uri="{FF2B5EF4-FFF2-40B4-BE49-F238E27FC236}">
                <a16:creationId xmlns:a16="http://schemas.microsoft.com/office/drawing/2014/main" id="{83632999-DC22-BDE9-F766-A2544ABC1F1C}"/>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10531326" y="1580440"/>
            <a:ext cx="673346" cy="1140899"/>
          </a:xfrm>
          <a:prstGeom prst="rect">
            <a:avLst/>
          </a:prstGeom>
        </p:spPr>
      </p:pic>
      <p:pic>
        <p:nvPicPr>
          <p:cNvPr id="162" name="Picture 161" descr="A water drop in a container&#10;&#10;AI-generated content may be incorrect.">
            <a:extLst>
              <a:ext uri="{FF2B5EF4-FFF2-40B4-BE49-F238E27FC236}">
                <a16:creationId xmlns:a16="http://schemas.microsoft.com/office/drawing/2014/main" id="{131CD218-4A8D-69C3-D4D8-95214C8FF1BE}"/>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8255126" y="4151822"/>
            <a:ext cx="673346" cy="1140899"/>
          </a:xfrm>
          <a:prstGeom prst="rect">
            <a:avLst/>
          </a:prstGeom>
        </p:spPr>
      </p:pic>
      <p:pic>
        <p:nvPicPr>
          <p:cNvPr id="163" name="Picture 162" descr="A water drop in a container&#10;&#10;AI-generated content may be incorrect.">
            <a:extLst>
              <a:ext uri="{FF2B5EF4-FFF2-40B4-BE49-F238E27FC236}">
                <a16:creationId xmlns:a16="http://schemas.microsoft.com/office/drawing/2014/main" id="{9AE7755A-B803-7439-C0FA-E44C46B0EEE4}"/>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9603946" y="4150395"/>
            <a:ext cx="673346" cy="1140899"/>
          </a:xfrm>
          <a:prstGeom prst="rect">
            <a:avLst/>
          </a:prstGeom>
        </p:spPr>
      </p:pic>
      <p:pic>
        <p:nvPicPr>
          <p:cNvPr id="164" name="Picture 163" descr="A water drop in a container&#10;&#10;AI-generated content may be incorrect.">
            <a:extLst>
              <a:ext uri="{FF2B5EF4-FFF2-40B4-BE49-F238E27FC236}">
                <a16:creationId xmlns:a16="http://schemas.microsoft.com/office/drawing/2014/main" id="{84F4872A-D2DD-1FCE-56C9-9D53D89D61AA}"/>
              </a:ext>
            </a:extLst>
          </p:cNvPr>
          <p:cNvPicPr>
            <a:picLocks noChangeAspect="1"/>
          </p:cNvPicPr>
          <p:nvPr/>
        </p:nvPicPr>
        <p:blipFill>
          <a:blip r:embed="rId4">
            <a:extLst>
              <a:ext uri="{28A0092B-C50C-407E-A947-70E740481C1C}">
                <a14:useLocalDpi xmlns:a14="http://schemas.microsoft.com/office/drawing/2010/main" val="0"/>
              </a:ext>
            </a:extLst>
          </a:blip>
          <a:srcRect l="20411" r="20569"/>
          <a:stretch/>
        </p:blipFill>
        <p:spPr>
          <a:xfrm>
            <a:off x="10938837" y="4159916"/>
            <a:ext cx="673346" cy="1140899"/>
          </a:xfrm>
          <a:prstGeom prst="rect">
            <a:avLst/>
          </a:prstGeom>
        </p:spPr>
      </p:pic>
      <p:sp>
        <p:nvSpPr>
          <p:cNvPr id="165" name="Flowchart: Process 164">
            <a:extLst>
              <a:ext uri="{FF2B5EF4-FFF2-40B4-BE49-F238E27FC236}">
                <a16:creationId xmlns:a16="http://schemas.microsoft.com/office/drawing/2014/main" id="{F60B62E1-8FA2-7674-AA3C-E6F5F91925C0}"/>
              </a:ext>
            </a:extLst>
          </p:cNvPr>
          <p:cNvSpPr/>
          <p:nvPr/>
        </p:nvSpPr>
        <p:spPr>
          <a:xfrm>
            <a:off x="4770396" y="180132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 </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sp>
        <p:nvSpPr>
          <p:cNvPr id="166" name="Flowchart: Process 165">
            <a:extLst>
              <a:ext uri="{FF2B5EF4-FFF2-40B4-BE49-F238E27FC236}">
                <a16:creationId xmlns:a16="http://schemas.microsoft.com/office/drawing/2014/main" id="{E03DE802-D393-00F2-E291-8BFDDC9CE40F}"/>
              </a:ext>
            </a:extLst>
          </p:cNvPr>
          <p:cNvSpPr/>
          <p:nvPr/>
        </p:nvSpPr>
        <p:spPr>
          <a:xfrm>
            <a:off x="7137503" y="1805537"/>
            <a:ext cx="1041388" cy="655954"/>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b="1" dirty="0">
                <a:solidFill>
                  <a:srgbClr val="FF0000"/>
                </a:solidFill>
                <a:latin typeface="Times New Roman" panose="02020603050405020304" pitchFamily="18" charset="0"/>
                <a:cs typeface="Times New Roman" panose="02020603050405020304" pitchFamily="18" charset="0"/>
              </a:rPr>
              <a:t>TOTAL 2 TANK </a:t>
            </a:r>
          </a:p>
          <a:p>
            <a:pPr algn="ctr"/>
            <a:r>
              <a:rPr lang="en-US" sz="700" b="1" dirty="0">
                <a:solidFill>
                  <a:schemeClr val="tx1"/>
                </a:solidFill>
                <a:latin typeface="Times New Roman" panose="02020603050405020304" pitchFamily="18" charset="0"/>
                <a:cs typeface="Times New Roman" panose="02020603050405020304" pitchFamily="18" charset="0"/>
              </a:rPr>
              <a:t>VCT             -  2 NO’S</a:t>
            </a:r>
          </a:p>
          <a:p>
            <a:pPr algn="ctr"/>
            <a:r>
              <a:rPr lang="en-US" sz="700" b="1" dirty="0">
                <a:solidFill>
                  <a:schemeClr val="tx1"/>
                </a:solidFill>
                <a:latin typeface="Times New Roman" panose="02020603050405020304" pitchFamily="18" charset="0"/>
                <a:cs typeface="Times New Roman" panose="02020603050405020304" pitchFamily="18" charset="0"/>
              </a:rPr>
              <a:t>SENSOR      – 2 NO’S</a:t>
            </a:r>
          </a:p>
          <a:p>
            <a:pPr algn="ctr"/>
            <a:r>
              <a:rPr lang="en-US" sz="700" b="1" dirty="0">
                <a:solidFill>
                  <a:schemeClr val="tx1"/>
                </a:solidFill>
                <a:latin typeface="Times New Roman" panose="02020603050405020304" pitchFamily="18" charset="0"/>
                <a:cs typeface="Times New Roman" panose="02020603050405020304" pitchFamily="18" charset="0"/>
              </a:rPr>
              <a:t>2” VALVE    – 2 NO’S</a:t>
            </a:r>
          </a:p>
        </p:txBody>
      </p:sp>
      <p:cxnSp>
        <p:nvCxnSpPr>
          <p:cNvPr id="168" name="Straight Connector 167">
            <a:extLst>
              <a:ext uri="{FF2B5EF4-FFF2-40B4-BE49-F238E27FC236}">
                <a16:creationId xmlns:a16="http://schemas.microsoft.com/office/drawing/2014/main" id="{4D29295A-F8A8-767C-9CB4-F1EE56F2EE51}"/>
              </a:ext>
            </a:extLst>
          </p:cNvPr>
          <p:cNvCxnSpPr>
            <a:cxnSpLocks/>
          </p:cNvCxnSpPr>
          <p:nvPr/>
        </p:nvCxnSpPr>
        <p:spPr>
          <a:xfrm>
            <a:off x="10883668" y="797137"/>
            <a:ext cx="0" cy="671513"/>
          </a:xfrm>
          <a:prstGeom prst="line">
            <a:avLst/>
          </a:prstGeom>
          <a:ln>
            <a:solidFill>
              <a:srgbClr val="00B0F0"/>
            </a:solidFill>
          </a:ln>
        </p:spPr>
        <p:style>
          <a:lnRef idx="3">
            <a:schemeClr val="dk1"/>
          </a:lnRef>
          <a:fillRef idx="0">
            <a:schemeClr val="dk1"/>
          </a:fillRef>
          <a:effectRef idx="2">
            <a:schemeClr val="dk1"/>
          </a:effectRef>
          <a:fontRef idx="minor">
            <a:schemeClr val="tx1"/>
          </a:fontRef>
        </p:style>
      </p:cxnSp>
      <p:sp>
        <p:nvSpPr>
          <p:cNvPr id="169" name="Isosceles Triangle 168">
            <a:extLst>
              <a:ext uri="{FF2B5EF4-FFF2-40B4-BE49-F238E27FC236}">
                <a16:creationId xmlns:a16="http://schemas.microsoft.com/office/drawing/2014/main" id="{8E296AFE-C870-6BA5-4966-471FCC2697D4}"/>
              </a:ext>
            </a:extLst>
          </p:cNvPr>
          <p:cNvSpPr/>
          <p:nvPr/>
        </p:nvSpPr>
        <p:spPr>
          <a:xfrm flipH="1" flipV="1">
            <a:off x="10796700" y="1413661"/>
            <a:ext cx="156843" cy="187147"/>
          </a:xfrm>
          <a:prstGeom prst="triangle">
            <a:avLst>
              <a:gd name="adj" fmla="val 5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141433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3482591193"/>
              </p:ext>
            </p:extLst>
          </p:nvPr>
        </p:nvGraphicFramePr>
        <p:xfrm>
          <a:off x="206991" y="673156"/>
          <a:ext cx="11778017" cy="5614399"/>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363679">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J BLOCK OHT, RAW WATER SUMP TO K BLOCK OHT &amp; J BLOCK OHT </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2,56,473 </a:t>
                      </a:r>
                    </a:p>
                  </a:txBody>
                  <a:tcPr anchor="ctr"/>
                </a:tc>
                <a:extLst>
                  <a:ext uri="{0D108BD9-81ED-4DB2-BD59-A6C34878D82A}">
                    <a16:rowId xmlns:a16="http://schemas.microsoft.com/office/drawing/2014/main" val="10002"/>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2 OHT TANKS, PHARMACY BORE TO PHARMACY SUMP</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SUMP TO PHARMACY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58209767"/>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RO WATER SUMP TO A BLOCK GIRLS HOSTEL OHT, GRAVITY LINE (PHARMACY J BLOCK OHT &amp; EEE BLOCK OHT)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2,22,548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SUMP TO H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365968040"/>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2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G &amp; I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865956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J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93257464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FOOD COURT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91633073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I BLOCK OHT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1,84,552</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PLACEMENT C BLOCK SUMP TO 3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2,63,258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27099769"/>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70524825"/>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142897"/>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9669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62405698"/>
              </p:ext>
            </p:extLst>
          </p:nvPr>
        </p:nvGraphicFramePr>
        <p:xfrm>
          <a:off x="206991" y="579151"/>
          <a:ext cx="11778017" cy="6093512"/>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289978">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G BLOCK OHT &amp; RO RAW WATER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anose="02020603050405020304" pitchFamily="18" charset="0"/>
                        </a:rPr>
                        <a:t>1,84,552</a:t>
                      </a:r>
                      <a:endParaRPr lang="en-IN" sz="1200" b="1" i="0" u="none" strike="noStrike" dirty="0">
                        <a:solidFill>
                          <a:srgbClr val="000000"/>
                        </a:solidFill>
                        <a:effectLst/>
                        <a:latin typeface="Times New Roman" panose="02020603050405020304" pitchFamily="18" charset="0"/>
                      </a:endParaRPr>
                    </a:p>
                  </a:txBody>
                  <a:tcPr anchor="ctr"/>
                </a:tc>
                <a:extLst>
                  <a:ext uri="{0D108BD9-81ED-4DB2-BD59-A6C34878D82A}">
                    <a16:rowId xmlns:a16="http://schemas.microsoft.com/office/drawing/2014/main" val="10002"/>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B BLOCK OHT &amp; E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A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73,278 </a:t>
                      </a:r>
                    </a:p>
                  </a:txBody>
                  <a:tcPr anchor="ctr"/>
                </a:tc>
                <a:extLst>
                  <a:ext uri="{0D108BD9-81ED-4DB2-BD59-A6C34878D82A}">
                    <a16:rowId xmlns:a16="http://schemas.microsoft.com/office/drawing/2014/main" val="1258209767"/>
                  </a:ext>
                </a:extLst>
              </a:tr>
              <a:tr h="3439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Times New Roman" pitchFamily="18" charset="0"/>
                          <a:cs typeface="Times New Roman" pitchFamily="18" charset="0"/>
                        </a:rPr>
                        <a:t>21,60,344</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163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sng" dirty="0">
                          <a:solidFill>
                            <a:schemeClr val="tx1"/>
                          </a:solidFill>
                          <a:latin typeface="Times New Roman" pitchFamily="18" charset="0"/>
                          <a:cs typeface="Times New Roman" pitchFamily="18" charset="0"/>
                        </a:rPr>
                        <a:t>INLET LINES</a:t>
                      </a: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MEDICAL COLLEGE BORE TO 2 SUMPS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365968040"/>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NURSING SUMP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J BLOCK BORE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18,320 </a:t>
                      </a:r>
                    </a:p>
                  </a:txBody>
                  <a:tcPr anchor="ctr"/>
                </a:tc>
                <a:extLst>
                  <a:ext uri="{0D108BD9-81ED-4DB2-BD59-A6C34878D82A}">
                    <a16:rowId xmlns:a16="http://schemas.microsoft.com/office/drawing/2014/main" val="865956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BORE TO 2 SUMPS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93257464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STP BORE TO WELL</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64,458 </a:t>
                      </a:r>
                    </a:p>
                  </a:txBody>
                  <a:tcPr anchor="ctr"/>
                </a:tc>
                <a:extLst>
                  <a:ext uri="{0D108BD9-81ED-4DB2-BD59-A6C34878D82A}">
                    <a16:rowId xmlns:a16="http://schemas.microsoft.com/office/drawing/2014/main" val="391633073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WELL TO H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83,456</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EEE BLOCK BORE, D BLOCK BORE, M BLOCK SUMP, GIRLS HOSTEL SUMP TO OLD BOYS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1,47,235 </a:t>
                      </a:r>
                    </a:p>
                  </a:txBody>
                  <a:tcPr anchor="ctr"/>
                </a:tc>
                <a:extLst>
                  <a:ext uri="{0D108BD9-81ED-4DB2-BD59-A6C34878D82A}">
                    <a16:rowId xmlns:a16="http://schemas.microsoft.com/office/drawing/2014/main" val="242709976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 BLOCK BORE TO PLACEMENT C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127052482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MBA BLOCK BORE TO 2 SUMPS, MAIN GATE GARDEN BORE TO GIRS HOSTE SUMP, E BLOCK BORE TO RO RAW SUMP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3,40,607 </a:t>
                      </a:r>
                    </a:p>
                  </a:txBody>
                  <a:tcPr anchor="ctr"/>
                </a:tc>
                <a:extLst>
                  <a:ext uri="{0D108BD9-81ED-4DB2-BD59-A6C34878D82A}">
                    <a16:rowId xmlns:a16="http://schemas.microsoft.com/office/drawing/2014/main" val="302858582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MAIN GATE A BLOCK BORE TO MAIN GATE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2359493944"/>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BORE TO PHARMACY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54,280</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25264840"/>
                  </a:ext>
                </a:extLst>
              </a:tr>
              <a:tr h="30587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a:solidFill>
                            <a:srgbClr val="000000"/>
                          </a:solidFill>
                          <a:effectLst/>
                          <a:latin typeface="Times New Roman" pitchFamily="18" charset="0"/>
                          <a:cs typeface="Times New Roman" pitchFamily="18" charset="0"/>
                        </a:rPr>
                        <a:t>12,64,726</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934945591"/>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83075"/>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3605357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207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1124" y="1112182"/>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468187" y="2094206"/>
            <a:ext cx="928459" cy="230832"/>
          </a:xfrm>
          <a:prstGeom prst="rect">
            <a:avLst/>
          </a:prstGeom>
          <a:noFill/>
        </p:spPr>
        <p:txBody>
          <a:bodyPr wrap="none" rtlCol="0">
            <a:spAutoFit/>
          </a:bodyPr>
          <a:lstStyle/>
          <a:p>
            <a:r>
              <a:rPr lang="en-US" sz="900" b="1" dirty="0">
                <a:latin typeface="Times New Roman" pitchFamily="18" charset="0"/>
                <a:cs typeface="Times New Roman" pitchFamily="18" charset="0"/>
              </a:rPr>
              <a:t>APARTMENT</a:t>
            </a:r>
            <a:endParaRPr lang="en-IN" sz="900" b="1" dirty="0">
              <a:latin typeface="Times New Roman" pitchFamily="18" charset="0"/>
              <a:cs typeface="Times New Roman" pitchFamily="18" charset="0"/>
            </a:endParaRPr>
          </a:p>
        </p:txBody>
      </p:sp>
      <p:sp>
        <p:nvSpPr>
          <p:cNvPr id="60" name="TextBox 59"/>
          <p:cNvSpPr txBox="1"/>
          <p:nvPr/>
        </p:nvSpPr>
        <p:spPr>
          <a:xfrm>
            <a:off x="2535177" y="1112183"/>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2543663" y="3045648"/>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3237951" y="3037175"/>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a:t>
            </a:r>
            <a:endParaRPr lang="en-IN" sz="700" b="1" dirty="0">
              <a:latin typeface="Times New Roman" pitchFamily="18" charset="0"/>
              <a:cs typeface="Times New Roman" pitchFamily="18" charset="0"/>
            </a:endParaRPr>
          </a:p>
        </p:txBody>
      </p:sp>
      <p:sp>
        <p:nvSpPr>
          <p:cNvPr id="63" name="TextBox 62"/>
          <p:cNvSpPr txBox="1"/>
          <p:nvPr/>
        </p:nvSpPr>
        <p:spPr>
          <a:xfrm>
            <a:off x="4265620" y="3037169"/>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4" name="TextBox 63"/>
          <p:cNvSpPr txBox="1"/>
          <p:nvPr/>
        </p:nvSpPr>
        <p:spPr>
          <a:xfrm>
            <a:off x="2391251" y="4019347"/>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65" name="TextBox 64"/>
          <p:cNvSpPr txBox="1"/>
          <p:nvPr/>
        </p:nvSpPr>
        <p:spPr>
          <a:xfrm>
            <a:off x="3263346" y="40362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4110040" y="40278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2416646" y="5026914"/>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3288741" y="50353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4135435" y="50269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7" y="4513393"/>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4" y="452185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40" y="452111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6" y="550184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3" y="551030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39" y="5509566"/>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5930" y="5033802"/>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589" y="4019347"/>
            <a:ext cx="1728314"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536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EE9A7ADA-D8F7-5A5A-06AC-1C5DC952026C}"/>
              </a:ext>
            </a:extLst>
          </p:cNvPr>
          <p:cNvPicPr>
            <a:picLocks noChangeAspect="1"/>
          </p:cNvPicPr>
          <p:nvPr/>
        </p:nvPicPr>
        <p:blipFill>
          <a:blip r:embed="rId5"/>
          <a:stretch>
            <a:fillRect/>
          </a:stretch>
        </p:blipFill>
        <p:spPr>
          <a:xfrm>
            <a:off x="2217032" y="1123160"/>
            <a:ext cx="2799349" cy="4967503"/>
          </a:xfrm>
          <a:prstGeom prst="rect">
            <a:avLst/>
          </a:prstGeom>
        </p:spPr>
      </p:pic>
      <p:sp>
        <p:nvSpPr>
          <p:cNvPr id="60" name="TextBox 59"/>
          <p:cNvSpPr txBox="1"/>
          <p:nvPr/>
        </p:nvSpPr>
        <p:spPr>
          <a:xfrm>
            <a:off x="2513873" y="1106370"/>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11" name="TextBox 10"/>
          <p:cNvSpPr txBox="1"/>
          <p:nvPr/>
        </p:nvSpPr>
        <p:spPr>
          <a:xfrm>
            <a:off x="2462597" y="2101311"/>
            <a:ext cx="886781" cy="230832"/>
          </a:xfrm>
          <a:prstGeom prst="rect">
            <a:avLst/>
          </a:prstGeom>
          <a:noFill/>
        </p:spPr>
        <p:txBody>
          <a:bodyPr wrap="none" rtlCol="0">
            <a:spAutoFit/>
          </a:bodyPr>
          <a:lstStyle/>
          <a:p>
            <a:r>
              <a:rPr lang="en-US" sz="900" b="1" dirty="0">
                <a:latin typeface="Times New Roman" pitchFamily="18" charset="0"/>
                <a:cs typeface="Times New Roman" pitchFamily="18" charset="0"/>
              </a:rPr>
              <a:t>BORE WELL</a:t>
            </a:r>
            <a:endParaRPr lang="en-IN" sz="900" b="1"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0584AEBF-6A2C-AF05-A931-7A8B87CF2D2B}"/>
              </a:ext>
            </a:extLst>
          </p:cNvPr>
          <p:cNvSpPr txBox="1"/>
          <p:nvPr/>
        </p:nvSpPr>
        <p:spPr>
          <a:xfrm>
            <a:off x="2457657" y="3996951"/>
            <a:ext cx="992579" cy="230832"/>
          </a:xfrm>
          <a:prstGeom prst="rect">
            <a:avLst/>
          </a:prstGeom>
          <a:noFill/>
        </p:spPr>
        <p:txBody>
          <a:bodyPr wrap="none" rtlCol="0">
            <a:spAutoFit/>
          </a:bodyPr>
          <a:lstStyle/>
          <a:p>
            <a:r>
              <a:rPr lang="en-US" sz="900" b="1" dirty="0">
                <a:latin typeface="Times New Roman" pitchFamily="18" charset="0"/>
                <a:cs typeface="Times New Roman" pitchFamily="18" charset="0"/>
              </a:rPr>
              <a:t>SUMP TO OHT</a:t>
            </a:r>
            <a:endParaRPr lang="en-IN" sz="900" b="1" dirty="0">
              <a:latin typeface="Times New Roman" pitchFamily="18" charset="0"/>
              <a:cs typeface="Times New Roman" pitchFamily="18" charset="0"/>
            </a:endParaRPr>
          </a:p>
        </p:txBody>
      </p:sp>
      <p:sp>
        <p:nvSpPr>
          <p:cNvPr id="88" name="TextBox 87"/>
          <p:cNvSpPr txBox="1"/>
          <p:nvPr/>
        </p:nvSpPr>
        <p:spPr>
          <a:xfrm>
            <a:off x="3283922" y="5025011"/>
            <a:ext cx="665567"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87" name="TextBox 86"/>
          <p:cNvSpPr txBox="1"/>
          <p:nvPr/>
        </p:nvSpPr>
        <p:spPr>
          <a:xfrm>
            <a:off x="2527759" y="5020446"/>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89" name="TextBox 88"/>
          <p:cNvSpPr txBox="1"/>
          <p:nvPr/>
        </p:nvSpPr>
        <p:spPr>
          <a:xfrm>
            <a:off x="4109503" y="5033556"/>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12" name="Picture 21">
            <a:extLst>
              <a:ext uri="{FF2B5EF4-FFF2-40B4-BE49-F238E27FC236}">
                <a16:creationId xmlns:a16="http://schemas.microsoft.com/office/drawing/2014/main" id="{91168D90-0556-5371-C5D8-081D231BD2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157" y="5020446"/>
            <a:ext cx="845395" cy="897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1">
            <a:extLst>
              <a:ext uri="{FF2B5EF4-FFF2-40B4-BE49-F238E27FC236}">
                <a16:creationId xmlns:a16="http://schemas.microsoft.com/office/drawing/2014/main" id="{21495EBA-25D0-5A81-39F7-DD5E91C493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456" y="3996951"/>
            <a:ext cx="2608188" cy="20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57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223027" y="674279"/>
            <a:ext cx="3113567" cy="5734397"/>
          </a:xfrm>
          <a:prstGeom prst="rect">
            <a:avLst/>
          </a:prstGeom>
        </p:spPr>
      </p:pic>
      <p:pic>
        <p:nvPicPr>
          <p:cNvPr id="2079"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424" y="1010578"/>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629370" y="2005411"/>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60" name="TextBox 59"/>
          <p:cNvSpPr txBox="1"/>
          <p:nvPr/>
        </p:nvSpPr>
        <p:spPr>
          <a:xfrm>
            <a:off x="1688477" y="1010579"/>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1696963" y="2944044"/>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2391251" y="29355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1</a:t>
            </a:r>
            <a:endParaRPr lang="en-IN" sz="700" b="1" dirty="0">
              <a:latin typeface="Times New Roman" pitchFamily="18" charset="0"/>
              <a:cs typeface="Times New Roman" pitchFamily="18" charset="0"/>
            </a:endParaRPr>
          </a:p>
        </p:txBody>
      </p:sp>
      <p:sp>
        <p:nvSpPr>
          <p:cNvPr id="63" name="TextBox 62"/>
          <p:cNvSpPr txBox="1"/>
          <p:nvPr/>
        </p:nvSpPr>
        <p:spPr>
          <a:xfrm>
            <a:off x="3237945" y="293556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2</a:t>
            </a:r>
            <a:endParaRPr lang="en-IN" sz="700" b="1" dirty="0">
              <a:latin typeface="Times New Roman" pitchFamily="18" charset="0"/>
              <a:cs typeface="Times New Roman" pitchFamily="18" charset="0"/>
            </a:endParaRPr>
          </a:p>
        </p:txBody>
      </p:sp>
      <p:sp>
        <p:nvSpPr>
          <p:cNvPr id="64" name="TextBox 63"/>
          <p:cNvSpPr txBox="1"/>
          <p:nvPr/>
        </p:nvSpPr>
        <p:spPr>
          <a:xfrm>
            <a:off x="1544551" y="3917743"/>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65" name="TextBox 64"/>
          <p:cNvSpPr txBox="1"/>
          <p:nvPr/>
        </p:nvSpPr>
        <p:spPr>
          <a:xfrm>
            <a:off x="2416646" y="39346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3263340" y="39261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1569946" y="4925310"/>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2442041" y="49337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3288735" y="49252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7" y="4411789"/>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4" y="442025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40" y="441951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6" y="540024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3" y="540870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39" y="5407962"/>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230" y="4932198"/>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8069" y="3917743"/>
            <a:ext cx="2516922"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9" name="Flowchart: Process 38">
            <a:extLst>
              <a:ext uri="{FF2B5EF4-FFF2-40B4-BE49-F238E27FC236}">
                <a16:creationId xmlns:a16="http://schemas.microsoft.com/office/drawing/2014/main" id="{67B54128-3B63-4D7F-921A-5150FA07B590}"/>
              </a:ext>
            </a:extLst>
          </p:cNvPr>
          <p:cNvSpPr/>
          <p:nvPr/>
        </p:nvSpPr>
        <p:spPr>
          <a:xfrm rot="16200000">
            <a:off x="2659034" y="617651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2" name="Picture 1">
            <a:extLst>
              <a:ext uri="{FF2B5EF4-FFF2-40B4-BE49-F238E27FC236}">
                <a16:creationId xmlns:a16="http://schemas.microsoft.com/office/drawing/2014/main" id="{F87303AC-36BF-9592-0829-51F405F5169F}"/>
              </a:ext>
            </a:extLst>
          </p:cNvPr>
          <p:cNvPicPr>
            <a:picLocks noChangeAspect="1"/>
          </p:cNvPicPr>
          <p:nvPr/>
        </p:nvPicPr>
        <p:blipFill>
          <a:blip r:embed="rId9"/>
          <a:stretch>
            <a:fillRect/>
          </a:stretch>
        </p:blipFill>
        <p:spPr>
          <a:xfrm>
            <a:off x="1523115" y="2957604"/>
            <a:ext cx="809461" cy="877157"/>
          </a:xfrm>
          <a:prstGeom prst="rect">
            <a:avLst/>
          </a:prstGeom>
        </p:spPr>
      </p:pic>
    </p:spTree>
    <p:extLst>
      <p:ext uri="{BB962C8B-B14F-4D97-AF65-F5344CB8AC3E}">
        <p14:creationId xmlns:p14="http://schemas.microsoft.com/office/powerpoint/2010/main" val="115518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1" name="Flowchart: Process 30">
            <a:extLst>
              <a:ext uri="{FF2B5EF4-FFF2-40B4-BE49-F238E27FC236}">
                <a16:creationId xmlns:a16="http://schemas.microsoft.com/office/drawing/2014/main" id="{67B54128-3B63-4D7F-921A-5150FA07B590}"/>
              </a:ext>
            </a:extLst>
          </p:cNvPr>
          <p:cNvSpPr/>
          <p:nvPr/>
        </p:nvSpPr>
        <p:spPr>
          <a:xfrm rot="16200000">
            <a:off x="2656293" y="5945898"/>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3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732" y="1023407"/>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6" cstate="print">
            <a:extLst>
              <a:ext uri="{28A0092B-C50C-407E-A947-70E740481C1C}">
                <a14:useLocalDpi xmlns:a14="http://schemas.microsoft.com/office/drawing/2010/main" val="0"/>
              </a:ext>
            </a:extLst>
          </a:blip>
          <a:srcRect l="7819" t="2401" r="7633" b="2166"/>
          <a:stretch/>
        </p:blipFill>
        <p:spPr>
          <a:xfrm>
            <a:off x="1302925" y="709969"/>
            <a:ext cx="2947339" cy="5454996"/>
          </a:xfrm>
          <a:prstGeom prst="rect">
            <a:avLst/>
          </a:prstGeom>
        </p:spPr>
      </p:pic>
      <p:sp>
        <p:nvSpPr>
          <p:cNvPr id="34" name="TextBox 33"/>
          <p:cNvSpPr txBox="1"/>
          <p:nvPr/>
        </p:nvSpPr>
        <p:spPr>
          <a:xfrm>
            <a:off x="1857772" y="4495835"/>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1573171" y="2328351"/>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1573165" y="298030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1595340" y="1332325"/>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14170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148" y="1296870"/>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2687341" y="983432"/>
            <a:ext cx="2947339" cy="5454996"/>
          </a:xfrm>
          <a:prstGeom prst="rect">
            <a:avLst/>
          </a:prstGeom>
        </p:spPr>
      </p:pic>
      <p:sp>
        <p:nvSpPr>
          <p:cNvPr id="34" name="TextBox 33"/>
          <p:cNvSpPr txBox="1"/>
          <p:nvPr/>
        </p:nvSpPr>
        <p:spPr>
          <a:xfrm>
            <a:off x="3242188" y="4769298"/>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2957587" y="260181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2957581" y="3253767"/>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2979756" y="1605788"/>
            <a:ext cx="731290"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HOSUR</a:t>
            </a:r>
            <a:endParaRPr lang="en-IN" sz="1200" b="1" dirty="0">
              <a:solidFill>
                <a:schemeClr val="bg1"/>
              </a:solidFill>
              <a:latin typeface="Times New Roman" pitchFamily="18" charset="0"/>
              <a:cs typeface="Times New Roman" pitchFamily="18" charset="0"/>
            </a:endParaRPr>
          </a:p>
        </p:txBody>
      </p:sp>
      <p:pic>
        <p:nvPicPr>
          <p:cNvPr id="2" name="Picture 21">
            <a:extLst>
              <a:ext uri="{FF2B5EF4-FFF2-40B4-BE49-F238E27FC236}">
                <a16:creationId xmlns:a16="http://schemas.microsoft.com/office/drawing/2014/main" id="{65B63B11-0E7D-7480-513E-08849506DE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6579" y="4801017"/>
            <a:ext cx="1728314" cy="1221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6598D72-4044-76E8-E5CF-67715E9F11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6309339" y="982008"/>
            <a:ext cx="2947339" cy="5454996"/>
          </a:xfrm>
          <a:prstGeom prst="rect">
            <a:avLst/>
          </a:prstGeom>
        </p:spPr>
      </p:pic>
      <p:pic>
        <p:nvPicPr>
          <p:cNvPr id="5" name="Picture 4">
            <a:extLst>
              <a:ext uri="{FF2B5EF4-FFF2-40B4-BE49-F238E27FC236}">
                <a16:creationId xmlns:a16="http://schemas.microsoft.com/office/drawing/2014/main" id="{11C7063D-9E30-467A-27EA-5ABD3CCA4D13}"/>
              </a:ext>
            </a:extLst>
          </p:cNvPr>
          <p:cNvPicPr>
            <a:picLocks noChangeAspect="1"/>
          </p:cNvPicPr>
          <p:nvPr/>
        </p:nvPicPr>
        <p:blipFill>
          <a:blip r:embed="rId6"/>
          <a:stretch>
            <a:fillRect/>
          </a:stretch>
        </p:blipFill>
        <p:spPr>
          <a:xfrm>
            <a:off x="6469163" y="1316049"/>
            <a:ext cx="2632106" cy="4706279"/>
          </a:xfrm>
          <a:prstGeom prst="rect">
            <a:avLst/>
          </a:prstGeom>
        </p:spPr>
      </p:pic>
      <p:sp>
        <p:nvSpPr>
          <p:cNvPr id="7" name="TextBox 6">
            <a:extLst>
              <a:ext uri="{FF2B5EF4-FFF2-40B4-BE49-F238E27FC236}">
                <a16:creationId xmlns:a16="http://schemas.microsoft.com/office/drawing/2014/main" id="{BB2E646A-E4E1-480E-4A8A-0DC14ACEFAB3}"/>
              </a:ext>
            </a:extLst>
          </p:cNvPr>
          <p:cNvSpPr txBox="1"/>
          <p:nvPr/>
        </p:nvSpPr>
        <p:spPr>
          <a:xfrm>
            <a:off x="6635932" y="2529157"/>
            <a:ext cx="663964" cy="276999"/>
          </a:xfrm>
          <a:prstGeom prst="rect">
            <a:avLst/>
          </a:prstGeom>
          <a:noFill/>
        </p:spPr>
        <p:txBody>
          <a:bodyPr wrap="none" rtlCol="0">
            <a:spAutoFit/>
          </a:bodyPr>
          <a:lstStyle/>
          <a:p>
            <a:r>
              <a:rPr lang="en-US" sz="1200" b="1" dirty="0">
                <a:solidFill>
                  <a:srgbClr val="00B050"/>
                </a:solidFill>
                <a:latin typeface="Times New Roman" pitchFamily="18" charset="0"/>
                <a:cs typeface="Times New Roman" pitchFamily="18" charset="0"/>
              </a:rPr>
              <a:t>DEMO</a:t>
            </a:r>
            <a:endParaRPr lang="en-IN" sz="12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4132934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a:solidFill>
                  <a:srgbClr val="FF0000"/>
                </a:solidFill>
                <a:latin typeface="Times New Roman" pitchFamily="18" charset="0"/>
                <a:ea typeface="+mj-ea"/>
                <a:cs typeface="Times New Roman" pitchFamily="18" charset="0"/>
              </a:rPr>
              <a:t>Flowmeter 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5624" y="1818277"/>
            <a:ext cx="5587999" cy="3530092"/>
          </a:xfrm>
          <a:prstGeom prst="rect">
            <a:avLst/>
          </a:prstGeom>
        </p:spPr>
      </p:pic>
      <p:pic>
        <p:nvPicPr>
          <p:cNvPr id="3" name="Picture 2">
            <a:extLst>
              <a:ext uri="{FF2B5EF4-FFF2-40B4-BE49-F238E27FC236}">
                <a16:creationId xmlns:a16="http://schemas.microsoft.com/office/drawing/2014/main" id="{CE10A595-F51F-0CF1-C2B8-C18A6FCA6A94}"/>
              </a:ext>
            </a:extLst>
          </p:cNvPr>
          <p:cNvPicPr>
            <a:picLocks noChangeAspect="1"/>
          </p:cNvPicPr>
          <p:nvPr/>
        </p:nvPicPr>
        <p:blipFill>
          <a:blip r:embed="rId4"/>
          <a:srcRect t="666" b="1"/>
          <a:stretch/>
        </p:blipFill>
        <p:spPr>
          <a:xfrm>
            <a:off x="6339751" y="1880075"/>
            <a:ext cx="5461997" cy="3025210"/>
          </a:xfrm>
          <a:prstGeom prst="rect">
            <a:avLst/>
          </a:prstGeom>
        </p:spPr>
      </p:pic>
      <p:pic>
        <p:nvPicPr>
          <p:cNvPr id="4" name="Picture 3">
            <a:extLst>
              <a:ext uri="{FF2B5EF4-FFF2-40B4-BE49-F238E27FC236}">
                <a16:creationId xmlns:a16="http://schemas.microsoft.com/office/drawing/2014/main" id="{BE50663F-8CF3-DB0A-8FDE-A3EC4DAF99D3}"/>
              </a:ext>
            </a:extLst>
          </p:cNvPr>
          <p:cNvPicPr>
            <a:picLocks noChangeAspect="1"/>
          </p:cNvPicPr>
          <p:nvPr/>
        </p:nvPicPr>
        <p:blipFill>
          <a:blip r:embed="rId5"/>
          <a:stretch>
            <a:fillRect/>
          </a:stretch>
        </p:blipFill>
        <p:spPr>
          <a:xfrm>
            <a:off x="390252" y="1880075"/>
            <a:ext cx="5463617" cy="3025210"/>
          </a:xfrm>
          <a:prstGeom prst="rect">
            <a:avLst/>
          </a:prstGeom>
        </p:spPr>
      </p:pic>
      <p:pic>
        <p:nvPicPr>
          <p:cNvPr id="5" name="Picture 4">
            <a:extLst>
              <a:ext uri="{FF2B5EF4-FFF2-40B4-BE49-F238E27FC236}">
                <a16:creationId xmlns:a16="http://schemas.microsoft.com/office/drawing/2014/main" id="{8736DD77-8ED0-64E7-0DE0-BAD5692FD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756" y="1818277"/>
            <a:ext cx="5587999" cy="3530092"/>
          </a:xfrm>
          <a:prstGeom prst="rect">
            <a:avLst/>
          </a:prstGeom>
        </p:spPr>
      </p:pic>
    </p:spTree>
    <p:extLst>
      <p:ext uri="{BB962C8B-B14F-4D97-AF65-F5344CB8AC3E}">
        <p14:creationId xmlns:p14="http://schemas.microsoft.com/office/powerpoint/2010/main" val="350235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Chlorinator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
        <p:nvSpPr>
          <p:cNvPr id="25" name="Rectangle 24"/>
          <p:cNvSpPr/>
          <p:nvPr/>
        </p:nvSpPr>
        <p:spPr>
          <a:xfrm>
            <a:off x="4915681" y="5323674"/>
            <a:ext cx="2812515" cy="1255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dirty="0">
              <a:solidFill>
                <a:schemeClr val="tx1"/>
              </a:solidFill>
              <a:latin typeface="Times New Roman" pitchFamily="18" charset="0"/>
              <a:cs typeface="Times New Roman" pitchFamily="18" charset="0"/>
            </a:endParaRPr>
          </a:p>
          <a:p>
            <a:pPr>
              <a:lnSpc>
                <a:spcPct val="150000"/>
              </a:lnSpc>
            </a:pPr>
            <a:r>
              <a:rPr lang="en-US" sz="1200" b="1" u="sng" dirty="0">
                <a:solidFill>
                  <a:srgbClr val="00B050"/>
                </a:solidFill>
                <a:latin typeface="Times New Roman" pitchFamily="18" charset="0"/>
                <a:cs typeface="Times New Roman" pitchFamily="18" charset="0"/>
              </a:rPr>
              <a:t>APP &amp; WEB VIEW FEATURES:</a:t>
            </a:r>
          </a:p>
          <a:p>
            <a:pPr>
              <a:lnSpc>
                <a:spcPct val="150000"/>
              </a:lnSpc>
            </a:pPr>
            <a:r>
              <a:rPr lang="en-US" sz="1200" b="1" dirty="0">
                <a:solidFill>
                  <a:schemeClr val="tx1"/>
                </a:solidFill>
                <a:latin typeface="Times New Roman" pitchFamily="18" charset="0"/>
                <a:cs typeface="Times New Roman" pitchFamily="18" charset="0"/>
              </a:rPr>
              <a:t>1.TANK HIGH LEVEL</a:t>
            </a:r>
          </a:p>
          <a:p>
            <a:pPr>
              <a:lnSpc>
                <a:spcPct val="150000"/>
              </a:lnSpc>
            </a:pPr>
            <a:r>
              <a:rPr lang="en-US" sz="1200" b="1" dirty="0">
                <a:solidFill>
                  <a:schemeClr val="tx1"/>
                </a:solidFill>
                <a:latin typeface="Times New Roman" pitchFamily="18" charset="0"/>
                <a:cs typeface="Times New Roman" pitchFamily="18" charset="0"/>
              </a:rPr>
              <a:t>2.TANK LOW LEVEL</a:t>
            </a:r>
          </a:p>
          <a:p>
            <a:pPr>
              <a:lnSpc>
                <a:spcPct val="150000"/>
              </a:lnSpc>
            </a:pPr>
            <a:r>
              <a:rPr lang="en-US" sz="1200" b="1" dirty="0">
                <a:solidFill>
                  <a:schemeClr val="tx1"/>
                </a:solidFill>
                <a:latin typeface="Times New Roman" pitchFamily="18" charset="0"/>
                <a:cs typeface="Times New Roman" pitchFamily="18" charset="0"/>
              </a:rPr>
              <a:t>3.TANK CAPACITY</a:t>
            </a:r>
          </a:p>
          <a:p>
            <a:pPr>
              <a:lnSpc>
                <a:spcPct val="150000"/>
              </a:lnSpc>
            </a:pPr>
            <a:r>
              <a:rPr lang="en-US" sz="1200" b="1" dirty="0">
                <a:solidFill>
                  <a:schemeClr val="tx1"/>
                </a:solidFill>
                <a:latin typeface="Times New Roman" pitchFamily="18" charset="0"/>
                <a:cs typeface="Times New Roman" pitchFamily="18" charset="0"/>
              </a:rPr>
              <a:t>4.TANK PERCENTAGE</a:t>
            </a:r>
          </a:p>
          <a:p>
            <a:pPr>
              <a:lnSpc>
                <a:spcPct val="150000"/>
              </a:lnSpc>
            </a:pPr>
            <a:endParaRPr lang="en-US" sz="1200" b="1" dirty="0">
              <a:solidFill>
                <a:schemeClr val="tx1"/>
              </a:solidFill>
              <a:latin typeface="Times New Roman" pitchFamily="18" charset="0"/>
              <a:cs typeface="Times New Roman" pitchFamily="18" charset="0"/>
            </a:endParaRPr>
          </a:p>
        </p:txBody>
      </p:sp>
      <p:sp>
        <p:nvSpPr>
          <p:cNvPr id="27" name="Flowchart: Process 26">
            <a:extLst>
              <a:ext uri="{FF2B5EF4-FFF2-40B4-BE49-F238E27FC236}">
                <a16:creationId xmlns:a16="http://schemas.microsoft.com/office/drawing/2014/main" id="{67B54128-3B63-4D7F-921A-5150FA07B590}"/>
              </a:ext>
            </a:extLst>
          </p:cNvPr>
          <p:cNvSpPr/>
          <p:nvPr/>
        </p:nvSpPr>
        <p:spPr>
          <a:xfrm rot="16200000">
            <a:off x="2755639" y="5992797"/>
            <a:ext cx="230632" cy="9423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APP VIEW</a:t>
            </a:r>
          </a:p>
        </p:txBody>
      </p:sp>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397286" y="820036"/>
            <a:ext cx="2947339" cy="5454996"/>
          </a:xfrm>
          <a:prstGeom prst="rect">
            <a:avLst/>
          </a:prstGeom>
        </p:spPr>
      </p:pic>
      <p:pic>
        <p:nvPicPr>
          <p:cNvPr id="1037" name="Picture 13"/>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1553654" y="1143000"/>
            <a:ext cx="2620413" cy="474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76340" y="1657404"/>
            <a:ext cx="5587999" cy="3530092"/>
          </a:xfrm>
          <a:prstGeom prst="rect">
            <a:avLst/>
          </a:prstGeom>
        </p:spPr>
      </p:pic>
      <p:sp>
        <p:nvSpPr>
          <p:cNvPr id="47" name="Flowchart: Process 46">
            <a:extLst>
              <a:ext uri="{FF2B5EF4-FFF2-40B4-BE49-F238E27FC236}">
                <a16:creationId xmlns:a16="http://schemas.microsoft.com/office/drawing/2014/main" id="{67B54128-3B63-4D7F-921A-5150FA07B590}"/>
              </a:ext>
            </a:extLst>
          </p:cNvPr>
          <p:cNvSpPr/>
          <p:nvPr/>
        </p:nvSpPr>
        <p:spPr>
          <a:xfrm rot="16200000">
            <a:off x="8052697" y="502142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4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069" y="1726224"/>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Box 48"/>
          <p:cNvSpPr txBox="1"/>
          <p:nvPr/>
        </p:nvSpPr>
        <p:spPr>
          <a:xfrm>
            <a:off x="7379509" y="2142097"/>
            <a:ext cx="497252" cy="169277"/>
          </a:xfrm>
          <a:prstGeom prst="rect">
            <a:avLst/>
          </a:prstGeom>
          <a:noFill/>
        </p:spPr>
        <p:txBody>
          <a:bodyPr wrap="none" rtlCol="0">
            <a:spAutoFit/>
          </a:bodyPr>
          <a:lstStyle/>
          <a:p>
            <a:r>
              <a:rPr lang="en-US" sz="500" b="1" dirty="0">
                <a:latin typeface="Times New Roman" pitchFamily="18" charset="0"/>
                <a:cs typeface="Times New Roman" pitchFamily="18" charset="0"/>
              </a:rPr>
              <a:t>DWG VCT</a:t>
            </a:r>
            <a:endParaRPr lang="en-IN" sz="500" b="1" dirty="0">
              <a:latin typeface="Times New Roman" pitchFamily="18" charset="0"/>
              <a:cs typeface="Times New Roman" pitchFamily="18" charset="0"/>
            </a:endParaRPr>
          </a:p>
        </p:txBody>
      </p:sp>
      <p:sp>
        <p:nvSpPr>
          <p:cNvPr id="50" name="TextBox 49"/>
          <p:cNvSpPr txBox="1"/>
          <p:nvPr/>
        </p:nvSpPr>
        <p:spPr>
          <a:xfrm>
            <a:off x="5677483" y="2140885"/>
            <a:ext cx="595035" cy="169277"/>
          </a:xfrm>
          <a:prstGeom prst="rect">
            <a:avLst/>
          </a:prstGeom>
          <a:noFill/>
        </p:spPr>
        <p:txBody>
          <a:bodyPr wrap="none" rtlCol="0">
            <a:spAutoFit/>
          </a:bodyPr>
          <a:lstStyle/>
          <a:p>
            <a:r>
              <a:rPr lang="en-US" sz="500" b="1" dirty="0">
                <a:latin typeface="Times New Roman" pitchFamily="18" charset="0"/>
                <a:cs typeface="Times New Roman" pitchFamily="18" charset="0"/>
              </a:rPr>
              <a:t>PANCHAYAT</a:t>
            </a:r>
            <a:endParaRPr lang="en-IN" sz="500" b="1" dirty="0">
              <a:latin typeface="Times New Roman" pitchFamily="18" charset="0"/>
              <a:cs typeface="Times New Roman" pitchFamily="18" charset="0"/>
            </a:endParaRPr>
          </a:p>
        </p:txBody>
      </p:sp>
      <p:sp>
        <p:nvSpPr>
          <p:cNvPr id="3" name="TextBox 2"/>
          <p:cNvSpPr txBox="1"/>
          <p:nvPr/>
        </p:nvSpPr>
        <p:spPr>
          <a:xfrm>
            <a:off x="1713891" y="2399595"/>
            <a:ext cx="816249" cy="215444"/>
          </a:xfrm>
          <a:prstGeom prst="rect">
            <a:avLst/>
          </a:prstGeom>
          <a:noFill/>
        </p:spPr>
        <p:txBody>
          <a:bodyPr wrap="none" rtlCol="0">
            <a:spAutoFit/>
          </a:bodyPr>
          <a:lstStyle/>
          <a:p>
            <a:r>
              <a:rPr lang="en-US" sz="800" dirty="0">
                <a:latin typeface="Times New Roman" pitchFamily="18" charset="0"/>
                <a:cs typeface="Times New Roman" pitchFamily="18" charset="0"/>
              </a:rPr>
              <a:t>PANCHAYAT</a:t>
            </a:r>
            <a:endParaRPr lang="en-IN" sz="800" dirty="0">
              <a:latin typeface="Times New Roman" pitchFamily="18" charset="0"/>
              <a:cs typeface="Times New Roman" pitchFamily="18" charset="0"/>
            </a:endParaRPr>
          </a:p>
        </p:txBody>
      </p:sp>
    </p:spTree>
    <p:extLst>
      <p:ext uri="{BB962C8B-B14F-4D97-AF65-F5344CB8AC3E}">
        <p14:creationId xmlns:p14="http://schemas.microsoft.com/office/powerpoint/2010/main" val="116949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78094"/>
            <a:ext cx="10363200" cy="608124"/>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TERMS AND CONDITIONS</a:t>
            </a:r>
          </a:p>
        </p:txBody>
      </p:sp>
      <p:sp>
        <p:nvSpPr>
          <p:cNvPr id="2" name="Rectangle 1"/>
          <p:cNvSpPr/>
          <p:nvPr/>
        </p:nvSpPr>
        <p:spPr>
          <a:xfrm>
            <a:off x="643529" y="461247"/>
            <a:ext cx="10941746" cy="6309420"/>
          </a:xfrm>
          <a:prstGeom prst="rect">
            <a:avLst/>
          </a:prstGeom>
        </p:spPr>
        <p:txBody>
          <a:bodyPr wrap="square">
            <a:spAutoFit/>
          </a:bodyPr>
          <a:lstStyle/>
          <a:p>
            <a:pPr>
              <a:lnSpc>
                <a:spcPct val="200000"/>
              </a:lnSpc>
            </a:pPr>
            <a:r>
              <a:rPr lang="en-US" sz="2200" b="1" dirty="0">
                <a:latin typeface="Times New Roman" pitchFamily="18" charset="0"/>
                <a:cs typeface="Times New Roman" pitchFamily="18" charset="0"/>
              </a:rPr>
              <a:t>1. Payment: 75% in advance with PO and 25 % after installation.</a:t>
            </a:r>
          </a:p>
          <a:p>
            <a:pPr>
              <a:lnSpc>
                <a:spcPct val="200000"/>
              </a:lnSpc>
            </a:pPr>
            <a:r>
              <a:rPr lang="en-US" sz="2200" dirty="0">
                <a:latin typeface="Times New Roman" pitchFamily="18" charset="0"/>
                <a:cs typeface="Times New Roman" pitchFamily="18" charset="0"/>
              </a:rPr>
              <a:t>2. Delivery: 3 -4 Weeks against PO.</a:t>
            </a:r>
          </a:p>
          <a:p>
            <a:pPr>
              <a:lnSpc>
                <a:spcPct val="200000"/>
              </a:lnSpc>
            </a:pPr>
            <a:r>
              <a:rPr lang="en-US" sz="2200" b="1" dirty="0">
                <a:latin typeface="Times New Roman" pitchFamily="18" charset="0"/>
                <a:cs typeface="Times New Roman" pitchFamily="18" charset="0"/>
              </a:rPr>
              <a:t>3. Warranty: One year from the date of Commissioning.</a:t>
            </a:r>
          </a:p>
          <a:p>
            <a:pPr>
              <a:lnSpc>
                <a:spcPct val="200000"/>
              </a:lnSpc>
            </a:pPr>
            <a:r>
              <a:rPr lang="en-US" sz="2200" dirty="0">
                <a:latin typeface="Times New Roman" pitchFamily="18" charset="0"/>
                <a:cs typeface="Times New Roman" pitchFamily="18" charset="0"/>
              </a:rPr>
              <a:t>4. No warranty for products failure under High Voltage &amp; Natural disasters.</a:t>
            </a:r>
          </a:p>
          <a:p>
            <a:pPr>
              <a:lnSpc>
                <a:spcPct val="200000"/>
              </a:lnSpc>
            </a:pPr>
            <a:r>
              <a:rPr lang="en-US" sz="2200" dirty="0">
                <a:latin typeface="Times New Roman" pitchFamily="18" charset="0"/>
                <a:cs typeface="Times New Roman" pitchFamily="18" charset="0"/>
              </a:rPr>
              <a:t>5. Civil Works, Plumbing and Electrical Supply would be on Customer Scope.</a:t>
            </a:r>
          </a:p>
          <a:p>
            <a:pPr>
              <a:lnSpc>
                <a:spcPct val="200000"/>
              </a:lnSpc>
            </a:pPr>
            <a:r>
              <a:rPr lang="en-US" sz="2200" dirty="0">
                <a:latin typeface="Times New Roman" pitchFamily="18" charset="0"/>
                <a:cs typeface="Times New Roman" pitchFamily="18" charset="0"/>
              </a:rPr>
              <a:t>6.</a:t>
            </a:r>
            <a:r>
              <a:rPr lang="en-US" sz="2400" dirty="0">
                <a:latin typeface="Times New Roman" pitchFamily="18" charset="0"/>
                <a:cs typeface="Times New Roman" pitchFamily="18" charset="0"/>
              </a:rPr>
              <a:t> Additionally Wireless Repeater may be required if the signal is not sufficient, The cost of the Repeater will be Rs.11,000 Plus GST 18%.</a:t>
            </a:r>
            <a:endParaRPr lang="en-US" sz="2200" dirty="0">
              <a:latin typeface="Times New Roman" pitchFamily="18" charset="0"/>
              <a:cs typeface="Times New Roman" pitchFamily="18" charset="0"/>
            </a:endParaRPr>
          </a:p>
          <a:p>
            <a:pPr>
              <a:lnSpc>
                <a:spcPct val="200000"/>
              </a:lnSpc>
            </a:pPr>
            <a:r>
              <a:rPr lang="en-US" sz="2200" b="1" dirty="0">
                <a:latin typeface="Times New Roman" pitchFamily="18" charset="0"/>
                <a:cs typeface="Times New Roman" pitchFamily="18" charset="0"/>
              </a:rPr>
              <a:t>7. AMC would be 15% of the total value post-warranty</a:t>
            </a:r>
            <a:r>
              <a:rPr lang="en-US" sz="2200" dirty="0">
                <a:latin typeface="Times New Roman" pitchFamily="18" charset="0"/>
                <a:cs typeface="Times New Roman" pitchFamily="18" charset="0"/>
              </a:rPr>
              <a:t>.</a:t>
            </a:r>
          </a:p>
          <a:p>
            <a:pPr>
              <a:lnSpc>
                <a:spcPct val="200000"/>
              </a:lnSpc>
            </a:pPr>
            <a:r>
              <a:rPr lang="en-US" sz="2200" dirty="0">
                <a:latin typeface="Times New Roman" pitchFamily="18" charset="0"/>
                <a:cs typeface="Times New Roman" pitchFamily="18" charset="0"/>
              </a:rPr>
              <a:t>8. Quotation Valid for 30 days.</a:t>
            </a:r>
            <a:endParaRPr lang="en-IN" sz="2200" dirty="0">
              <a:latin typeface="Times New Roman" pitchFamily="18" charset="0"/>
              <a:cs typeface="Times New Roman" pitchFamily="18" charset="0"/>
            </a:endParaRP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86601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23809494"/>
              </p:ext>
            </p:extLst>
          </p:nvPr>
        </p:nvGraphicFramePr>
        <p:xfrm>
          <a:off x="209359" y="588285"/>
          <a:ext cx="11712131" cy="5930311"/>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286627">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KPR</a:t>
                      </a:r>
                      <a:r>
                        <a:rPr lang="en-US" sz="2200" baseline="0" dirty="0">
                          <a:latin typeface="Times New Roman" pitchFamily="18" charset="0"/>
                          <a:cs typeface="Times New Roman" pitchFamily="18" charset="0"/>
                        </a:rPr>
                        <a:t> Mills, SIPCOT-</a:t>
                      </a:r>
                      <a:r>
                        <a:rPr lang="en-US" sz="2200" baseline="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Engineering College,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Sakthi</a:t>
                      </a:r>
                      <a:r>
                        <a:rPr lang="en-IN" sz="2200" dirty="0">
                          <a:latin typeface="Times New Roman" pitchFamily="18" charset="0"/>
                          <a:cs typeface="Times New Roman" pitchFamily="18" charset="0"/>
                        </a:rPr>
                        <a:t> Group, </a:t>
                      </a:r>
                      <a:r>
                        <a:rPr lang="en-IN" sz="2200" dirty="0" err="1">
                          <a:latin typeface="Times New Roman" pitchFamily="18" charset="0"/>
                          <a:cs typeface="Times New Roman" pitchFamily="18" charset="0"/>
                        </a:rPr>
                        <a:t>Pallagounden</a:t>
                      </a:r>
                      <a:r>
                        <a:rPr lang="en-IN" sz="2200" baseline="0" dirty="0" err="1">
                          <a:latin typeface="Times New Roman" pitchFamily="18" charset="0"/>
                          <a:cs typeface="Times New Roman" pitchFamily="18" charset="0"/>
                        </a:rPr>
                        <a:t>Palayam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SA Textiles,</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Vijayamangalam</a:t>
                      </a:r>
                      <a:endParaRPr lang="en-IN" sz="22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Cheran</a:t>
                      </a:r>
                      <a:r>
                        <a:rPr lang="en-IN" sz="2200" dirty="0">
                          <a:latin typeface="Times New Roman" pitchFamily="18" charset="0"/>
                          <a:cs typeface="Times New Roman" pitchFamily="18" charset="0"/>
                        </a:rPr>
                        <a:t> Plastics,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Velmurugan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Scans,Erode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MSK Hero Group,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Prithvi Inner Wears,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a:latin typeface="Times New Roman" pitchFamily="18" charset="0"/>
                          <a:cs typeface="Times New Roman" pitchFamily="18" charset="0"/>
                        </a:rPr>
                        <a:t>Palani </a:t>
                      </a:r>
                      <a:r>
                        <a:rPr lang="en-IN" sz="2200" dirty="0" err="1">
                          <a:latin typeface="Times New Roman" pitchFamily="18" charset="0"/>
                          <a:cs typeface="Times New Roman" pitchFamily="18" charset="0"/>
                        </a:rPr>
                        <a:t>Murugan</a:t>
                      </a:r>
                      <a:r>
                        <a:rPr lang="en-IN" sz="2200" dirty="0">
                          <a:latin typeface="Times New Roman" pitchFamily="18" charset="0"/>
                          <a:cs typeface="Times New Roman" pitchFamily="18" charset="0"/>
                        </a:rPr>
                        <a:t> Temple, </a:t>
                      </a:r>
                      <a:r>
                        <a:rPr lang="en-IN" sz="2200" dirty="0" err="1">
                          <a:latin typeface="Times New Roman" pitchFamily="18" charset="0"/>
                          <a:cs typeface="Times New Roman" pitchFamily="18" charset="0"/>
                        </a:rPr>
                        <a:t>Palani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Kasipalayam</a:t>
                      </a:r>
                      <a:r>
                        <a:rPr lang="en-IN" sz="2200" dirty="0">
                          <a:latin typeface="Times New Roman" pitchFamily="18" charset="0"/>
                          <a:cs typeface="Times New Roman" pitchFamily="18" charset="0"/>
                        </a:rPr>
                        <a:t> CETP,</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a:latin typeface="Times New Roman" pitchFamily="18" charset="0"/>
                          <a:cs typeface="Times New Roman" pitchFamily="18" charset="0"/>
                        </a:rPr>
                        <a:t>CMV Global Clothing,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Excel Group Institutions, </a:t>
                      </a:r>
                      <a:r>
                        <a:rPr kumimoji="0" lang="en-US" sz="2200" b="0" i="0" kern="1200" dirty="0" err="1">
                          <a:solidFill>
                            <a:schemeClr val="dk1"/>
                          </a:solidFill>
                          <a:latin typeface="Times New Roman" pitchFamily="18" charset="0"/>
                          <a:ea typeface="+mn-ea"/>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a:latin typeface="Times New Roman" pitchFamily="18" charset="0"/>
                          <a:cs typeface="Times New Roman" pitchFamily="18" charset="0"/>
                        </a:rPr>
                        <a:t>Erode Railway Junction,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Nithin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Nivas</a:t>
                      </a:r>
                      <a:r>
                        <a:rPr lang="en-IN" sz="2200" dirty="0">
                          <a:latin typeface="Times New Roman" pitchFamily="18" charset="0"/>
                          <a:cs typeface="Times New Roman" pitchFamily="18" charset="0"/>
                        </a:rPr>
                        <a:t> Apartments, Erode</a:t>
                      </a: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a:latin typeface="Times New Roman" pitchFamily="18" charset="0"/>
                          <a:cs typeface="Times New Roman" pitchFamily="18" charset="0"/>
                        </a:rPr>
                        <a:t>Tenx Health Care, Coimbatore</a:t>
                      </a:r>
                    </a:p>
                  </a:txBody>
                  <a:tcPr marL="74295" marR="74295" anchor="ctr"/>
                </a:tc>
                <a:tc>
                  <a:txBody>
                    <a:bodyPr/>
                    <a:lstStyle/>
                    <a:p>
                      <a:pPr algn="l"/>
                      <a:r>
                        <a:rPr lang="en-US" sz="2200" dirty="0" err="1">
                          <a:latin typeface="Times New Roman" pitchFamily="18" charset="0"/>
                          <a:cs typeface="Times New Roman" pitchFamily="18" charset="0"/>
                        </a:rPr>
                        <a:t>Sukra</a:t>
                      </a:r>
                      <a:r>
                        <a:rPr lang="en-US" sz="2200" dirty="0">
                          <a:latin typeface="Times New Roman" pitchFamily="18" charset="0"/>
                          <a:cs typeface="Times New Roman" pitchFamily="18" charset="0"/>
                        </a:rPr>
                        <a:t> Colors, </a:t>
                      </a:r>
                      <a:r>
                        <a:rPr lang="en-US"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a:latin typeface="Times New Roman" pitchFamily="18" charset="0"/>
                          <a:cs typeface="Times New Roman" pitchFamily="18" charset="0"/>
                        </a:rPr>
                        <a:t>Roots Multi Clean Ltd,</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Pollachi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MohanRaj</a:t>
                      </a:r>
                      <a:r>
                        <a:rPr lang="en-IN" sz="2200" baseline="0" dirty="0">
                          <a:latin typeface="Times New Roman" pitchFamily="18" charset="0"/>
                          <a:cs typeface="Times New Roman" pitchFamily="18" charset="0"/>
                        </a:rPr>
                        <a:t> Poultry Farms, </a:t>
                      </a:r>
                      <a:r>
                        <a:rPr lang="en-IN" sz="2200" baseline="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Sona</a:t>
                      </a:r>
                      <a:r>
                        <a:rPr lang="en-IN" sz="2200" dirty="0">
                          <a:latin typeface="Times New Roman" pitchFamily="18" charset="0"/>
                          <a:cs typeface="Times New Roman" pitchFamily="18" charset="0"/>
                        </a:rPr>
                        <a:t> College</a:t>
                      </a:r>
                      <a:r>
                        <a:rPr lang="en-IN" sz="2200" baseline="0" dirty="0">
                          <a:latin typeface="Times New Roman" pitchFamily="18" charset="0"/>
                          <a:cs typeface="Times New Roman" pitchFamily="18" charset="0"/>
                        </a:rPr>
                        <a:t> of Technology, Salem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ASMA Engineering Services, Goa</a:t>
                      </a:r>
                    </a:p>
                  </a:txBody>
                  <a:tcPr marL="74295" marR="74295" anchor="ctr"/>
                </a:tc>
                <a:extLst>
                  <a:ext uri="{0D108BD9-81ED-4DB2-BD59-A6C34878D82A}">
                    <a16:rowId xmlns:a16="http://schemas.microsoft.com/office/drawing/2014/main" val="10009"/>
                  </a:ext>
                </a:extLst>
              </a:tr>
            </a:tbl>
          </a:graphicData>
        </a:graphic>
      </p:graphicFrame>
      <p:pic>
        <p:nvPicPr>
          <p:cNvPr id="56" name="Picture 55">
            <a:extLst>
              <a:ext uri="{FF2B5EF4-FFF2-40B4-BE49-F238E27FC236}">
                <a16:creationId xmlns:a16="http://schemas.microsoft.com/office/drawing/2014/main" id="{20059E08-2141-4398-8DFF-E90C3CA55F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605" r="11644"/>
          <a:stretch/>
        </p:blipFill>
        <p:spPr>
          <a:xfrm>
            <a:off x="5027362" y="3112230"/>
            <a:ext cx="577247" cy="549824"/>
          </a:xfrm>
          <a:prstGeom prst="rect">
            <a:avLst/>
          </a:prstGeom>
        </p:spPr>
      </p:pic>
      <p:pic>
        <p:nvPicPr>
          <p:cNvPr id="57" name="Picture 56">
            <a:extLst>
              <a:ext uri="{FF2B5EF4-FFF2-40B4-BE49-F238E27FC236}">
                <a16:creationId xmlns:a16="http://schemas.microsoft.com/office/drawing/2014/main" id="{ED615390-C754-4A01-81B5-6FFD62A68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9865" y="3714750"/>
            <a:ext cx="1042523" cy="475705"/>
          </a:xfrm>
          <a:prstGeom prst="rect">
            <a:avLst/>
          </a:prstGeom>
        </p:spPr>
      </p:pic>
      <p:pic>
        <p:nvPicPr>
          <p:cNvPr id="58" name="Picture 57">
            <a:extLst>
              <a:ext uri="{FF2B5EF4-FFF2-40B4-BE49-F238E27FC236}">
                <a16:creationId xmlns:a16="http://schemas.microsoft.com/office/drawing/2014/main" id="{E5715665-0B3D-4068-8C2A-ADABC235E016}"/>
              </a:ext>
            </a:extLst>
          </p:cNvPr>
          <p:cNvPicPr>
            <a:picLocks noChangeAspect="1"/>
          </p:cNvPicPr>
          <p:nvPr/>
        </p:nvPicPr>
        <p:blipFill rotWithShape="1">
          <a:blip r:embed="rId4">
            <a:extLst>
              <a:ext uri="{28A0092B-C50C-407E-A947-70E740481C1C}">
                <a14:useLocalDpi xmlns:a14="http://schemas.microsoft.com/office/drawing/2010/main" val="0"/>
              </a:ext>
            </a:extLst>
          </a:blip>
          <a:srcRect l="12767" r="11297" b="28344"/>
          <a:stretch/>
        </p:blipFill>
        <p:spPr>
          <a:xfrm>
            <a:off x="4546362" y="4240530"/>
            <a:ext cx="1051029" cy="563901"/>
          </a:xfrm>
          <a:prstGeom prst="rect">
            <a:avLst/>
          </a:prstGeom>
        </p:spPr>
      </p:pic>
      <p:pic>
        <p:nvPicPr>
          <p:cNvPr id="59" name="Picture 58">
            <a:extLst>
              <a:ext uri="{FF2B5EF4-FFF2-40B4-BE49-F238E27FC236}">
                <a16:creationId xmlns:a16="http://schemas.microsoft.com/office/drawing/2014/main" id="{A5572221-2577-4B92-8E48-5661E804E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3454" y="4879649"/>
            <a:ext cx="1000559" cy="410197"/>
          </a:xfrm>
          <a:prstGeom prst="rect">
            <a:avLst/>
          </a:prstGeom>
        </p:spPr>
      </p:pic>
      <p:pic>
        <p:nvPicPr>
          <p:cNvPr id="60" name="Picture 59">
            <a:extLst>
              <a:ext uri="{FF2B5EF4-FFF2-40B4-BE49-F238E27FC236}">
                <a16:creationId xmlns:a16="http://schemas.microsoft.com/office/drawing/2014/main" id="{14518C21-8446-4A57-964B-E155B204BB3A}"/>
              </a:ext>
            </a:extLst>
          </p:cNvPr>
          <p:cNvPicPr>
            <a:picLocks noChangeAspect="1"/>
          </p:cNvPicPr>
          <p:nvPr/>
        </p:nvPicPr>
        <p:blipFill rotWithShape="1">
          <a:blip r:embed="rId6">
            <a:extLst>
              <a:ext uri="{28A0092B-C50C-407E-A947-70E740481C1C}">
                <a14:useLocalDpi xmlns:a14="http://schemas.microsoft.com/office/drawing/2010/main" val="0"/>
              </a:ext>
            </a:extLst>
          </a:blip>
          <a:srcRect l="8822" t="12109" r="11045" b="12049"/>
          <a:stretch/>
        </p:blipFill>
        <p:spPr>
          <a:xfrm>
            <a:off x="4520725" y="1938824"/>
            <a:ext cx="1078179" cy="479635"/>
          </a:xfrm>
          <a:prstGeom prst="rect">
            <a:avLst/>
          </a:prstGeom>
        </p:spPr>
      </p:pic>
      <p:pic>
        <p:nvPicPr>
          <p:cNvPr id="61" name="Picture 60">
            <a:extLst>
              <a:ext uri="{FF2B5EF4-FFF2-40B4-BE49-F238E27FC236}">
                <a16:creationId xmlns:a16="http://schemas.microsoft.com/office/drawing/2014/main" id="{F6EB9C09-1C00-444B-9970-E3DE1637F59F}"/>
              </a:ext>
            </a:extLst>
          </p:cNvPr>
          <p:cNvPicPr>
            <a:picLocks noChangeAspect="1"/>
          </p:cNvPicPr>
          <p:nvPr/>
        </p:nvPicPr>
        <p:blipFill rotWithShape="1">
          <a:blip r:embed="rId7">
            <a:extLst>
              <a:ext uri="{28A0092B-C50C-407E-A947-70E740481C1C}">
                <a14:useLocalDpi xmlns:a14="http://schemas.microsoft.com/office/drawing/2010/main" val="0"/>
              </a:ext>
            </a:extLst>
          </a:blip>
          <a:srcRect t="16763" b="32965"/>
          <a:stretch/>
        </p:blipFill>
        <p:spPr>
          <a:xfrm>
            <a:off x="4520725" y="2486826"/>
            <a:ext cx="1078788" cy="516088"/>
          </a:xfrm>
          <a:prstGeom prst="rect">
            <a:avLst/>
          </a:prstGeom>
        </p:spPr>
      </p:pic>
      <p:pic>
        <p:nvPicPr>
          <p:cNvPr id="62" name="Picture 61">
            <a:extLst>
              <a:ext uri="{FF2B5EF4-FFF2-40B4-BE49-F238E27FC236}">
                <a16:creationId xmlns:a16="http://schemas.microsoft.com/office/drawing/2014/main" id="{62F181D0-8B61-40CC-89AC-C6EA707023EB}"/>
              </a:ext>
            </a:extLst>
          </p:cNvPr>
          <p:cNvPicPr>
            <a:picLocks noChangeAspect="1"/>
          </p:cNvPicPr>
          <p:nvPr/>
        </p:nvPicPr>
        <p:blipFill rotWithShape="1">
          <a:blip r:embed="rId8">
            <a:extLst>
              <a:ext uri="{28A0092B-C50C-407E-A947-70E740481C1C}">
                <a14:useLocalDpi xmlns:a14="http://schemas.microsoft.com/office/drawing/2010/main" val="0"/>
              </a:ext>
            </a:extLst>
          </a:blip>
          <a:srcRect l="16506" t="5292" r="15217"/>
          <a:stretch/>
        </p:blipFill>
        <p:spPr>
          <a:xfrm>
            <a:off x="4563454" y="1229220"/>
            <a:ext cx="1029721" cy="670937"/>
          </a:xfrm>
          <a:prstGeom prst="rect">
            <a:avLst/>
          </a:prstGeom>
        </p:spPr>
      </p:pic>
      <p:pic>
        <p:nvPicPr>
          <p:cNvPr id="63" name="Picture 62">
            <a:extLst>
              <a:ext uri="{FF2B5EF4-FFF2-40B4-BE49-F238E27FC236}">
                <a16:creationId xmlns:a16="http://schemas.microsoft.com/office/drawing/2014/main" id="{E3BA9F66-E919-466A-BCA5-7CB860D228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2120" b="1830"/>
          <a:stretch/>
        </p:blipFill>
        <p:spPr>
          <a:xfrm>
            <a:off x="10784793" y="2473707"/>
            <a:ext cx="1097440" cy="562923"/>
          </a:xfrm>
          <a:prstGeom prst="rect">
            <a:avLst/>
          </a:prstGeom>
        </p:spPr>
      </p:pic>
      <p:pic>
        <p:nvPicPr>
          <p:cNvPr id="66" name="Picture 65">
            <a:extLst>
              <a:ext uri="{FF2B5EF4-FFF2-40B4-BE49-F238E27FC236}">
                <a16:creationId xmlns:a16="http://schemas.microsoft.com/office/drawing/2014/main" id="{89616D73-3072-4726-B440-371BF22874E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759155" y="1905712"/>
            <a:ext cx="1120034" cy="517447"/>
          </a:xfrm>
          <a:prstGeom prst="rect">
            <a:avLst/>
          </a:prstGeom>
        </p:spPr>
      </p:pic>
      <p:pic>
        <p:nvPicPr>
          <p:cNvPr id="67" name="Picture 66" descr="download.jpg"/>
          <p:cNvPicPr>
            <a:picLocks noChangeAspect="1"/>
          </p:cNvPicPr>
          <p:nvPr/>
        </p:nvPicPr>
        <p:blipFill>
          <a:blip r:embed="rId11"/>
          <a:stretch>
            <a:fillRect/>
          </a:stretch>
        </p:blipFill>
        <p:spPr>
          <a:xfrm>
            <a:off x="4614729" y="598207"/>
            <a:ext cx="971804" cy="606750"/>
          </a:xfrm>
          <a:prstGeom prst="rect">
            <a:avLst/>
          </a:prstGeom>
        </p:spPr>
      </p:pic>
      <p:sp>
        <p:nvSpPr>
          <p:cNvPr id="68" name="Title 1">
            <a:extLst>
              <a:ext uri="{FF2B5EF4-FFF2-40B4-BE49-F238E27FC236}">
                <a16:creationId xmlns:a16="http://schemas.microsoft.com/office/drawing/2014/main" id="{3E59A521-324B-43FE-BCFD-E12526C8A28A}"/>
              </a:ext>
            </a:extLst>
          </p:cNvPr>
          <p:cNvSpPr txBox="1">
            <a:spLocks/>
          </p:cNvSpPr>
          <p:nvPr/>
        </p:nvSpPr>
        <p:spPr>
          <a:xfrm>
            <a:off x="2220618" y="28289"/>
            <a:ext cx="7727056"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1" name="Picture 20" descr="download.jpg"/>
          <p:cNvPicPr>
            <a:picLocks noChangeAspect="1"/>
          </p:cNvPicPr>
          <p:nvPr/>
        </p:nvPicPr>
        <p:blipFill>
          <a:blip r:embed="rId12"/>
          <a:stretch>
            <a:fillRect/>
          </a:stretch>
        </p:blipFill>
        <p:spPr>
          <a:xfrm>
            <a:off x="10870251" y="4268152"/>
            <a:ext cx="1026992" cy="508805"/>
          </a:xfrm>
          <a:prstGeom prst="rect">
            <a:avLst/>
          </a:prstGeom>
        </p:spPr>
      </p:pic>
      <p:pic>
        <p:nvPicPr>
          <p:cNvPr id="22" name="Picture 21" descr="download (1).jpg"/>
          <p:cNvPicPr>
            <a:picLocks noChangeAspect="1"/>
          </p:cNvPicPr>
          <p:nvPr/>
        </p:nvPicPr>
        <p:blipFill>
          <a:blip r:embed="rId13"/>
          <a:srcRect b="16429"/>
          <a:stretch>
            <a:fillRect/>
          </a:stretch>
        </p:blipFill>
        <p:spPr>
          <a:xfrm>
            <a:off x="10887342" y="4871104"/>
            <a:ext cx="1004238" cy="452286"/>
          </a:xfrm>
          <a:prstGeom prst="rect">
            <a:avLst/>
          </a:prstGeom>
        </p:spPr>
      </p:pic>
      <p:pic>
        <p:nvPicPr>
          <p:cNvPr id="23" name="Picture 22" descr="download.png"/>
          <p:cNvPicPr>
            <a:picLocks noChangeAspect="1"/>
          </p:cNvPicPr>
          <p:nvPr/>
        </p:nvPicPr>
        <p:blipFill>
          <a:blip r:embed="rId14"/>
          <a:stretch>
            <a:fillRect/>
          </a:stretch>
        </p:blipFill>
        <p:spPr>
          <a:xfrm>
            <a:off x="4529271" y="5845324"/>
            <a:ext cx="1025708" cy="547548"/>
          </a:xfrm>
          <a:prstGeom prst="rect">
            <a:avLst/>
          </a:prstGeom>
        </p:spPr>
      </p:pic>
      <p:pic>
        <p:nvPicPr>
          <p:cNvPr id="24" name="Picture 23" descr="spinning-mill-1.jpg"/>
          <p:cNvPicPr>
            <a:picLocks noChangeAspect="1"/>
          </p:cNvPicPr>
          <p:nvPr/>
        </p:nvPicPr>
        <p:blipFill>
          <a:blip r:embed="rId15" cstate="print"/>
          <a:stretch>
            <a:fillRect/>
          </a:stretch>
        </p:blipFill>
        <p:spPr>
          <a:xfrm>
            <a:off x="10759155" y="1262796"/>
            <a:ext cx="1140148" cy="598714"/>
          </a:xfrm>
          <a:prstGeom prst="rect">
            <a:avLst/>
          </a:prstGeom>
        </p:spPr>
      </p:pic>
      <p:pic>
        <p:nvPicPr>
          <p:cNvPr id="25" name="Picture 24">
            <a:extLst>
              <a:ext uri="{FF2B5EF4-FFF2-40B4-BE49-F238E27FC236}">
                <a16:creationId xmlns:a16="http://schemas.microsoft.com/office/drawing/2014/main" id="{90F8BEA1-8E97-4BF8-B9F4-E8EF875C4A3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2151" r="9513"/>
          <a:stretch/>
        </p:blipFill>
        <p:spPr>
          <a:xfrm>
            <a:off x="11066804" y="625873"/>
            <a:ext cx="844436" cy="572607"/>
          </a:xfrm>
          <a:prstGeom prst="rect">
            <a:avLst/>
          </a:prstGeom>
        </p:spPr>
      </p:pic>
      <p:pic>
        <p:nvPicPr>
          <p:cNvPr id="2050" name="Picture 2" descr="C:\Users\HP-RTS\Desktop\I TANK\Customer Lists\rmcl.jpg"/>
          <p:cNvPicPr>
            <a:picLocks noChangeAspect="1" noChangeArrowheads="1"/>
          </p:cNvPicPr>
          <p:nvPr/>
        </p:nvPicPr>
        <p:blipFill>
          <a:blip r:embed="rId17"/>
          <a:srcRect t="10884" b="11565"/>
          <a:stretch>
            <a:fillRect/>
          </a:stretch>
        </p:blipFill>
        <p:spPr bwMode="auto">
          <a:xfrm>
            <a:off x="4536614" y="5363688"/>
            <a:ext cx="1031719" cy="408389"/>
          </a:xfrm>
          <a:prstGeom prst="rect">
            <a:avLst/>
          </a:prstGeom>
          <a:noFill/>
        </p:spPr>
      </p:pic>
      <p:pic>
        <p:nvPicPr>
          <p:cNvPr id="28" name="Picture 27" descr="141819608-hen-incubate-eggs-in-the-nest-on-white-background-vector-logo-chicken-farm-products-from-chicken-mea.jpg"/>
          <p:cNvPicPr>
            <a:picLocks noChangeAspect="1"/>
          </p:cNvPicPr>
          <p:nvPr/>
        </p:nvPicPr>
        <p:blipFill>
          <a:blip r:embed="rId18" cstate="print"/>
          <a:stretch>
            <a:fillRect/>
          </a:stretch>
        </p:blipFill>
        <p:spPr>
          <a:xfrm>
            <a:off x="11125720" y="5358213"/>
            <a:ext cx="745671" cy="416715"/>
          </a:xfrm>
          <a:prstGeom prst="rect">
            <a:avLst/>
          </a:prstGeom>
        </p:spPr>
      </p:pic>
      <p:pic>
        <p:nvPicPr>
          <p:cNvPr id="29" name="Picture 28">
            <a:extLst>
              <a:ext uri="{FF2B5EF4-FFF2-40B4-BE49-F238E27FC236}">
                <a16:creationId xmlns:a16="http://schemas.microsoft.com/office/drawing/2014/main" id="{7A0B98AB-BE33-4635-8984-3190CD87960A}"/>
              </a:ext>
            </a:extLst>
          </p:cNvPr>
          <p:cNvPicPr>
            <a:picLocks noChangeAspect="1"/>
          </p:cNvPicPr>
          <p:nvPr/>
        </p:nvPicPr>
        <p:blipFill rotWithShape="1">
          <a:blip r:embed="rId19">
            <a:extLst>
              <a:ext uri="{28A0092B-C50C-407E-A947-70E740481C1C}">
                <a14:useLocalDpi xmlns:a14="http://schemas.microsoft.com/office/drawing/2010/main" val="0"/>
              </a:ext>
            </a:extLst>
          </a:blip>
          <a:srcRect t="32991" b="27935"/>
          <a:stretch/>
        </p:blipFill>
        <p:spPr>
          <a:xfrm>
            <a:off x="10836067" y="3717635"/>
            <a:ext cx="1044083" cy="445770"/>
          </a:xfrm>
          <a:prstGeom prst="rect">
            <a:avLst/>
          </a:prstGeom>
        </p:spPr>
      </p:pic>
      <p:pic>
        <p:nvPicPr>
          <p:cNvPr id="30" name="Picture 29" descr="WhatsApp Image 2021-07-23 at 5.33.57 PM.jpeg"/>
          <p:cNvPicPr>
            <a:picLocks noChangeAspect="1"/>
          </p:cNvPicPr>
          <p:nvPr/>
        </p:nvPicPr>
        <p:blipFill>
          <a:blip r:embed="rId20" cstate="print"/>
          <a:srcRect l="21750" t="10333" r="750" b="16000"/>
          <a:stretch>
            <a:fillRect/>
          </a:stretch>
        </p:blipFill>
        <p:spPr>
          <a:xfrm>
            <a:off x="10801884" y="3108962"/>
            <a:ext cx="1089588" cy="548638"/>
          </a:xfrm>
          <a:prstGeom prst="rect">
            <a:avLst/>
          </a:prstGeom>
        </p:spPr>
      </p:pic>
      <p:pic>
        <p:nvPicPr>
          <p:cNvPr id="2051" name="Picture 3"/>
          <p:cNvPicPr>
            <a:picLocks noChangeAspect="1" noChangeArrowheads="1"/>
          </p:cNvPicPr>
          <p:nvPr/>
        </p:nvPicPr>
        <p:blipFill>
          <a:blip r:embed="rId21"/>
          <a:srcRect/>
          <a:stretch>
            <a:fillRect/>
          </a:stretch>
        </p:blipFill>
        <p:spPr bwMode="auto">
          <a:xfrm>
            <a:off x="10878796" y="5860759"/>
            <a:ext cx="1045150" cy="599862"/>
          </a:xfrm>
          <a:prstGeom prst="rect">
            <a:avLst/>
          </a:prstGeom>
          <a:noFill/>
          <a:ln w="9525">
            <a:noFill/>
            <a:miter lim="800000"/>
            <a:headEnd/>
            <a:tailEnd/>
          </a:ln>
          <a:effectLst/>
        </p:spPr>
      </p:pic>
      <p:pic>
        <p:nvPicPr>
          <p:cNvPr id="27" name="Picture 2" descr="C:\Users\HP-RTS\Downloads\WhatsApp Image 2023-08-11 at 1.36.26 PM.png"/>
          <p:cNvPicPr>
            <a:picLocks noChangeAspect="1" noChangeArrowheads="1"/>
          </p:cNvPicPr>
          <p:nvPr/>
        </p:nvPicPr>
        <p:blipFill>
          <a:blip r:embed="rId22"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1368405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508260889"/>
              </p:ext>
            </p:extLst>
          </p:nvPr>
        </p:nvGraphicFramePr>
        <p:xfrm>
          <a:off x="289369" y="574950"/>
          <a:ext cx="11563107" cy="6121125"/>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6203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Sarvesh</a:t>
                      </a:r>
                      <a:r>
                        <a:rPr lang="en-IN" sz="2200" baseline="0" dirty="0">
                          <a:latin typeface="Times New Roman" pitchFamily="18" charset="0"/>
                          <a:cs typeface="Times New Roman" pitchFamily="18" charset="0"/>
                        </a:rPr>
                        <a:t> Multi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Plast</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The Indian Public School, Erode</a:t>
                      </a:r>
                    </a:p>
                  </a:txBody>
                  <a:tcPr marL="74295" marR="74295" anchor="ctr"/>
                </a:tc>
                <a:extLst>
                  <a:ext uri="{0D108BD9-81ED-4DB2-BD59-A6C34878D82A}">
                    <a16:rowId xmlns:a16="http://schemas.microsoft.com/office/drawing/2014/main" val="4208521853"/>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err="1">
                          <a:solidFill>
                            <a:schemeClr val="dk1"/>
                          </a:solidFill>
                          <a:latin typeface="Times New Roman" pitchFamily="18" charset="0"/>
                          <a:ea typeface="+mn-ea"/>
                          <a:cs typeface="Times New Roman" pitchFamily="18" charset="0"/>
                        </a:rPr>
                        <a:t>Annavaram</a:t>
                      </a:r>
                      <a:r>
                        <a:rPr kumimoji="0" lang="en-US" sz="2200" b="0" i="0" kern="1200" dirty="0">
                          <a:solidFill>
                            <a:schemeClr val="dk1"/>
                          </a:solidFill>
                          <a:latin typeface="Times New Roman" pitchFamily="18" charset="0"/>
                          <a:ea typeface="+mn-ea"/>
                          <a:cs typeface="Times New Roman" pitchFamily="18" charset="0"/>
                        </a:rPr>
                        <a:t> </a:t>
                      </a:r>
                      <a:r>
                        <a:rPr kumimoji="0" lang="en-US" sz="2200" b="0" i="0" kern="1200" dirty="0" err="1">
                          <a:solidFill>
                            <a:schemeClr val="dk1"/>
                          </a:solidFill>
                          <a:latin typeface="Times New Roman" pitchFamily="18" charset="0"/>
                          <a:ea typeface="+mn-ea"/>
                          <a:cs typeface="Times New Roman" pitchFamily="18" charset="0"/>
                        </a:rPr>
                        <a:t>Sathyanarayana</a:t>
                      </a:r>
                      <a:r>
                        <a:rPr kumimoji="0" lang="en-US" sz="2200" b="0" i="0" kern="1200" dirty="0">
                          <a:solidFill>
                            <a:schemeClr val="dk1"/>
                          </a:solidFill>
                          <a:latin typeface="Times New Roman" pitchFamily="18" charset="0"/>
                          <a:ea typeface="+mn-ea"/>
                          <a:cs typeface="Times New Roman"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a:solidFill>
                            <a:schemeClr val="dk1"/>
                          </a:solidFill>
                          <a:latin typeface="Times New Roman" pitchFamily="18" charset="0"/>
                          <a:ea typeface="+mn-ea"/>
                          <a:cs typeface="Times New Roman" pitchFamily="18" charset="0"/>
                        </a:rPr>
                        <a:t>Temple,</a:t>
                      </a:r>
                      <a:r>
                        <a:rPr kumimoji="0" lang="en-US" sz="2200" b="0" i="0" kern="1200" baseline="0" dirty="0">
                          <a:solidFill>
                            <a:schemeClr val="dk1"/>
                          </a:solidFill>
                          <a:latin typeface="Times New Roman" pitchFamily="18" charset="0"/>
                          <a:ea typeface="+mn-ea"/>
                          <a:cs typeface="Times New Roman" pitchFamily="18" charset="0"/>
                        </a:rPr>
                        <a:t> </a:t>
                      </a:r>
                      <a:r>
                        <a:rPr kumimoji="0" lang="en-US" sz="2200" b="0" i="0" kern="1200" dirty="0">
                          <a:solidFill>
                            <a:schemeClr val="dk1"/>
                          </a:solidFill>
                          <a:latin typeface="Times New Roman" pitchFamily="18" charset="0"/>
                          <a:ea typeface="+mn-ea"/>
                          <a:cs typeface="Times New Roman" pitchFamily="18" charset="0"/>
                        </a:rPr>
                        <a:t>Andhra Pradesh</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Venbro</a:t>
                      </a:r>
                      <a:r>
                        <a:rPr lang="en-IN" sz="2200" dirty="0">
                          <a:latin typeface="Times New Roman" pitchFamily="18" charset="0"/>
                          <a:cs typeface="Times New Roman" pitchFamily="18" charset="0"/>
                        </a:rPr>
                        <a:t> Polymers, </a:t>
                      </a:r>
                      <a:r>
                        <a:rPr lang="en-IN"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Maharishi </a:t>
                      </a:r>
                      <a:r>
                        <a:rPr lang="en-IN" sz="2200" dirty="0" err="1">
                          <a:latin typeface="Times New Roman" pitchFamily="18" charset="0"/>
                          <a:cs typeface="Times New Roman" pitchFamily="18" charset="0"/>
                        </a:rPr>
                        <a:t>Vidhya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Mandir</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Arasan</a:t>
                      </a:r>
                      <a:r>
                        <a:rPr lang="en-IN" sz="2200" dirty="0">
                          <a:latin typeface="Times New Roman" pitchFamily="18" charset="0"/>
                          <a:cs typeface="Times New Roman" pitchFamily="18" charset="0"/>
                        </a:rPr>
                        <a:t> Eye Hospital, Erode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Mahal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Tiruchengode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Angeripalayam</a:t>
                      </a:r>
                      <a:r>
                        <a:rPr lang="en-IN" sz="2200" dirty="0">
                          <a:latin typeface="Times New Roman" pitchFamily="18" charset="0"/>
                          <a:cs typeface="Times New Roman" pitchFamily="18" charset="0"/>
                        </a:rPr>
                        <a:t> CETP,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PSG Institutions,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Sivabakkiyam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Muthusamy</a:t>
                      </a:r>
                      <a:r>
                        <a:rPr lang="en-IN" sz="2200" dirty="0">
                          <a:latin typeface="Times New Roman" pitchFamily="18" charset="0"/>
                          <a:cs typeface="Times New Roman" pitchFamily="18" charset="0"/>
                        </a:rPr>
                        <a:t> School,</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Paramathi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G.Kuppusamy</a:t>
                      </a:r>
                      <a:r>
                        <a:rPr lang="en-IN" sz="2200" baseline="0" dirty="0">
                          <a:latin typeface="Times New Roman" pitchFamily="18" charset="0"/>
                          <a:cs typeface="Times New Roman" pitchFamily="18" charset="0"/>
                        </a:rPr>
                        <a:t> Naidu Memorial </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baseline="0" dirty="0">
                          <a:latin typeface="Times New Roman" pitchFamily="18" charset="0"/>
                          <a:cs typeface="Times New Roman" pitchFamily="18" charset="0"/>
                        </a:rPr>
                        <a:t>Hospital, Coimbatore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KPR Institute</a:t>
                      </a:r>
                      <a:r>
                        <a:rPr kumimoji="0" lang="en-US" sz="2200" b="0" i="0" u="none" strike="noStrike" kern="1200" baseline="0" dirty="0">
                          <a:solidFill>
                            <a:schemeClr val="dk1"/>
                          </a:solidFill>
                          <a:latin typeface="Times New Roman" pitchFamily="18" charset="0"/>
                          <a:ea typeface="+mn-ea"/>
                          <a:cs typeface="Times New Roman" pitchFamily="18" charset="0"/>
                        </a:rPr>
                        <a:t> of Technology, 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SRS Power </a:t>
                      </a:r>
                      <a:r>
                        <a:rPr kumimoji="0" lang="en-US" sz="2200" b="0" i="0" u="none" strike="noStrike" kern="1200" dirty="0" err="1">
                          <a:solidFill>
                            <a:schemeClr val="dk1"/>
                          </a:solidFill>
                          <a:latin typeface="Times New Roman" pitchFamily="18" charset="0"/>
                          <a:ea typeface="+mn-ea"/>
                          <a:cs typeface="Times New Roman" pitchFamily="18" charset="0"/>
                        </a:rPr>
                        <a:t>Tech,Coimbatore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M.Mahendran</a:t>
                      </a:r>
                      <a:r>
                        <a:rPr lang="en-IN" sz="2200" dirty="0">
                          <a:latin typeface="Times New Roman" pitchFamily="18" charset="0"/>
                          <a:cs typeface="Times New Roman" pitchFamily="18" charset="0"/>
                        </a:rPr>
                        <a:t> - Home, </a:t>
                      </a:r>
                      <a:r>
                        <a:rPr lang="en-IN" sz="2200" dirty="0" err="1">
                          <a:latin typeface="Times New Roman" pitchFamily="18" charset="0"/>
                          <a:cs typeface="Times New Roman" pitchFamily="18" charset="0"/>
                        </a:rPr>
                        <a:t>Kangeyam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Nandha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Institutions,Perundurai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VKS-Textiles, </a:t>
                      </a:r>
                      <a:r>
                        <a:rPr lang="en-IN" sz="2200" dirty="0" err="1">
                          <a:latin typeface="Times New Roman" pitchFamily="18" charset="0"/>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Rathinam</a:t>
                      </a:r>
                      <a:r>
                        <a:rPr lang="en-IN" sz="2200" baseline="0" dirty="0">
                          <a:latin typeface="Times New Roman" pitchFamily="18" charset="0"/>
                          <a:cs typeface="Times New Roman" pitchFamily="18" charset="0"/>
                        </a:rPr>
                        <a:t> Institutions, Coimbatore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K.M.T Hospital, </a:t>
                      </a:r>
                      <a:r>
                        <a:rPr lang="en-IN" sz="2200" dirty="0" err="1">
                          <a:latin typeface="Times New Roman" pitchFamily="18" charset="0"/>
                          <a:cs typeface="Times New Roman" pitchFamily="18" charset="0"/>
                        </a:rPr>
                        <a:t>Tiruchendur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b="0" dirty="0" err="1">
                          <a:latin typeface="Times New Roman" pitchFamily="18" charset="0"/>
                          <a:cs typeface="Times New Roman" pitchFamily="18" charset="0"/>
                        </a:rPr>
                        <a:t>Balasundaram</a:t>
                      </a:r>
                      <a:r>
                        <a:rPr lang="en-IN" sz="2200" b="0" dirty="0">
                          <a:latin typeface="Times New Roman" pitchFamily="18" charset="0"/>
                          <a:cs typeface="Times New Roman" pitchFamily="18" charset="0"/>
                        </a:rPr>
                        <a:t> - Home, 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N-Tex Apparels private</a:t>
                      </a:r>
                      <a:r>
                        <a:rPr lang="en-IN" sz="2200" baseline="0" dirty="0">
                          <a:latin typeface="Times New Roman" pitchFamily="18" charset="0"/>
                          <a:cs typeface="Times New Roman" pitchFamily="18" charset="0"/>
                        </a:rPr>
                        <a:t> Limited, </a:t>
                      </a:r>
                      <a:r>
                        <a:rPr lang="en-IN"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147378" y="-39372"/>
            <a:ext cx="7805913" cy="639025"/>
          </a:xfrm>
          <a:prstGeom prst="rect">
            <a:avLst/>
          </a:prstGeom>
        </p:spPr>
        <p:txBody>
          <a:bodyPr lIns="80456" tIns="40228" rIns="80456" bIns="40228">
            <a:norm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6" name="Picture 5" descr="WhatsApp Image 2021-08-26 at 6.08.55 PM.jpeg"/>
          <p:cNvPicPr>
            <a:picLocks noChangeAspect="1"/>
          </p:cNvPicPr>
          <p:nvPr/>
        </p:nvPicPr>
        <p:blipFill>
          <a:blip r:embed="rId2" cstate="print"/>
          <a:srcRect l="6281" t="9883" r="1188" b="4978"/>
          <a:stretch>
            <a:fillRect/>
          </a:stretch>
        </p:blipFill>
        <p:spPr>
          <a:xfrm>
            <a:off x="10705860" y="4680585"/>
            <a:ext cx="1097280" cy="457200"/>
          </a:xfrm>
          <a:prstGeom prst="rect">
            <a:avLst/>
          </a:prstGeom>
        </p:spPr>
      </p:pic>
      <p:pic>
        <p:nvPicPr>
          <p:cNvPr id="10" name="Picture 9" descr="sarvesh.png"/>
          <p:cNvPicPr>
            <a:picLocks noChangeAspect="1"/>
          </p:cNvPicPr>
          <p:nvPr/>
        </p:nvPicPr>
        <p:blipFill>
          <a:blip r:embed="rId3"/>
          <a:stretch>
            <a:fillRect/>
          </a:stretch>
        </p:blipFill>
        <p:spPr>
          <a:xfrm>
            <a:off x="4391792" y="649748"/>
            <a:ext cx="1268730" cy="501746"/>
          </a:xfrm>
          <a:prstGeom prst="rect">
            <a:avLst/>
          </a:prstGeom>
        </p:spPr>
      </p:pic>
      <p:pic>
        <p:nvPicPr>
          <p:cNvPr id="1026" name="Picture 2" descr="C:\Users\HP-RTS\Desktop\I TANK\Customer Lists\Annavaram.jpg"/>
          <p:cNvPicPr>
            <a:picLocks noChangeAspect="1" noChangeArrowheads="1"/>
          </p:cNvPicPr>
          <p:nvPr/>
        </p:nvPicPr>
        <p:blipFill>
          <a:blip r:embed="rId4"/>
          <a:srcRect/>
          <a:stretch>
            <a:fillRect/>
          </a:stretch>
        </p:blipFill>
        <p:spPr bwMode="auto">
          <a:xfrm>
            <a:off x="4374700" y="1308735"/>
            <a:ext cx="1280159" cy="594360"/>
          </a:xfrm>
          <a:prstGeom prst="rect">
            <a:avLst/>
          </a:prstGeom>
          <a:noFill/>
        </p:spPr>
      </p:pic>
      <p:pic>
        <p:nvPicPr>
          <p:cNvPr id="14" name="Picture 13">
            <a:extLst>
              <a:ext uri="{FF2B5EF4-FFF2-40B4-BE49-F238E27FC236}">
                <a16:creationId xmlns:a16="http://schemas.microsoft.com/office/drawing/2014/main" id="{01AADD97-651C-4D0D-B485-977B69F3F4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4070" y="643016"/>
            <a:ext cx="1233743" cy="528024"/>
          </a:xfrm>
          <a:prstGeom prst="rect">
            <a:avLst/>
          </a:prstGeom>
        </p:spPr>
      </p:pic>
      <p:pic>
        <p:nvPicPr>
          <p:cNvPr id="15" name="Picture 14">
            <a:extLst>
              <a:ext uri="{FF2B5EF4-FFF2-40B4-BE49-F238E27FC236}">
                <a16:creationId xmlns:a16="http://schemas.microsoft.com/office/drawing/2014/main" id="{34A40D04-B9CF-4AE5-86FB-EE5A840D7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0546" y="5226776"/>
            <a:ext cx="1095849" cy="436789"/>
          </a:xfrm>
          <a:prstGeom prst="rect">
            <a:avLst/>
          </a:prstGeom>
        </p:spPr>
      </p:pic>
      <p:pic>
        <p:nvPicPr>
          <p:cNvPr id="17" name="Picture 16">
            <a:extLst>
              <a:ext uri="{FF2B5EF4-FFF2-40B4-BE49-F238E27FC236}">
                <a16:creationId xmlns:a16="http://schemas.microsoft.com/office/drawing/2014/main" id="{2D6F6CB6-4526-4299-8B7A-4D8D992C80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38904" y="3114675"/>
            <a:ext cx="708032" cy="696098"/>
          </a:xfrm>
          <a:prstGeom prst="rect">
            <a:avLst/>
          </a:prstGeom>
        </p:spPr>
      </p:pic>
      <p:pic>
        <p:nvPicPr>
          <p:cNvPr id="1027" name="Picture 3" descr="C:\Users\HP-RTS\Desktop\I TANK\Customer Lists\kmt.png"/>
          <p:cNvPicPr>
            <a:picLocks noChangeAspect="1" noChangeArrowheads="1"/>
          </p:cNvPicPr>
          <p:nvPr/>
        </p:nvPicPr>
        <p:blipFill>
          <a:blip r:embed="rId8"/>
          <a:srcRect/>
          <a:stretch>
            <a:fillRect/>
          </a:stretch>
        </p:blipFill>
        <p:spPr bwMode="auto">
          <a:xfrm>
            <a:off x="11240375" y="5683566"/>
            <a:ext cx="568875" cy="455627"/>
          </a:xfrm>
          <a:prstGeom prst="rect">
            <a:avLst/>
          </a:prstGeom>
          <a:noFill/>
        </p:spPr>
      </p:pic>
      <p:pic>
        <p:nvPicPr>
          <p:cNvPr id="1030" name="Picture 6" descr="C:\Users\HP-RTS\Desktop\I TANK\Customer Lists\venbro.jpg"/>
          <p:cNvPicPr>
            <a:picLocks noChangeAspect="1" noChangeArrowheads="1"/>
          </p:cNvPicPr>
          <p:nvPr/>
        </p:nvPicPr>
        <p:blipFill>
          <a:blip r:embed="rId9"/>
          <a:srcRect t="22400" b="23600"/>
          <a:stretch>
            <a:fillRect/>
          </a:stretch>
        </p:blipFill>
        <p:spPr bwMode="auto">
          <a:xfrm>
            <a:off x="10579693" y="1247953"/>
            <a:ext cx="1227338" cy="683664"/>
          </a:xfrm>
          <a:prstGeom prst="rect">
            <a:avLst/>
          </a:prstGeom>
          <a:noFill/>
        </p:spPr>
      </p:pic>
      <p:pic>
        <p:nvPicPr>
          <p:cNvPr id="1031" name="Picture 7" descr="C:\Users\HP-RTS\Desktop\I TANK\Customer Lists\arasan.jpg"/>
          <p:cNvPicPr>
            <a:picLocks noChangeAspect="1" noChangeArrowheads="1"/>
          </p:cNvPicPr>
          <p:nvPr/>
        </p:nvPicPr>
        <p:blipFill>
          <a:blip r:embed="rId10"/>
          <a:srcRect/>
          <a:stretch>
            <a:fillRect/>
          </a:stretch>
        </p:blipFill>
        <p:spPr bwMode="auto">
          <a:xfrm>
            <a:off x="10648059" y="2017076"/>
            <a:ext cx="1146535" cy="471728"/>
          </a:xfrm>
          <a:prstGeom prst="rect">
            <a:avLst/>
          </a:prstGeom>
          <a:noFill/>
        </p:spPr>
      </p:pic>
      <p:pic>
        <p:nvPicPr>
          <p:cNvPr id="1032" name="Picture 8" descr="C:\Users\HP-RTS\Desktop\I TANK\Customer Lists\acetp.jpg"/>
          <p:cNvPicPr>
            <a:picLocks noChangeAspect="1" noChangeArrowheads="1"/>
          </p:cNvPicPr>
          <p:nvPr/>
        </p:nvPicPr>
        <p:blipFill>
          <a:blip r:embed="rId11"/>
          <a:srcRect/>
          <a:stretch>
            <a:fillRect/>
          </a:stretch>
        </p:blipFill>
        <p:spPr bwMode="auto">
          <a:xfrm>
            <a:off x="10665151" y="2529823"/>
            <a:ext cx="1117907" cy="539025"/>
          </a:xfrm>
          <a:prstGeom prst="rect">
            <a:avLst/>
          </a:prstGeom>
          <a:noFill/>
        </p:spPr>
      </p:pic>
      <p:pic>
        <p:nvPicPr>
          <p:cNvPr id="1033" name="Picture 9" descr="C:\Users\HP-RTS\Desktop\I TANK\Customer Lists\sm school.png"/>
          <p:cNvPicPr>
            <a:picLocks noChangeAspect="1" noChangeArrowheads="1"/>
          </p:cNvPicPr>
          <p:nvPr/>
        </p:nvPicPr>
        <p:blipFill>
          <a:blip r:embed="rId12"/>
          <a:srcRect/>
          <a:stretch>
            <a:fillRect/>
          </a:stretch>
        </p:blipFill>
        <p:spPr bwMode="auto">
          <a:xfrm>
            <a:off x="11102972" y="3117533"/>
            <a:ext cx="671511" cy="671511"/>
          </a:xfrm>
          <a:prstGeom prst="rect">
            <a:avLst/>
          </a:prstGeom>
          <a:noFill/>
        </p:spPr>
      </p:pic>
      <p:pic>
        <p:nvPicPr>
          <p:cNvPr id="1035" name="Picture 11" descr="C:\Users\HP-RTS\Desktop\I TANK\Customer Lists\srs senthil.png"/>
          <p:cNvPicPr>
            <a:picLocks noChangeAspect="1" noChangeArrowheads="1"/>
          </p:cNvPicPr>
          <p:nvPr/>
        </p:nvPicPr>
        <p:blipFill>
          <a:blip r:embed="rId13"/>
          <a:srcRect t="12870"/>
          <a:stretch>
            <a:fillRect/>
          </a:stretch>
        </p:blipFill>
        <p:spPr bwMode="auto">
          <a:xfrm>
            <a:off x="4589093" y="4672039"/>
            <a:ext cx="1085320" cy="502920"/>
          </a:xfrm>
          <a:prstGeom prst="rect">
            <a:avLst/>
          </a:prstGeom>
          <a:noFill/>
        </p:spPr>
      </p:pic>
      <p:pic>
        <p:nvPicPr>
          <p:cNvPr id="28" name="Picture 27" descr="WhatsApp Image 2021-08-17 at 4.06.56 PM (1).jpeg"/>
          <p:cNvPicPr>
            <a:picLocks noChangeAspect="1"/>
          </p:cNvPicPr>
          <p:nvPr/>
        </p:nvPicPr>
        <p:blipFill>
          <a:blip r:embed="rId14" cstate="print"/>
          <a:srcRect l="36148" t="4833" r="34519" b="5333"/>
          <a:stretch>
            <a:fillRect/>
          </a:stretch>
        </p:blipFill>
        <p:spPr>
          <a:xfrm rot="16200000">
            <a:off x="11027825" y="4880704"/>
            <a:ext cx="462916" cy="1102806"/>
          </a:xfrm>
          <a:prstGeom prst="rect">
            <a:avLst/>
          </a:prstGeom>
        </p:spPr>
      </p:pic>
      <p:pic>
        <p:nvPicPr>
          <p:cNvPr id="1036" name="Picture 12" descr="C:\Users\HP-RTS\Desktop\I TANK\Customer Lists\kongu mahal.jpg"/>
          <p:cNvPicPr>
            <a:picLocks noChangeAspect="1" noChangeArrowheads="1"/>
          </p:cNvPicPr>
          <p:nvPr/>
        </p:nvPicPr>
        <p:blipFill>
          <a:blip r:embed="rId15"/>
          <a:srcRect/>
          <a:stretch>
            <a:fillRect/>
          </a:stretch>
        </p:blipFill>
        <p:spPr bwMode="auto">
          <a:xfrm>
            <a:off x="4469130" y="2554605"/>
            <a:ext cx="1179640" cy="494348"/>
          </a:xfrm>
          <a:prstGeom prst="rect">
            <a:avLst/>
          </a:prstGeom>
          <a:noFill/>
        </p:spPr>
      </p:pic>
      <p:pic>
        <p:nvPicPr>
          <p:cNvPr id="1037" name="Picture 13" descr="C:\Users\HP-RTS\Desktop\I TANK\Customer Lists\balasundaram.jpg"/>
          <p:cNvPicPr>
            <a:picLocks noChangeAspect="1" noChangeArrowheads="1"/>
          </p:cNvPicPr>
          <p:nvPr/>
        </p:nvPicPr>
        <p:blipFill>
          <a:blip r:embed="rId16"/>
          <a:srcRect/>
          <a:stretch>
            <a:fillRect/>
          </a:stretch>
        </p:blipFill>
        <p:spPr bwMode="auto">
          <a:xfrm>
            <a:off x="4544894" y="6171511"/>
            <a:ext cx="1090956" cy="472757"/>
          </a:xfrm>
          <a:prstGeom prst="rect">
            <a:avLst/>
          </a:prstGeom>
          <a:noFill/>
        </p:spPr>
      </p:pic>
      <p:pic>
        <p:nvPicPr>
          <p:cNvPr id="24" name="Picture 23" descr="N TEX.png"/>
          <p:cNvPicPr>
            <a:picLocks noChangeAspect="1"/>
          </p:cNvPicPr>
          <p:nvPr/>
        </p:nvPicPr>
        <p:blipFill>
          <a:blip r:embed="rId17"/>
          <a:stretch>
            <a:fillRect/>
          </a:stretch>
        </p:blipFill>
        <p:spPr>
          <a:xfrm>
            <a:off x="10707881" y="6192518"/>
            <a:ext cx="1075178" cy="461753"/>
          </a:xfrm>
          <a:prstGeom prst="rect">
            <a:avLst/>
          </a:prstGeom>
        </p:spPr>
      </p:pic>
      <p:pic>
        <p:nvPicPr>
          <p:cNvPr id="25" name="Picture 2" descr="C:\Users\HP-RTS\Downloads\WhatsApp Image 2023-08-11 at 1.36.26 PM.png"/>
          <p:cNvPicPr>
            <a:picLocks noChangeAspect="1" noChangeArrowheads="1"/>
          </p:cNvPicPr>
          <p:nvPr/>
        </p:nvPicPr>
        <p:blipFill>
          <a:blip r:embed="rId18" cstate="print"/>
          <a:srcRect l="24688" t="15000" r="22000" b="32500"/>
          <a:stretch>
            <a:fillRect/>
          </a:stretch>
        </p:blipFill>
        <p:spPr bwMode="auto">
          <a:xfrm>
            <a:off x="11055245" y="74147"/>
            <a:ext cx="818090" cy="402811"/>
          </a:xfrm>
          <a:prstGeom prst="rect">
            <a:avLst/>
          </a:prstGeom>
          <a:noFill/>
        </p:spPr>
      </p:pic>
      <p:pic>
        <p:nvPicPr>
          <p:cNvPr id="4" name="Picture 2"/>
          <p:cNvPicPr>
            <a:picLocks noChangeAspect="1" noChangeArrowheads="1"/>
          </p:cNvPicPr>
          <p:nvPr/>
        </p:nvPicPr>
        <p:blipFill>
          <a:blip r:embed="rId19"/>
          <a:srcRect t="7595"/>
          <a:stretch>
            <a:fillRect/>
          </a:stretch>
        </p:blipFill>
        <p:spPr bwMode="auto">
          <a:xfrm>
            <a:off x="4568092" y="3948424"/>
            <a:ext cx="1069804" cy="623843"/>
          </a:xfrm>
          <a:prstGeom prst="rect">
            <a:avLst/>
          </a:prstGeom>
          <a:noFill/>
          <a:ln w="9525">
            <a:noFill/>
            <a:miter lim="800000"/>
            <a:headEnd/>
            <a:tailEnd/>
          </a:ln>
          <a:effectLst/>
        </p:spPr>
      </p:pic>
      <p:pic>
        <p:nvPicPr>
          <p:cNvPr id="5" name="Picture 3"/>
          <p:cNvPicPr>
            <a:picLocks noChangeAspect="1" noChangeArrowheads="1"/>
          </p:cNvPicPr>
          <p:nvPr/>
        </p:nvPicPr>
        <p:blipFill>
          <a:blip r:embed="rId20" cstate="print"/>
          <a:srcRect/>
          <a:stretch>
            <a:fillRect/>
          </a:stretch>
        </p:blipFill>
        <p:spPr bwMode="auto">
          <a:xfrm>
            <a:off x="4568092" y="5693092"/>
            <a:ext cx="1095398" cy="421958"/>
          </a:xfrm>
          <a:prstGeom prst="rect">
            <a:avLst/>
          </a:prstGeom>
          <a:noFill/>
          <a:ln w="9525">
            <a:noFill/>
            <a:miter lim="800000"/>
            <a:headEnd/>
            <a:tailEnd/>
          </a:ln>
          <a:effectLst/>
        </p:spPr>
      </p:pic>
      <p:pic>
        <p:nvPicPr>
          <p:cNvPr id="1028" name="Picture 4"/>
          <p:cNvPicPr>
            <a:picLocks noChangeAspect="1" noChangeArrowheads="1"/>
          </p:cNvPicPr>
          <p:nvPr/>
        </p:nvPicPr>
        <p:blipFill>
          <a:blip r:embed="rId21" cstate="print"/>
          <a:srcRect/>
          <a:stretch>
            <a:fillRect/>
          </a:stretch>
        </p:blipFill>
        <p:spPr bwMode="auto">
          <a:xfrm>
            <a:off x="10699335" y="3888604"/>
            <a:ext cx="1058863" cy="741954"/>
          </a:xfrm>
          <a:prstGeom prst="rect">
            <a:avLst/>
          </a:prstGeom>
          <a:noFill/>
          <a:ln w="9525">
            <a:noFill/>
            <a:miter lim="800000"/>
            <a:headEnd/>
            <a:tailEnd/>
          </a:ln>
          <a:effectLst/>
        </p:spPr>
      </p:pic>
      <p:pic>
        <p:nvPicPr>
          <p:cNvPr id="1029" name="Picture 5"/>
          <p:cNvPicPr>
            <a:picLocks noChangeAspect="1" noChangeArrowheads="1"/>
          </p:cNvPicPr>
          <p:nvPr/>
        </p:nvPicPr>
        <p:blipFill>
          <a:blip r:embed="rId22"/>
          <a:srcRect/>
          <a:stretch>
            <a:fillRect/>
          </a:stretch>
        </p:blipFill>
        <p:spPr bwMode="auto">
          <a:xfrm>
            <a:off x="4674550" y="2059805"/>
            <a:ext cx="986755" cy="398166"/>
          </a:xfrm>
          <a:prstGeom prst="rect">
            <a:avLst/>
          </a:prstGeom>
          <a:noFill/>
          <a:ln w="9525">
            <a:noFill/>
            <a:miter lim="800000"/>
            <a:headEnd/>
            <a:tailEnd/>
          </a:ln>
          <a:effectLst/>
        </p:spPr>
      </p:pic>
    </p:spTree>
    <p:extLst>
      <p:ext uri="{BB962C8B-B14F-4D97-AF65-F5344CB8AC3E}">
        <p14:creationId xmlns:p14="http://schemas.microsoft.com/office/powerpoint/2010/main" val="2055417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1358487860"/>
              </p:ext>
            </p:extLst>
          </p:nvPr>
        </p:nvGraphicFramePr>
        <p:xfrm>
          <a:off x="289369" y="575695"/>
          <a:ext cx="11563107" cy="6055682"/>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500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Podaran</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Melapalayam</a:t>
                      </a:r>
                      <a:r>
                        <a:rPr lang="en-IN" sz="1900" dirty="0">
                          <a:latin typeface="Times New Roman" pitchFamily="18" charset="0"/>
                          <a:cs typeface="Times New Roman" pitchFamily="18" charset="0"/>
                        </a:rPr>
                        <a:t> - </a:t>
                      </a:r>
                      <a:r>
                        <a:rPr lang="en-IN" sz="1900" dirty="0" err="1">
                          <a:latin typeface="Times New Roman" pitchFamily="18" charset="0"/>
                          <a:cs typeface="Times New Roman" pitchFamily="18" charset="0"/>
                        </a:rPr>
                        <a:t>Kangayam</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Chinnakarai</a:t>
                      </a:r>
                      <a:r>
                        <a:rPr lang="en-US" sz="1900" b="0" dirty="0">
                          <a:latin typeface="Times New Roman" pitchFamily="18" charset="0"/>
                          <a:cs typeface="Times New Roman" pitchFamily="18" charset="0"/>
                        </a:rPr>
                        <a:t> Common Effluent Treatment Plant (P)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Limited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607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A.R </a:t>
                      </a:r>
                      <a:r>
                        <a:rPr lang="en-IN" sz="1900" b="0" dirty="0" err="1">
                          <a:latin typeface="Times New Roman" pitchFamily="18" charset="0"/>
                          <a:cs typeface="Times New Roman" pitchFamily="18" charset="0"/>
                        </a:rPr>
                        <a:t>Aswin</a:t>
                      </a:r>
                      <a:r>
                        <a:rPr lang="en-IN" sz="1900" b="0" dirty="0">
                          <a:latin typeface="Times New Roman" pitchFamily="18" charset="0"/>
                          <a:cs typeface="Times New Roman" pitchFamily="18" charset="0"/>
                        </a:rPr>
                        <a:t> Home – </a:t>
                      </a:r>
                      <a:r>
                        <a:rPr lang="en-IN" sz="1900" b="0" dirty="0" err="1">
                          <a:latin typeface="Times New Roman" pitchFamily="18" charset="0"/>
                          <a:cs typeface="Times New Roman" pitchFamily="18" charset="0"/>
                        </a:rPr>
                        <a:t>Kangayam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Jaishriram</a:t>
                      </a:r>
                      <a:r>
                        <a:rPr lang="en-IN" sz="1800" b="0" dirty="0">
                          <a:latin typeface="Times New Roman" pitchFamily="18" charset="0"/>
                          <a:cs typeface="Times New Roman" pitchFamily="18" charset="0"/>
                        </a:rPr>
                        <a:t> Engineering College, </a:t>
                      </a:r>
                      <a:r>
                        <a:rPr lang="en-IN" sz="1800" b="0" dirty="0" err="1">
                          <a:latin typeface="Times New Roman" pitchFamily="18" charset="0"/>
                          <a:cs typeface="Times New Roman" pitchFamily="18" charset="0"/>
                        </a:rPr>
                        <a:t>Tirupur</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Mahalakshmi</a:t>
                      </a:r>
                      <a:r>
                        <a:rPr lang="en-IN" sz="1900" b="0" dirty="0">
                          <a:latin typeface="Times New Roman" pitchFamily="18" charset="0"/>
                          <a:cs typeface="Times New Roman" pitchFamily="18" charset="0"/>
                        </a:rPr>
                        <a:t> Poultry</a:t>
                      </a:r>
                      <a:r>
                        <a:rPr lang="en-IN" sz="1900" b="0" baseline="0" dirty="0">
                          <a:latin typeface="Times New Roman" pitchFamily="18" charset="0"/>
                          <a:cs typeface="Times New Roman" pitchFamily="18" charset="0"/>
                        </a:rPr>
                        <a:t>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SSVM, Institutions, Coimbatore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Vivekanandha</a:t>
                      </a:r>
                      <a:r>
                        <a:rPr lang="en-US" sz="1900" b="0" dirty="0">
                          <a:latin typeface="Times New Roman" pitchFamily="18" charset="0"/>
                          <a:cs typeface="Times New Roman" pitchFamily="18" charset="0"/>
                        </a:rPr>
                        <a:t> College of Engineering for </a:t>
                      </a:r>
                    </a:p>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Women - </a:t>
                      </a:r>
                      <a:r>
                        <a:rPr kumimoji="0" lang="en-US" sz="1900" b="0" i="0" kern="1200" dirty="0">
                          <a:solidFill>
                            <a:schemeClr val="dk1"/>
                          </a:solidFill>
                          <a:latin typeface="Times New Roman" pitchFamily="18" charset="0"/>
                          <a:ea typeface="+mn-ea"/>
                          <a:cs typeface="Times New Roman" pitchFamily="18" charset="0"/>
                        </a:rPr>
                        <a:t> </a:t>
                      </a:r>
                      <a:r>
                        <a:rPr kumimoji="0" lang="en-US" sz="1900" b="0" i="0" kern="1200" dirty="0" err="1">
                          <a:solidFill>
                            <a:schemeClr val="dk1"/>
                          </a:solidFill>
                          <a:latin typeface="Times New Roman" pitchFamily="18" charset="0"/>
                          <a:ea typeface="+mn-ea"/>
                          <a:cs typeface="Times New Roman" pitchFamily="18" charset="0"/>
                        </a:rPr>
                        <a:t>Elayampalayam</a:t>
                      </a:r>
                      <a:r>
                        <a:rPr lang="en-US" sz="1900" b="0" dirty="0">
                          <a:latin typeface="Times New Roman" pitchFamily="18" charset="0"/>
                          <a:cs typeface="Times New Roman" pitchFamily="18" charset="0"/>
                        </a:rPr>
                        <a:t> </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Sakthi</a:t>
                      </a:r>
                      <a:r>
                        <a:rPr lang="en-IN" sz="1900" b="0" dirty="0">
                          <a:latin typeface="Times New Roman" pitchFamily="18" charset="0"/>
                          <a:cs typeface="Times New Roman" pitchFamily="18" charset="0"/>
                        </a:rPr>
                        <a:t> Sugars Limited – </a:t>
                      </a:r>
                      <a:r>
                        <a:rPr lang="en-IN" sz="1900" b="0" dirty="0" err="1">
                          <a:latin typeface="Times New Roman" pitchFamily="18" charset="0"/>
                          <a:cs typeface="Times New Roman" pitchFamily="18" charset="0"/>
                        </a:rPr>
                        <a:t>Appakudal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628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Chendhoor</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Murughan</a:t>
                      </a:r>
                      <a:r>
                        <a:rPr lang="en-IN" sz="1900" dirty="0">
                          <a:latin typeface="Times New Roman" pitchFamily="18" charset="0"/>
                          <a:cs typeface="Times New Roman" pitchFamily="18" charset="0"/>
                        </a:rPr>
                        <a:t> Yarn Tex-</a:t>
                      </a:r>
                      <a:r>
                        <a:rPr lang="en-IN" sz="1900" dirty="0" err="1">
                          <a:latin typeface="Times New Roman" pitchFamily="18" charset="0"/>
                          <a:cs typeface="Times New Roman" pitchFamily="18" charset="0"/>
                        </a:rPr>
                        <a:t>Veppadi</a:t>
                      </a:r>
                      <a:endParaRPr lang="en-IN" sz="19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Times New Roman" pitchFamily="18" charset="0"/>
                          <a:cs typeface="Times New Roman" pitchFamily="18" charset="0"/>
                        </a:rPr>
                        <a:t>Seshasayee</a:t>
                      </a:r>
                      <a:r>
                        <a:rPr lang="en-US" sz="1900" dirty="0">
                          <a:latin typeface="Times New Roman" pitchFamily="18" charset="0"/>
                          <a:cs typeface="Times New Roman" pitchFamily="18" charset="0"/>
                        </a:rPr>
                        <a:t> Paper and Boards Limited</a:t>
                      </a:r>
                      <a:r>
                        <a:rPr lang="en-US" sz="1900" baseline="0" dirty="0">
                          <a:latin typeface="Times New Roman" pitchFamily="18" charset="0"/>
                          <a:cs typeface="Times New Roman" pitchFamily="18" charset="0"/>
                        </a:rPr>
                        <a:t> – </a:t>
                      </a:r>
                      <a:r>
                        <a:rPr lang="en-US" sz="1900" baseline="0" dirty="0" err="1">
                          <a:latin typeface="Times New Roman" pitchFamily="18" charset="0"/>
                          <a:cs typeface="Times New Roman" pitchFamily="18" charset="0"/>
                        </a:rPr>
                        <a:t>Pallipalayam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834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Ponmani</a:t>
                      </a:r>
                      <a:r>
                        <a:rPr lang="en-IN" sz="1900" b="0" baseline="0" dirty="0">
                          <a:latin typeface="Times New Roman" pitchFamily="18" charset="0"/>
                          <a:cs typeface="Times New Roman" pitchFamily="18" charset="0"/>
                        </a:rPr>
                        <a:t> Poultry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Navaladi</a:t>
                      </a:r>
                      <a:r>
                        <a:rPr lang="en-IN" sz="1900" b="0" dirty="0">
                          <a:latin typeface="Times New Roman" pitchFamily="18" charset="0"/>
                          <a:cs typeface="Times New Roman" pitchFamily="18" charset="0"/>
                        </a:rPr>
                        <a:t> Poultry Farms – </a:t>
                      </a:r>
                      <a:r>
                        <a:rPr lang="en-IN" sz="1900" b="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Palladam</a:t>
                      </a:r>
                      <a:r>
                        <a:rPr kumimoji="0" lang="en-US" sz="1900" b="0" i="0" u="none" strike="noStrike" kern="1200" dirty="0">
                          <a:solidFill>
                            <a:schemeClr val="dk1"/>
                          </a:solidFill>
                          <a:latin typeface="Times New Roman" pitchFamily="18" charset="0"/>
                          <a:ea typeface="+mn-ea"/>
                          <a:cs typeface="Times New Roman" pitchFamily="18" charset="0"/>
                        </a:rPr>
                        <a:t> Water Projects – </a:t>
                      </a:r>
                      <a:r>
                        <a:rPr kumimoji="0" lang="en-US" sz="1900" b="0" i="0" u="none" strike="noStrike" kern="1200" dirty="0" err="1">
                          <a:solidFill>
                            <a:schemeClr val="dk1"/>
                          </a:solidFill>
                          <a:latin typeface="Times New Roman" pitchFamily="18" charset="0"/>
                          <a:ea typeface="+mn-ea"/>
                          <a:cs typeface="Times New Roman" pitchFamily="18" charset="0"/>
                        </a:rPr>
                        <a:t>Palladam</a:t>
                      </a:r>
                      <a:endParaRPr kumimoji="0" lang="en-US" sz="19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Kumaraguru</a:t>
                      </a:r>
                      <a:r>
                        <a:rPr lang="en-IN" sz="1900" dirty="0">
                          <a:latin typeface="Times New Roman" pitchFamily="18" charset="0"/>
                          <a:cs typeface="Times New Roman" pitchFamily="18" charset="0"/>
                        </a:rPr>
                        <a:t> College of Technology, Coimbatore</a:t>
                      </a: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K.S.</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Rangasamy</a:t>
                      </a:r>
                      <a:r>
                        <a:rPr lang="en-IN" sz="1900" b="0" baseline="0" dirty="0">
                          <a:latin typeface="Times New Roman" pitchFamily="18" charset="0"/>
                          <a:cs typeface="Times New Roman" pitchFamily="18" charset="0"/>
                        </a:rPr>
                        <a:t> College of Technology-</a:t>
                      </a:r>
                      <a:r>
                        <a:rPr lang="en-IN" sz="1900" b="0" dirty="0">
                          <a:latin typeface="Times New Roman" pitchFamily="18" charset="0"/>
                          <a:cs typeface="Times New Roman"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Tiruchengode</a:t>
                      </a:r>
                      <a:r>
                        <a:rPr lang="en-IN" sz="1900" b="0" dirty="0">
                          <a:latin typeface="Times New Roman" pitchFamily="18" charset="0"/>
                          <a:cs typeface="Times New Roman" pitchFamily="18" charset="0"/>
                        </a:rPr>
                        <a:t>.</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Best Cotton</a:t>
                      </a:r>
                      <a:r>
                        <a:rPr lang="en-US" sz="1900" b="0" baseline="0" dirty="0">
                          <a:latin typeface="Times New Roman" pitchFamily="18" charset="0"/>
                          <a:cs typeface="Times New Roman" pitchFamily="18" charset="0"/>
                        </a:rPr>
                        <a:t> Mill (RRD Tex) - </a:t>
                      </a:r>
                      <a:r>
                        <a:rPr lang="en-US" sz="1900" b="0" baseline="0" dirty="0" err="1">
                          <a:latin typeface="Times New Roman" pitchFamily="18" charset="0"/>
                          <a:cs typeface="Times New Roman" pitchFamily="18" charset="0"/>
                        </a:rPr>
                        <a:t>Dharapuram</a:t>
                      </a:r>
                      <a:endParaRPr lang="en-IN" sz="19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SPAC Starch Products (India)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 Limited – </a:t>
                      </a:r>
                      <a:r>
                        <a:rPr kumimoji="0" lang="en-US" sz="1900" b="0" i="0" kern="1200" dirty="0" err="1">
                          <a:solidFill>
                            <a:schemeClr val="dk1"/>
                          </a:solidFill>
                          <a:latin typeface="Times New Roman" pitchFamily="18" charset="0"/>
                          <a:ea typeface="+mn-ea"/>
                          <a:cs typeface="Times New Roman" pitchFamily="18" charset="0"/>
                        </a:rPr>
                        <a:t>Anthiyur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baseline="0" dirty="0" err="1">
                          <a:latin typeface="Times New Roman" pitchFamily="18" charset="0"/>
                          <a:cs typeface="Times New Roman" pitchFamily="18" charset="0"/>
                        </a:rPr>
                        <a:t>Gharuda</a:t>
                      </a:r>
                      <a:r>
                        <a:rPr lang="en-IN" sz="1900" b="0" baseline="0" dirty="0">
                          <a:latin typeface="Times New Roman" pitchFamily="18" charset="0"/>
                          <a:cs typeface="Times New Roman" pitchFamily="18" charset="0"/>
                        </a:rPr>
                        <a:t> Apartment – Erode </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Tamil Nadu Newsprint and Papers Limited - </a:t>
                      </a:r>
                      <a:r>
                        <a:rPr kumimoji="0" lang="en-US" sz="1900" b="0" i="0" kern="1200" dirty="0" err="1">
                          <a:solidFill>
                            <a:schemeClr val="dk1"/>
                          </a:solidFill>
                          <a:latin typeface="Times New Roman" pitchFamily="18" charset="0"/>
                          <a:ea typeface="+mn-ea"/>
                          <a:cs typeface="Times New Roman" pitchFamily="18" charset="0"/>
                        </a:rPr>
                        <a:t>kagithapuram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Mahendra</a:t>
                      </a:r>
                      <a:r>
                        <a:rPr lang="en-IN" sz="1900" b="0" dirty="0">
                          <a:latin typeface="Times New Roman" pitchFamily="18" charset="0"/>
                          <a:cs typeface="Times New Roman" pitchFamily="18" charset="0"/>
                        </a:rPr>
                        <a:t> Engineering</a:t>
                      </a:r>
                      <a:r>
                        <a:rPr lang="en-IN" sz="1900" b="0" baseline="0" dirty="0">
                          <a:latin typeface="Times New Roman" pitchFamily="18" charset="0"/>
                          <a:cs typeface="Times New Roman" pitchFamily="18" charset="0"/>
                        </a:rPr>
                        <a:t> College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269106" y="-21609"/>
            <a:ext cx="7615803" cy="399392"/>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4" name="Picture 3" descr="podaran.png"/>
          <p:cNvPicPr>
            <a:picLocks noChangeAspect="1"/>
          </p:cNvPicPr>
          <p:nvPr/>
        </p:nvPicPr>
        <p:blipFill>
          <a:blip r:embed="rId3" cstate="print"/>
          <a:stretch>
            <a:fillRect/>
          </a:stretch>
        </p:blipFill>
        <p:spPr>
          <a:xfrm>
            <a:off x="4888194" y="623733"/>
            <a:ext cx="785032" cy="589769"/>
          </a:xfrm>
          <a:prstGeom prst="rect">
            <a:avLst/>
          </a:prstGeom>
        </p:spPr>
      </p:pic>
      <p:pic>
        <p:nvPicPr>
          <p:cNvPr id="5" name="Picture 4" descr="159033648029906.jpg"/>
          <p:cNvPicPr>
            <a:picLocks noChangeAspect="1"/>
          </p:cNvPicPr>
          <p:nvPr/>
        </p:nvPicPr>
        <p:blipFill>
          <a:blip r:embed="rId4" cstate="print"/>
          <a:stretch>
            <a:fillRect/>
          </a:stretch>
        </p:blipFill>
        <p:spPr>
          <a:xfrm>
            <a:off x="4867288" y="1264279"/>
            <a:ext cx="788670" cy="445770"/>
          </a:xfrm>
          <a:prstGeom prst="rect">
            <a:avLst/>
          </a:prstGeom>
        </p:spPr>
      </p:pic>
      <p:pic>
        <p:nvPicPr>
          <p:cNvPr id="6" name="Picture 5" descr="141819608-hen-incubate-eggs-in-the-nest-on-white-background-vector-logo-chicken-farm-products-from-chicken-mea.jpg"/>
          <p:cNvPicPr>
            <a:picLocks noChangeAspect="1"/>
          </p:cNvPicPr>
          <p:nvPr/>
        </p:nvPicPr>
        <p:blipFill>
          <a:blip r:embed="rId5" cstate="print"/>
          <a:stretch>
            <a:fillRect/>
          </a:stretch>
        </p:blipFill>
        <p:spPr>
          <a:xfrm>
            <a:off x="4879650" y="1768979"/>
            <a:ext cx="780042" cy="408203"/>
          </a:xfrm>
          <a:prstGeom prst="rect">
            <a:avLst/>
          </a:prstGeom>
        </p:spPr>
      </p:pic>
      <p:pic>
        <p:nvPicPr>
          <p:cNvPr id="8" name="Picture 7" descr="chendhoor murughan.png"/>
          <p:cNvPicPr>
            <a:picLocks noChangeAspect="1"/>
          </p:cNvPicPr>
          <p:nvPr/>
        </p:nvPicPr>
        <p:blipFill>
          <a:blip r:embed="rId6" cstate="print"/>
          <a:stretch>
            <a:fillRect/>
          </a:stretch>
        </p:blipFill>
        <p:spPr>
          <a:xfrm>
            <a:off x="4871103" y="2934209"/>
            <a:ext cx="768305" cy="582504"/>
          </a:xfrm>
          <a:prstGeom prst="rect">
            <a:avLst/>
          </a:prstGeom>
        </p:spPr>
      </p:pic>
      <p:pic>
        <p:nvPicPr>
          <p:cNvPr id="9" name="Picture 8" descr="vivekanandha LOGO.png"/>
          <p:cNvPicPr>
            <a:picLocks noChangeAspect="1"/>
          </p:cNvPicPr>
          <p:nvPr/>
        </p:nvPicPr>
        <p:blipFill>
          <a:blip r:embed="rId7"/>
          <a:stretch>
            <a:fillRect/>
          </a:stretch>
        </p:blipFill>
        <p:spPr>
          <a:xfrm>
            <a:off x="4879650" y="2247592"/>
            <a:ext cx="765332" cy="617483"/>
          </a:xfrm>
          <a:prstGeom prst="rect">
            <a:avLst/>
          </a:prstGeom>
        </p:spPr>
      </p:pic>
      <p:pic>
        <p:nvPicPr>
          <p:cNvPr id="10" name="Picture 9" descr="320094488M-1632542630993.jpg"/>
          <p:cNvPicPr>
            <a:picLocks noChangeAspect="1"/>
          </p:cNvPicPr>
          <p:nvPr/>
        </p:nvPicPr>
        <p:blipFill>
          <a:blip r:embed="rId8" cstate="print"/>
          <a:srcRect l="6759" r="13586" b="7185"/>
          <a:stretch>
            <a:fillRect/>
          </a:stretch>
        </p:blipFill>
        <p:spPr>
          <a:xfrm>
            <a:off x="4896741" y="4071678"/>
            <a:ext cx="743484" cy="517927"/>
          </a:xfrm>
          <a:prstGeom prst="rect">
            <a:avLst/>
          </a:prstGeom>
        </p:spPr>
      </p:pic>
      <p:pic>
        <p:nvPicPr>
          <p:cNvPr id="11" name="Picture 10" descr="KSR Logo.png"/>
          <p:cNvPicPr>
            <a:picLocks noChangeAspect="1"/>
          </p:cNvPicPr>
          <p:nvPr/>
        </p:nvPicPr>
        <p:blipFill>
          <a:blip r:embed="rId9"/>
          <a:stretch>
            <a:fillRect/>
          </a:stretch>
        </p:blipFill>
        <p:spPr>
          <a:xfrm>
            <a:off x="4930923" y="4643703"/>
            <a:ext cx="756436" cy="649859"/>
          </a:xfrm>
          <a:prstGeom prst="rect">
            <a:avLst/>
          </a:prstGeom>
        </p:spPr>
      </p:pic>
      <p:pic>
        <p:nvPicPr>
          <p:cNvPr id="12" name="Picture 11" descr="download.png"/>
          <p:cNvPicPr>
            <a:picLocks noChangeAspect="1"/>
          </p:cNvPicPr>
          <p:nvPr/>
        </p:nvPicPr>
        <p:blipFill>
          <a:blip r:embed="rId10"/>
          <a:stretch>
            <a:fillRect/>
          </a:stretch>
        </p:blipFill>
        <p:spPr>
          <a:xfrm>
            <a:off x="4913832" y="5347825"/>
            <a:ext cx="758379" cy="548772"/>
          </a:xfrm>
          <a:prstGeom prst="rect">
            <a:avLst/>
          </a:prstGeom>
        </p:spPr>
      </p:pic>
      <p:pic>
        <p:nvPicPr>
          <p:cNvPr id="13" name="Picture 12" descr="TNPL-Logo1.jpg"/>
          <p:cNvPicPr>
            <a:picLocks noChangeAspect="1"/>
          </p:cNvPicPr>
          <p:nvPr/>
        </p:nvPicPr>
        <p:blipFill>
          <a:blip r:embed="rId11" cstate="print"/>
          <a:stretch>
            <a:fillRect/>
          </a:stretch>
        </p:blipFill>
        <p:spPr>
          <a:xfrm>
            <a:off x="4862556" y="5985964"/>
            <a:ext cx="767749" cy="594297"/>
          </a:xfrm>
          <a:prstGeom prst="rect">
            <a:avLst/>
          </a:prstGeom>
        </p:spPr>
      </p:pic>
      <p:pic>
        <p:nvPicPr>
          <p:cNvPr id="16" name="Picture 15" descr="broiler.jpg"/>
          <p:cNvPicPr>
            <a:picLocks noChangeAspect="1"/>
          </p:cNvPicPr>
          <p:nvPr/>
        </p:nvPicPr>
        <p:blipFill>
          <a:blip r:embed="rId12" cstate="print"/>
          <a:stretch>
            <a:fillRect/>
          </a:stretch>
        </p:blipFill>
        <p:spPr>
          <a:xfrm>
            <a:off x="4896740" y="3580688"/>
            <a:ext cx="734940" cy="471701"/>
          </a:xfrm>
          <a:prstGeom prst="rect">
            <a:avLst/>
          </a:prstGeom>
        </p:spPr>
      </p:pic>
      <p:pic>
        <p:nvPicPr>
          <p:cNvPr id="17" name="Picture 16" descr="WhatsApp Image 2021-10-18 at 1.21.27.jpeg"/>
          <p:cNvPicPr>
            <a:picLocks noChangeAspect="1"/>
          </p:cNvPicPr>
          <p:nvPr/>
        </p:nvPicPr>
        <p:blipFill>
          <a:blip r:embed="rId13" cstate="print"/>
          <a:srcRect l="5226" r="9113" b="11950"/>
          <a:stretch>
            <a:fillRect/>
          </a:stretch>
        </p:blipFill>
        <p:spPr>
          <a:xfrm>
            <a:off x="10976830" y="640067"/>
            <a:ext cx="819807" cy="553942"/>
          </a:xfrm>
          <a:prstGeom prst="rect">
            <a:avLst/>
          </a:prstGeom>
        </p:spPr>
      </p:pic>
      <p:pic>
        <p:nvPicPr>
          <p:cNvPr id="14" name="Picture 1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978216" y="2936299"/>
            <a:ext cx="829205" cy="550383"/>
          </a:xfrm>
          <a:prstGeom prst="rect">
            <a:avLst/>
          </a:prstGeom>
        </p:spPr>
      </p:pic>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64254" y="2278373"/>
            <a:ext cx="833260" cy="576311"/>
          </a:xfrm>
          <a:prstGeom prst="rect">
            <a:avLst/>
          </a:prstGeom>
        </p:spPr>
      </p:pic>
      <p:pic>
        <p:nvPicPr>
          <p:cNvPr id="15" name="Picture 1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81346" y="3585206"/>
            <a:ext cx="806422" cy="446401"/>
          </a:xfrm>
          <a:prstGeom prst="rect">
            <a:avLst/>
          </a:prstGeom>
        </p:spPr>
      </p:pic>
      <p:pic>
        <p:nvPicPr>
          <p:cNvPr id="19" name="Picture 2" descr="Best Corporation (P) Limited"/>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819140" y="4665911"/>
            <a:ext cx="995702" cy="54452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p:cNvPicPr>
            <a:picLocks noChangeAspect="1"/>
          </p:cNvPicPr>
          <p:nvPr/>
        </p:nvPicPr>
        <p:blipFill rotWithShape="1">
          <a:blip r:embed="rId18" cstate="print">
            <a:extLst>
              <a:ext uri="{28A0092B-C50C-407E-A947-70E740481C1C}">
                <a14:useLocalDpi xmlns:a14="http://schemas.microsoft.com/office/drawing/2010/main" val="0"/>
              </a:ext>
            </a:extLst>
          </a:blip>
          <a:srcRect l="12538" b="46453"/>
          <a:stretch/>
        </p:blipFill>
        <p:spPr>
          <a:xfrm>
            <a:off x="10844613" y="5319873"/>
            <a:ext cx="954422" cy="602673"/>
          </a:xfrm>
          <a:prstGeom prst="rect">
            <a:avLst/>
          </a:prstGeom>
        </p:spPr>
      </p:pic>
      <p:pic>
        <p:nvPicPr>
          <p:cNvPr id="23" name="Picture 2" descr="C:\Users\HP-RTS\Downloads\WhatsApp Image 2023-08-11 at 1.36.26 PM.png"/>
          <p:cNvPicPr>
            <a:picLocks noChangeAspect="1" noChangeArrowheads="1"/>
          </p:cNvPicPr>
          <p:nvPr/>
        </p:nvPicPr>
        <p:blipFill>
          <a:blip r:embed="rId19" cstate="print"/>
          <a:srcRect l="24688" t="15000" r="22000" b="32500"/>
          <a:stretch>
            <a:fillRect/>
          </a:stretch>
        </p:blipFill>
        <p:spPr bwMode="auto">
          <a:xfrm>
            <a:off x="11055245" y="74147"/>
            <a:ext cx="818090" cy="402811"/>
          </a:xfrm>
          <a:prstGeom prst="rect">
            <a:avLst/>
          </a:prstGeom>
          <a:noFill/>
        </p:spPr>
      </p:pic>
      <p:pic>
        <p:nvPicPr>
          <p:cNvPr id="2050" name="Picture 2"/>
          <p:cNvPicPr>
            <a:picLocks noChangeAspect="1" noChangeArrowheads="1"/>
          </p:cNvPicPr>
          <p:nvPr/>
        </p:nvPicPr>
        <p:blipFill>
          <a:blip r:embed="rId20" cstate="print"/>
          <a:srcRect/>
          <a:stretch>
            <a:fillRect/>
          </a:stretch>
        </p:blipFill>
        <p:spPr bwMode="auto">
          <a:xfrm>
            <a:off x="10861705" y="5987847"/>
            <a:ext cx="917187" cy="583869"/>
          </a:xfrm>
          <a:prstGeom prst="rect">
            <a:avLst/>
          </a:prstGeom>
          <a:noFill/>
          <a:ln w="9525">
            <a:noFill/>
            <a:miter lim="800000"/>
            <a:headEnd/>
            <a:tailEnd/>
          </a:ln>
          <a:effectLst/>
        </p:spPr>
      </p:pic>
      <p:pic>
        <p:nvPicPr>
          <p:cNvPr id="2051" name="Picture 3"/>
          <p:cNvPicPr>
            <a:picLocks noChangeAspect="1" noChangeArrowheads="1"/>
          </p:cNvPicPr>
          <p:nvPr/>
        </p:nvPicPr>
        <p:blipFill>
          <a:blip r:embed="rId21" cstate="print"/>
          <a:srcRect/>
          <a:stretch>
            <a:fillRect/>
          </a:stretch>
        </p:blipFill>
        <p:spPr bwMode="auto">
          <a:xfrm>
            <a:off x="10947163" y="1709159"/>
            <a:ext cx="837487" cy="492816"/>
          </a:xfrm>
          <a:prstGeom prst="rect">
            <a:avLst/>
          </a:prstGeom>
          <a:noFill/>
          <a:ln w="9525">
            <a:noFill/>
            <a:miter lim="800000"/>
            <a:headEnd/>
            <a:tailEnd/>
          </a:ln>
          <a:effectLst/>
        </p:spPr>
      </p:pic>
      <p:pic>
        <p:nvPicPr>
          <p:cNvPr id="2052" name="Picture 4"/>
          <p:cNvPicPr>
            <a:picLocks noChangeAspect="1" noChangeArrowheads="1"/>
          </p:cNvPicPr>
          <p:nvPr/>
        </p:nvPicPr>
        <p:blipFill>
          <a:blip r:embed="rId22" cstate="print"/>
          <a:srcRect/>
          <a:stretch>
            <a:fillRect/>
          </a:stretch>
        </p:blipFill>
        <p:spPr bwMode="auto">
          <a:xfrm>
            <a:off x="10938615" y="1290415"/>
            <a:ext cx="855411" cy="411074"/>
          </a:xfrm>
          <a:prstGeom prst="rect">
            <a:avLst/>
          </a:prstGeom>
          <a:noFill/>
          <a:ln w="9525">
            <a:noFill/>
            <a:miter lim="800000"/>
            <a:headEnd/>
            <a:tailEnd/>
          </a:ln>
          <a:effectLst/>
        </p:spPr>
      </p:pic>
      <p:pic>
        <p:nvPicPr>
          <p:cNvPr id="2053" name="Picture 5"/>
          <p:cNvPicPr>
            <a:picLocks noChangeAspect="1" noChangeArrowheads="1"/>
          </p:cNvPicPr>
          <p:nvPr/>
        </p:nvPicPr>
        <p:blipFill>
          <a:blip r:embed="rId23"/>
          <a:srcRect t="2910"/>
          <a:stretch>
            <a:fillRect/>
          </a:stretch>
        </p:blipFill>
        <p:spPr bwMode="auto">
          <a:xfrm>
            <a:off x="10964254" y="4084891"/>
            <a:ext cx="841924" cy="487109"/>
          </a:xfrm>
          <a:prstGeom prst="rect">
            <a:avLst/>
          </a:prstGeom>
          <a:noFill/>
          <a:ln w="9525">
            <a:noFill/>
            <a:miter lim="800000"/>
            <a:headEnd/>
            <a:tailEnd/>
          </a:ln>
          <a:effectLst/>
        </p:spPr>
      </p:pic>
    </p:spTree>
    <p:extLst>
      <p:ext uri="{BB962C8B-B14F-4D97-AF65-F5344CB8AC3E}">
        <p14:creationId xmlns:p14="http://schemas.microsoft.com/office/powerpoint/2010/main" val="420919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572469200"/>
              </p:ext>
            </p:extLst>
          </p:nvPr>
        </p:nvGraphicFramePr>
        <p:xfrm>
          <a:off x="289369" y="518507"/>
          <a:ext cx="11563107" cy="5987198"/>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491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SPIRO Educational Institute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Apex -</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Kodaikanal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524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Aalaya</a:t>
                      </a:r>
                      <a:r>
                        <a:rPr lang="en-IN" sz="1900" b="0" dirty="0">
                          <a:latin typeface="Times New Roman" pitchFamily="18" charset="0"/>
                          <a:cs typeface="Times New Roman" pitchFamily="18" charset="0"/>
                        </a:rPr>
                        <a:t> academy</a:t>
                      </a:r>
                      <a:r>
                        <a:rPr lang="en-IN" sz="1900" b="0" baseline="0" dirty="0">
                          <a:latin typeface="Times New Roman" pitchFamily="18" charset="0"/>
                          <a:cs typeface="Times New Roman" pitchFamily="18" charset="0"/>
                        </a:rPr>
                        <a:t> - </a:t>
                      </a:r>
                      <a:r>
                        <a:rPr lang="en-IN" sz="1900" b="0" baseline="0" dirty="0" err="1">
                          <a:latin typeface="Times New Roman" pitchFamily="18" charset="0"/>
                          <a:cs typeface="Times New Roman" pitchFamily="18" charset="0"/>
                        </a:rPr>
                        <a:t>Tirupur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Devaraja</a:t>
                      </a:r>
                      <a:r>
                        <a:rPr lang="en-IN" sz="1800" b="0" dirty="0">
                          <a:latin typeface="Times New Roman" pitchFamily="18" charset="0"/>
                          <a:cs typeface="Times New Roman" pitchFamily="18" charset="0"/>
                        </a:rPr>
                        <a:t> Agro Industries - </a:t>
                      </a:r>
                      <a:r>
                        <a:rPr lang="en-IN" sz="1800" b="0" dirty="0" err="1">
                          <a:latin typeface="Times New Roman" pitchFamily="18" charset="0"/>
                          <a:cs typeface="Times New Roman" pitchFamily="18" charset="0"/>
                        </a:rPr>
                        <a:t>Krishnagiri</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11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VSM </a:t>
                      </a:r>
                      <a:r>
                        <a:rPr lang="en-IN" sz="1900" b="0" dirty="0" err="1">
                          <a:latin typeface="Times New Roman" pitchFamily="18" charset="0"/>
                          <a:cs typeface="Times New Roman" pitchFamily="18" charset="0"/>
                        </a:rPr>
                        <a:t>Weavess</a:t>
                      </a:r>
                      <a:r>
                        <a:rPr lang="en-IN" sz="1900" b="0" baseline="0" dirty="0">
                          <a:latin typeface="Times New Roman" pitchFamily="18" charset="0"/>
                          <a:cs typeface="Times New Roman" pitchFamily="18" charset="0"/>
                        </a:rPr>
                        <a:t> India (P) Limited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latin typeface="Times New Roman" pitchFamily="18" charset="0"/>
                          <a:cs typeface="Times New Roman" pitchFamily="18" charset="0"/>
                        </a:rPr>
                        <a:t>SUA </a:t>
                      </a:r>
                      <a:r>
                        <a:rPr lang="en-IN" sz="2000" b="0" dirty="0" err="1">
                          <a:latin typeface="Times New Roman" pitchFamily="18" charset="0"/>
                          <a:cs typeface="Times New Roman" pitchFamily="18" charset="0"/>
                        </a:rPr>
                        <a:t>Serenetia</a:t>
                      </a:r>
                      <a:r>
                        <a:rPr lang="en-IN" sz="2000" b="0" dirty="0">
                          <a:latin typeface="Times New Roman" pitchFamily="18" charset="0"/>
                          <a:cs typeface="Times New Roman" pitchFamily="18" charset="0"/>
                        </a:rPr>
                        <a:t> - </a:t>
                      </a:r>
                      <a:r>
                        <a:rPr lang="en-IN" sz="2000" b="0" dirty="0" err="1">
                          <a:latin typeface="Times New Roman" pitchFamily="18" charset="0"/>
                          <a:cs typeface="Times New Roman" pitchFamily="18" charset="0"/>
                        </a:rPr>
                        <a:t>Coonoor</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5402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Texmo</a:t>
                      </a:r>
                      <a:r>
                        <a:rPr lang="en-IN" sz="1900" b="0" dirty="0">
                          <a:latin typeface="Times New Roman" pitchFamily="18" charset="0"/>
                          <a:cs typeface="Times New Roman" pitchFamily="18" charset="0"/>
                        </a:rPr>
                        <a:t> Industries Pump</a:t>
                      </a:r>
                      <a:r>
                        <a:rPr lang="en-IN" sz="1900" b="0" baseline="0" dirty="0">
                          <a:latin typeface="Times New Roman" pitchFamily="18" charset="0"/>
                          <a:cs typeface="Times New Roman" pitchFamily="18" charset="0"/>
                        </a:rPr>
                        <a:t> Division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Vellalar</a:t>
                      </a:r>
                      <a:r>
                        <a:rPr lang="en-US" sz="2000" b="0" baseline="0" dirty="0">
                          <a:latin typeface="Times New Roman" pitchFamily="18" charset="0"/>
                          <a:cs typeface="Times New Roman" pitchFamily="18" charset="0"/>
                        </a:rPr>
                        <a:t> Educational Trust</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587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Tamilmani</a:t>
                      </a:r>
                      <a:r>
                        <a:rPr lang="en-IN" sz="1900" dirty="0">
                          <a:latin typeface="Times New Roman" pitchFamily="18" charset="0"/>
                          <a:cs typeface="Times New Roman" pitchFamily="18" charset="0"/>
                        </a:rPr>
                        <a:t> Poultry Farm – </a:t>
                      </a:r>
                      <a:r>
                        <a:rPr lang="en-IN" sz="1900" dirty="0" err="1">
                          <a:latin typeface="Times New Roman" pitchFamily="18" charset="0"/>
                          <a:cs typeface="Times New Roman" pitchFamily="18" charset="0"/>
                        </a:rPr>
                        <a:t>Namakkal</a:t>
                      </a:r>
                      <a:r>
                        <a:rPr lang="en-IN" sz="1900" dirty="0">
                          <a:latin typeface="Times New Roman" pitchFamily="18" charset="0"/>
                          <a:cs typeface="Times New Roman" pitchFamily="18" charset="0"/>
                        </a:rPr>
                        <a:t> </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Jai</a:t>
                      </a:r>
                      <a:r>
                        <a:rPr lang="en-IN" sz="1900" baseline="0" dirty="0">
                          <a:latin typeface="Times New Roman" pitchFamily="18" charset="0"/>
                          <a:cs typeface="Times New Roman" pitchFamily="18" charset="0"/>
                        </a:rPr>
                        <a:t> Ram Arts &amp; Science College - Salem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74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JPS Academy - </a:t>
                      </a:r>
                      <a:r>
                        <a:rPr lang="en-IN" sz="1900" b="0" dirty="0" err="1">
                          <a:latin typeface="Times New Roman" pitchFamily="18" charset="0"/>
                          <a:cs typeface="Times New Roman" pitchFamily="18" charset="0"/>
                        </a:rPr>
                        <a:t>Thirchengode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Kummu</a:t>
                      </a:r>
                      <a:r>
                        <a:rPr lang="en-IN" sz="1800" b="0" dirty="0">
                          <a:latin typeface="Times New Roman" pitchFamily="18" charset="0"/>
                          <a:cs typeface="Times New Roman" pitchFamily="18" charset="0"/>
                        </a:rPr>
                        <a:t> </a:t>
                      </a:r>
                      <a:r>
                        <a:rPr lang="en-IN" sz="1800" b="0" dirty="0" err="1">
                          <a:latin typeface="Times New Roman" pitchFamily="18" charset="0"/>
                          <a:cs typeface="Times New Roman" pitchFamily="18" charset="0"/>
                        </a:rPr>
                        <a:t>Mahal</a:t>
                      </a:r>
                      <a:r>
                        <a:rPr lang="en-IN" sz="1800" b="0" dirty="0">
                          <a:latin typeface="Times New Roman" pitchFamily="18" charset="0"/>
                          <a:cs typeface="Times New Roman" pitchFamily="18" charset="0"/>
                        </a:rPr>
                        <a:t> – </a:t>
                      </a:r>
                      <a:r>
                        <a:rPr lang="en-IN" sz="1800" b="0" dirty="0" err="1">
                          <a:latin typeface="Times New Roman" pitchFamily="18" charset="0"/>
                          <a:cs typeface="Times New Roman" pitchFamily="18" charset="0"/>
                        </a:rPr>
                        <a:t>Perundurai</a:t>
                      </a:r>
                      <a:r>
                        <a:rPr lang="en-IN" sz="1800" b="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2045795545"/>
                  </a:ext>
                </a:extLst>
              </a:tr>
              <a:tr h="5040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Shanthi</a:t>
                      </a:r>
                      <a:r>
                        <a:rPr kumimoji="0" lang="en-US" sz="1900" b="0" i="0" u="none" strike="noStrike" kern="1200" dirty="0">
                          <a:solidFill>
                            <a:schemeClr val="dk1"/>
                          </a:solidFill>
                          <a:latin typeface="Times New Roman" pitchFamily="18" charset="0"/>
                          <a:ea typeface="+mn-ea"/>
                          <a:cs typeface="Times New Roman" pitchFamily="18" charset="0"/>
                        </a:rPr>
                        <a:t> Gears -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Ponnusamy</a:t>
                      </a:r>
                      <a:r>
                        <a:rPr lang="en-IN" sz="1900" dirty="0">
                          <a:latin typeface="Times New Roman" pitchFamily="18" charset="0"/>
                          <a:cs typeface="Times New Roman" pitchFamily="18" charset="0"/>
                        </a:rPr>
                        <a:t> Poultry Farms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69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Dhiyanalinga</a:t>
                      </a:r>
                      <a:r>
                        <a:rPr lang="en-IN" sz="1900" b="0" dirty="0">
                          <a:latin typeface="Times New Roman" pitchFamily="18" charset="0"/>
                          <a:cs typeface="Times New Roman" pitchFamily="18" charset="0"/>
                        </a:rPr>
                        <a:t> Modern Rice Mills – </a:t>
                      </a:r>
                      <a:r>
                        <a:rPr lang="en-IN" sz="1900" b="0" dirty="0" err="1">
                          <a:latin typeface="Times New Roman" pitchFamily="18" charset="0"/>
                          <a:cs typeface="Times New Roman" pitchFamily="18" charset="0"/>
                        </a:rPr>
                        <a:t>Palladam</a:t>
                      </a:r>
                      <a:r>
                        <a:rPr lang="en-IN" sz="1900" b="0" dirty="0">
                          <a:latin typeface="Times New Roman" pitchFamily="18" charset="0"/>
                          <a:cs typeface="Times New Roman" pitchFamily="18" charset="0"/>
                        </a:rPr>
                        <a:t> </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Leyercaud</a:t>
                      </a:r>
                      <a:r>
                        <a:rPr lang="en-IN" sz="1900" b="0" dirty="0">
                          <a:latin typeface="Times New Roman" pitchFamily="18" charset="0"/>
                          <a:cs typeface="Times New Roman" pitchFamily="18" charset="0"/>
                        </a:rPr>
                        <a:t> Resort - </a:t>
                      </a:r>
                      <a:r>
                        <a:rPr lang="en-IN" sz="1900" b="0" dirty="0" err="1">
                          <a:latin typeface="Times New Roman" pitchFamily="18" charset="0"/>
                          <a:cs typeface="Times New Roman" pitchFamily="18" charset="0"/>
                        </a:rPr>
                        <a:t>Yercaud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717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Venus</a:t>
                      </a:r>
                      <a:r>
                        <a:rPr lang="en-IN" sz="1900" b="0" baseline="0" dirty="0">
                          <a:latin typeface="Times New Roman" pitchFamily="18" charset="0"/>
                          <a:cs typeface="Times New Roman" pitchFamily="18" charset="0"/>
                        </a:rPr>
                        <a:t> Home Appliance - </a:t>
                      </a:r>
                      <a:r>
                        <a:rPr lang="en-IN" sz="1900" b="0" baseline="0" dirty="0" err="1">
                          <a:latin typeface="Times New Roman" pitchFamily="18" charset="0"/>
                          <a:cs typeface="Times New Roman" pitchFamily="18" charset="0"/>
                        </a:rPr>
                        <a:t>Thuthukudi</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VSR Industrial Corporation - Erode</a:t>
                      </a:r>
                    </a:p>
                  </a:txBody>
                  <a:tcPr marL="74295" marR="74295" anchor="ctr"/>
                </a:tc>
                <a:extLst>
                  <a:ext uri="{0D108BD9-81ED-4DB2-BD59-A6C34878D82A}">
                    <a16:rowId xmlns:a16="http://schemas.microsoft.com/office/drawing/2014/main" val="2433702436"/>
                  </a:ext>
                </a:extLst>
              </a:tr>
              <a:tr h="4226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Kavery</a:t>
                      </a:r>
                      <a:r>
                        <a:rPr lang="en-IN" sz="1900" b="0" dirty="0">
                          <a:latin typeface="Times New Roman" pitchFamily="18" charset="0"/>
                          <a:cs typeface="Times New Roman" pitchFamily="18" charset="0"/>
                        </a:rPr>
                        <a:t> </a:t>
                      </a:r>
                      <a:r>
                        <a:rPr lang="en-IN" sz="1900" b="0" dirty="0" err="1">
                          <a:latin typeface="Times New Roman" pitchFamily="18" charset="0"/>
                          <a:cs typeface="Times New Roman" pitchFamily="18" charset="0"/>
                        </a:rPr>
                        <a:t>Eductaional</a:t>
                      </a:r>
                      <a:r>
                        <a:rPr lang="en-IN" sz="1900" b="0" baseline="0" dirty="0">
                          <a:latin typeface="Times New Roman" pitchFamily="18" charset="0"/>
                          <a:cs typeface="Times New Roman" pitchFamily="18" charset="0"/>
                        </a:rPr>
                        <a:t> Institutions – Salem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VRL Supporters - Coimbatore</a:t>
                      </a:r>
                    </a:p>
                  </a:txBody>
                  <a:tcPr marL="74295" marR="74295" anchor="ctr"/>
                </a:tc>
                <a:extLst>
                  <a:ext uri="{0D108BD9-81ED-4DB2-BD59-A6C34878D82A}">
                    <a16:rowId xmlns:a16="http://schemas.microsoft.com/office/drawing/2014/main" val="10009"/>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Asian</a:t>
                      </a:r>
                      <a:r>
                        <a:rPr lang="en-IN" sz="1900" b="0" baseline="0" dirty="0">
                          <a:latin typeface="Times New Roman" pitchFamily="18" charset="0"/>
                          <a:cs typeface="Times New Roman" pitchFamily="18" charset="0"/>
                        </a:rPr>
                        <a:t> Fabrics – </a:t>
                      </a:r>
                      <a:r>
                        <a:rPr lang="en-IN" sz="1900" b="0" baseline="0" dirty="0" err="1">
                          <a:latin typeface="Times New Roman" pitchFamily="18" charset="0"/>
                          <a:cs typeface="Times New Roman" pitchFamily="18" charset="0"/>
                        </a:rPr>
                        <a:t>Karur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Swamy</a:t>
                      </a:r>
                      <a:r>
                        <a:rPr lang="en-IN" sz="1800" b="0" dirty="0">
                          <a:latin typeface="Times New Roman" pitchFamily="18" charset="0"/>
                          <a:cs typeface="Times New Roman" pitchFamily="18" charset="0"/>
                        </a:rPr>
                        <a:t> School - Salem</a:t>
                      </a:r>
                    </a:p>
                  </a:txBody>
                  <a:tcPr marL="74295" marR="74295" anchor="ctr"/>
                </a:tc>
                <a:extLst>
                  <a:ext uri="{0D108BD9-81ED-4DB2-BD59-A6C34878D82A}">
                    <a16:rowId xmlns:a16="http://schemas.microsoft.com/office/drawing/2014/main" val="10010"/>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Kovai</a:t>
                      </a:r>
                      <a:r>
                        <a:rPr lang="en-IN" sz="1900" b="0" dirty="0">
                          <a:latin typeface="Times New Roman" pitchFamily="18" charset="0"/>
                          <a:cs typeface="Times New Roman" pitchFamily="18" charset="0"/>
                        </a:rPr>
                        <a:t> Medical </a:t>
                      </a:r>
                      <a:r>
                        <a:rPr lang="en-IN" sz="1900" b="0" dirty="0" err="1">
                          <a:latin typeface="Times New Roman" pitchFamily="18" charset="0"/>
                          <a:cs typeface="Times New Roman" pitchFamily="18" charset="0"/>
                        </a:rPr>
                        <a:t>Center</a:t>
                      </a:r>
                      <a:r>
                        <a:rPr lang="en-IN" sz="1900" b="0" baseline="0" dirty="0">
                          <a:latin typeface="Times New Roman" pitchFamily="18" charset="0"/>
                          <a:cs typeface="Times New Roman" pitchFamily="18" charset="0"/>
                        </a:rPr>
                        <a:t> Hospital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Royal Care</a:t>
                      </a:r>
                      <a:r>
                        <a:rPr lang="en-IN" sz="1800" b="0" baseline="0" dirty="0">
                          <a:latin typeface="Times New Roman" pitchFamily="18" charset="0"/>
                          <a:cs typeface="Times New Roman" pitchFamily="18" charset="0"/>
                        </a:rPr>
                        <a:t> Hospital - Coimbatore</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11"/>
                  </a:ext>
                </a:extLst>
              </a:tr>
            </a:tbl>
          </a:graphicData>
        </a:graphic>
      </p:graphicFrame>
      <p:pic>
        <p:nvPicPr>
          <p:cNvPr id="23" name="Picture 22" descr="broiler.jpg"/>
          <p:cNvPicPr>
            <a:picLocks noChangeAspect="1"/>
          </p:cNvPicPr>
          <p:nvPr/>
        </p:nvPicPr>
        <p:blipFill>
          <a:blip r:embed="rId3" cstate="print"/>
          <a:stretch>
            <a:fillRect/>
          </a:stretch>
        </p:blipFill>
        <p:spPr>
          <a:xfrm>
            <a:off x="5016381" y="2599668"/>
            <a:ext cx="592922" cy="415228"/>
          </a:xfrm>
          <a:prstGeom prst="rect">
            <a:avLst/>
          </a:prstGeom>
        </p:spPr>
      </p:pic>
      <p:pic>
        <p:nvPicPr>
          <p:cNvPr id="24" name="Picture 23" descr="broiler.jpg"/>
          <p:cNvPicPr>
            <a:picLocks noChangeAspect="1"/>
          </p:cNvPicPr>
          <p:nvPr/>
        </p:nvPicPr>
        <p:blipFill>
          <a:blip r:embed="rId3" cstate="print"/>
          <a:stretch>
            <a:fillRect/>
          </a:stretch>
        </p:blipFill>
        <p:spPr>
          <a:xfrm>
            <a:off x="11301059" y="3592327"/>
            <a:ext cx="409904" cy="415228"/>
          </a:xfrm>
          <a:prstGeom prst="rect">
            <a:avLst/>
          </a:prstGeom>
        </p:spPr>
      </p:pic>
      <p:pic>
        <p:nvPicPr>
          <p:cNvPr id="22" name="Picture 2" descr="C:\Users\HP-RTS\Desktop\I Tank Symbol\spiro.jpg"/>
          <p:cNvPicPr>
            <a:picLocks noChangeAspect="1" noChangeArrowheads="1"/>
          </p:cNvPicPr>
          <p:nvPr/>
        </p:nvPicPr>
        <p:blipFill>
          <a:blip r:embed="rId4" cstate="print"/>
          <a:srcRect/>
          <a:stretch>
            <a:fillRect/>
          </a:stretch>
        </p:blipFill>
        <p:spPr bwMode="auto">
          <a:xfrm>
            <a:off x="5016381" y="560173"/>
            <a:ext cx="646097" cy="411892"/>
          </a:xfrm>
          <a:prstGeom prst="rect">
            <a:avLst/>
          </a:prstGeom>
          <a:noFill/>
        </p:spPr>
      </p:pic>
      <p:pic>
        <p:nvPicPr>
          <p:cNvPr id="1027" name="Picture 3" descr="C:\Users\HP-RTS\Desktop\I Tank Symbol\AalayaAcademy-CBSE-Logo.png"/>
          <p:cNvPicPr>
            <a:picLocks noChangeAspect="1" noChangeArrowheads="1"/>
          </p:cNvPicPr>
          <p:nvPr/>
        </p:nvPicPr>
        <p:blipFill>
          <a:blip r:embed="rId5" cstate="print"/>
          <a:srcRect r="58945"/>
          <a:stretch>
            <a:fillRect/>
          </a:stretch>
        </p:blipFill>
        <p:spPr bwMode="auto">
          <a:xfrm>
            <a:off x="5033474" y="1054292"/>
            <a:ext cx="633834" cy="379864"/>
          </a:xfrm>
          <a:prstGeom prst="rect">
            <a:avLst/>
          </a:prstGeom>
          <a:noFill/>
        </p:spPr>
      </p:pic>
      <p:pic>
        <p:nvPicPr>
          <p:cNvPr id="1028" name="Picture 4" descr="C:\Users\HP-RTS\Desktop\I Tank Symbol\vsm weaves.jpg"/>
          <p:cNvPicPr>
            <a:picLocks noChangeAspect="1" noChangeArrowheads="1"/>
          </p:cNvPicPr>
          <p:nvPr/>
        </p:nvPicPr>
        <p:blipFill>
          <a:blip r:embed="rId6" cstate="print"/>
          <a:srcRect/>
          <a:stretch>
            <a:fillRect/>
          </a:stretch>
        </p:blipFill>
        <p:spPr bwMode="auto">
          <a:xfrm>
            <a:off x="5007836" y="1493109"/>
            <a:ext cx="650933" cy="449990"/>
          </a:xfrm>
          <a:prstGeom prst="rect">
            <a:avLst/>
          </a:prstGeom>
          <a:noFill/>
        </p:spPr>
      </p:pic>
      <p:pic>
        <p:nvPicPr>
          <p:cNvPr id="1029" name="Picture 5" descr="C:\Users\HP-RTS\Desktop\I Tank Symbol\texmo.jpg"/>
          <p:cNvPicPr>
            <a:picLocks noChangeAspect="1" noChangeArrowheads="1"/>
          </p:cNvPicPr>
          <p:nvPr/>
        </p:nvPicPr>
        <p:blipFill>
          <a:blip r:embed="rId7" cstate="print"/>
          <a:srcRect/>
          <a:stretch>
            <a:fillRect/>
          </a:stretch>
        </p:blipFill>
        <p:spPr bwMode="auto">
          <a:xfrm>
            <a:off x="5016381" y="2020329"/>
            <a:ext cx="626327" cy="451022"/>
          </a:xfrm>
          <a:prstGeom prst="rect">
            <a:avLst/>
          </a:prstGeom>
          <a:noFill/>
        </p:spPr>
      </p:pic>
      <p:pic>
        <p:nvPicPr>
          <p:cNvPr id="1030" name="Picture 6" descr="C:\Users\HP-RTS\Desktop\I Tank Symbol\jps academy.jpg"/>
          <p:cNvPicPr>
            <a:picLocks noChangeAspect="1" noChangeArrowheads="1"/>
          </p:cNvPicPr>
          <p:nvPr/>
        </p:nvPicPr>
        <p:blipFill>
          <a:blip r:embed="rId8"/>
          <a:srcRect/>
          <a:stretch>
            <a:fillRect/>
          </a:stretch>
        </p:blipFill>
        <p:spPr bwMode="auto">
          <a:xfrm>
            <a:off x="4999290" y="3129578"/>
            <a:ext cx="654055" cy="374197"/>
          </a:xfrm>
          <a:prstGeom prst="rect">
            <a:avLst/>
          </a:prstGeom>
          <a:noFill/>
        </p:spPr>
      </p:pic>
      <p:pic>
        <p:nvPicPr>
          <p:cNvPr id="1031" name="Picture 7" descr="C:\Users\HP-RTS\Desktop\I Tank Symbol\shanthi gears.png"/>
          <p:cNvPicPr>
            <a:picLocks noChangeAspect="1" noChangeArrowheads="1"/>
          </p:cNvPicPr>
          <p:nvPr/>
        </p:nvPicPr>
        <p:blipFill>
          <a:blip r:embed="rId9"/>
          <a:srcRect/>
          <a:stretch>
            <a:fillRect/>
          </a:stretch>
        </p:blipFill>
        <p:spPr bwMode="auto">
          <a:xfrm>
            <a:off x="4950941" y="3578415"/>
            <a:ext cx="699186" cy="429561"/>
          </a:xfrm>
          <a:prstGeom prst="rect">
            <a:avLst/>
          </a:prstGeom>
          <a:noFill/>
        </p:spPr>
      </p:pic>
      <p:pic>
        <p:nvPicPr>
          <p:cNvPr id="1032" name="Picture 8" descr="C:\Users\HP-RTS\Desktop\I Tank Symbol\dhiyanalinga.png"/>
          <p:cNvPicPr>
            <a:picLocks noChangeAspect="1" noChangeArrowheads="1"/>
          </p:cNvPicPr>
          <p:nvPr/>
        </p:nvPicPr>
        <p:blipFill>
          <a:blip r:embed="rId10"/>
          <a:srcRect/>
          <a:stretch>
            <a:fillRect/>
          </a:stretch>
        </p:blipFill>
        <p:spPr bwMode="auto">
          <a:xfrm>
            <a:off x="4948015" y="4067799"/>
            <a:ext cx="706617" cy="398396"/>
          </a:xfrm>
          <a:prstGeom prst="rect">
            <a:avLst/>
          </a:prstGeom>
          <a:noFill/>
        </p:spPr>
      </p:pic>
      <p:pic>
        <p:nvPicPr>
          <p:cNvPr id="1033" name="Picture 9" descr="C:\Users\HP-RTS\Desktop\I Tank Symbol\venus.png"/>
          <p:cNvPicPr>
            <a:picLocks noChangeAspect="1" noChangeArrowheads="1"/>
          </p:cNvPicPr>
          <p:nvPr/>
        </p:nvPicPr>
        <p:blipFill>
          <a:blip r:embed="rId11"/>
          <a:srcRect/>
          <a:stretch>
            <a:fillRect/>
          </a:stretch>
        </p:blipFill>
        <p:spPr bwMode="auto">
          <a:xfrm>
            <a:off x="4982198" y="4557583"/>
            <a:ext cx="646121" cy="393358"/>
          </a:xfrm>
          <a:prstGeom prst="rect">
            <a:avLst/>
          </a:prstGeom>
          <a:noFill/>
        </p:spPr>
      </p:pic>
      <p:pic>
        <p:nvPicPr>
          <p:cNvPr id="1034" name="Picture 10" descr="C:\Users\HP-RTS\Desktop\I Tank Symbol\kaveryt.png"/>
          <p:cNvPicPr>
            <a:picLocks noChangeAspect="1" noChangeArrowheads="1"/>
          </p:cNvPicPr>
          <p:nvPr/>
        </p:nvPicPr>
        <p:blipFill>
          <a:blip r:embed="rId12"/>
          <a:srcRect t="7622" b="7814"/>
          <a:stretch>
            <a:fillRect/>
          </a:stretch>
        </p:blipFill>
        <p:spPr bwMode="auto">
          <a:xfrm>
            <a:off x="4990744" y="4998160"/>
            <a:ext cx="631188" cy="397623"/>
          </a:xfrm>
          <a:prstGeom prst="rect">
            <a:avLst/>
          </a:prstGeom>
          <a:noFill/>
        </p:spPr>
      </p:pic>
      <p:pic>
        <p:nvPicPr>
          <p:cNvPr id="1035" name="Picture 11" descr="C:\Users\HP-RTS\Desktop\I Tank Symbol\asian fabrics.png"/>
          <p:cNvPicPr>
            <a:picLocks noChangeAspect="1" noChangeArrowheads="1"/>
          </p:cNvPicPr>
          <p:nvPr/>
        </p:nvPicPr>
        <p:blipFill>
          <a:blip r:embed="rId13"/>
          <a:srcRect/>
          <a:stretch>
            <a:fillRect/>
          </a:stretch>
        </p:blipFill>
        <p:spPr bwMode="auto">
          <a:xfrm>
            <a:off x="4973652" y="5519352"/>
            <a:ext cx="684070" cy="360278"/>
          </a:xfrm>
          <a:prstGeom prst="rect">
            <a:avLst/>
          </a:prstGeom>
          <a:noFill/>
        </p:spPr>
      </p:pic>
      <p:pic>
        <p:nvPicPr>
          <p:cNvPr id="1036" name="Picture 12" descr="C:\Users\HP-RTS\Desktop\I Tank Symbol\kmch.png"/>
          <p:cNvPicPr>
            <a:picLocks noChangeAspect="1" noChangeArrowheads="1"/>
          </p:cNvPicPr>
          <p:nvPr/>
        </p:nvPicPr>
        <p:blipFill>
          <a:blip r:embed="rId14"/>
          <a:srcRect/>
          <a:stretch>
            <a:fillRect/>
          </a:stretch>
        </p:blipFill>
        <p:spPr bwMode="auto">
          <a:xfrm>
            <a:off x="4956561" y="5992844"/>
            <a:ext cx="681854" cy="479909"/>
          </a:xfrm>
          <a:prstGeom prst="rect">
            <a:avLst/>
          </a:prstGeom>
          <a:noFill/>
        </p:spPr>
      </p:pic>
      <p:pic>
        <p:nvPicPr>
          <p:cNvPr id="1037" name="Picture 13" descr="C:\Users\HP-RTS\Desktop\I Tank Symbol\apex.jpg"/>
          <p:cNvPicPr>
            <a:picLocks noChangeAspect="1" noChangeArrowheads="1"/>
          </p:cNvPicPr>
          <p:nvPr/>
        </p:nvPicPr>
        <p:blipFill>
          <a:blip r:embed="rId15"/>
          <a:srcRect/>
          <a:stretch>
            <a:fillRect/>
          </a:stretch>
        </p:blipFill>
        <p:spPr bwMode="auto">
          <a:xfrm>
            <a:off x="10827522" y="576648"/>
            <a:ext cx="924830" cy="373921"/>
          </a:xfrm>
          <a:prstGeom prst="rect">
            <a:avLst/>
          </a:prstGeom>
          <a:noFill/>
        </p:spPr>
      </p:pic>
      <p:pic>
        <p:nvPicPr>
          <p:cNvPr id="1038" name="Picture 14" descr="C:\Users\HP-RTS\Desktop\I Tank Symbol\devaraja agro.jpg"/>
          <p:cNvPicPr>
            <a:picLocks noChangeAspect="1" noChangeArrowheads="1"/>
          </p:cNvPicPr>
          <p:nvPr/>
        </p:nvPicPr>
        <p:blipFill>
          <a:blip r:embed="rId16"/>
          <a:srcRect/>
          <a:stretch>
            <a:fillRect/>
          </a:stretch>
        </p:blipFill>
        <p:spPr bwMode="auto">
          <a:xfrm>
            <a:off x="10810937" y="1029730"/>
            <a:ext cx="956374" cy="404298"/>
          </a:xfrm>
          <a:prstGeom prst="rect">
            <a:avLst/>
          </a:prstGeom>
          <a:noFill/>
        </p:spPr>
      </p:pic>
      <p:pic>
        <p:nvPicPr>
          <p:cNvPr id="39" name="Picture 12" descr="C:\Users\HP-RTS\Desktop\I TANK\Customer Lists\kongu mahal.jpg"/>
          <p:cNvPicPr>
            <a:picLocks noChangeAspect="1" noChangeArrowheads="1"/>
          </p:cNvPicPr>
          <p:nvPr/>
        </p:nvPicPr>
        <p:blipFill>
          <a:blip r:embed="rId17"/>
          <a:srcRect/>
          <a:stretch>
            <a:fillRect/>
          </a:stretch>
        </p:blipFill>
        <p:spPr bwMode="auto">
          <a:xfrm>
            <a:off x="10878795" y="3113901"/>
            <a:ext cx="870293" cy="401261"/>
          </a:xfrm>
          <a:prstGeom prst="rect">
            <a:avLst/>
          </a:prstGeom>
          <a:noFill/>
        </p:spPr>
      </p:pic>
      <p:pic>
        <p:nvPicPr>
          <p:cNvPr id="40" name="Picture 39" descr="download.jpg"/>
          <p:cNvPicPr>
            <a:picLocks noChangeAspect="1"/>
          </p:cNvPicPr>
          <p:nvPr/>
        </p:nvPicPr>
        <p:blipFill>
          <a:blip r:embed="rId18"/>
          <a:stretch>
            <a:fillRect/>
          </a:stretch>
        </p:blipFill>
        <p:spPr>
          <a:xfrm>
            <a:off x="10827522" y="1506510"/>
            <a:ext cx="899036" cy="461344"/>
          </a:xfrm>
          <a:prstGeom prst="rect">
            <a:avLst/>
          </a:prstGeom>
        </p:spPr>
      </p:pic>
      <p:pic>
        <p:nvPicPr>
          <p:cNvPr id="1040" name="Picture 16" descr="C:\Users\HP-RTS\Desktop\I Tank Symbol\jai ram college.png"/>
          <p:cNvPicPr>
            <a:picLocks noChangeAspect="1" noChangeArrowheads="1"/>
          </p:cNvPicPr>
          <p:nvPr/>
        </p:nvPicPr>
        <p:blipFill>
          <a:blip r:embed="rId19"/>
          <a:srcRect/>
          <a:stretch>
            <a:fillRect/>
          </a:stretch>
        </p:blipFill>
        <p:spPr bwMode="auto">
          <a:xfrm>
            <a:off x="10853159" y="2569895"/>
            <a:ext cx="897427" cy="420645"/>
          </a:xfrm>
          <a:prstGeom prst="rect">
            <a:avLst/>
          </a:prstGeom>
          <a:noFill/>
        </p:spPr>
      </p:pic>
      <p:pic>
        <p:nvPicPr>
          <p:cNvPr id="1041" name="Picture 17" descr="C:\Users\HP-RTS\Desktop\I Tank Symbol\leyercaud.jpg"/>
          <p:cNvPicPr>
            <a:picLocks noChangeAspect="1" noChangeArrowheads="1"/>
          </p:cNvPicPr>
          <p:nvPr/>
        </p:nvPicPr>
        <p:blipFill>
          <a:blip r:embed="rId20"/>
          <a:srcRect/>
          <a:stretch>
            <a:fillRect/>
          </a:stretch>
        </p:blipFill>
        <p:spPr bwMode="auto">
          <a:xfrm>
            <a:off x="10827521" y="4071440"/>
            <a:ext cx="931266" cy="430784"/>
          </a:xfrm>
          <a:prstGeom prst="rect">
            <a:avLst/>
          </a:prstGeom>
          <a:noFill/>
        </p:spPr>
      </p:pic>
      <p:pic>
        <p:nvPicPr>
          <p:cNvPr id="1042" name="Picture 18" descr="C:\Users\HP-RTS\Desktop\I Tank Symbol\vsr.png"/>
          <p:cNvPicPr>
            <a:picLocks noChangeAspect="1" noChangeArrowheads="1"/>
          </p:cNvPicPr>
          <p:nvPr/>
        </p:nvPicPr>
        <p:blipFill>
          <a:blip r:embed="rId21"/>
          <a:srcRect/>
          <a:stretch>
            <a:fillRect/>
          </a:stretch>
        </p:blipFill>
        <p:spPr bwMode="auto">
          <a:xfrm>
            <a:off x="10870250" y="4582297"/>
            <a:ext cx="877773" cy="359118"/>
          </a:xfrm>
          <a:prstGeom prst="rect">
            <a:avLst/>
          </a:prstGeom>
          <a:noFill/>
        </p:spPr>
      </p:pic>
      <p:pic>
        <p:nvPicPr>
          <p:cNvPr id="1043" name="Picture 19" descr="C:\Users\HP-RTS\Desktop\I Tank Symbol\vrl.png"/>
          <p:cNvPicPr>
            <a:picLocks noChangeAspect="1" noChangeArrowheads="1"/>
          </p:cNvPicPr>
          <p:nvPr/>
        </p:nvPicPr>
        <p:blipFill>
          <a:blip r:embed="rId22"/>
          <a:srcRect/>
          <a:stretch>
            <a:fillRect/>
          </a:stretch>
        </p:blipFill>
        <p:spPr bwMode="auto">
          <a:xfrm>
            <a:off x="10878796" y="5040631"/>
            <a:ext cx="871940" cy="360309"/>
          </a:xfrm>
          <a:prstGeom prst="rect">
            <a:avLst/>
          </a:prstGeom>
          <a:noFill/>
        </p:spPr>
      </p:pic>
      <p:pic>
        <p:nvPicPr>
          <p:cNvPr id="1044" name="Picture 20" descr="C:\Users\HP-RTS\Desktop\I Tank Symbol\swamy school.jpg"/>
          <p:cNvPicPr>
            <a:picLocks noChangeAspect="1" noChangeArrowheads="1"/>
          </p:cNvPicPr>
          <p:nvPr/>
        </p:nvPicPr>
        <p:blipFill>
          <a:blip r:embed="rId23"/>
          <a:srcRect/>
          <a:stretch>
            <a:fillRect/>
          </a:stretch>
        </p:blipFill>
        <p:spPr bwMode="auto">
          <a:xfrm>
            <a:off x="11198572" y="5461069"/>
            <a:ext cx="538974" cy="440209"/>
          </a:xfrm>
          <a:prstGeom prst="rect">
            <a:avLst/>
          </a:prstGeom>
          <a:noFill/>
        </p:spPr>
      </p:pic>
      <p:sp>
        <p:nvSpPr>
          <p:cNvPr id="46" name="Title 1">
            <a:extLst>
              <a:ext uri="{FF2B5EF4-FFF2-40B4-BE49-F238E27FC236}">
                <a16:creationId xmlns:a16="http://schemas.microsoft.com/office/drawing/2014/main" id="{3E59A521-324B-43FE-BCFD-E12526C8A28A}"/>
              </a:ext>
            </a:extLst>
          </p:cNvPr>
          <p:cNvSpPr txBox="1">
            <a:spLocks/>
          </p:cNvSpPr>
          <p:nvPr/>
        </p:nvSpPr>
        <p:spPr>
          <a:xfrm>
            <a:off x="2201354" y="-39447"/>
            <a:ext cx="77216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7" name="Picture 15" descr="C:\Users\HP-RTS\Desktop\I Tank Symbol\royal care.jpg"/>
          <p:cNvPicPr>
            <a:picLocks noChangeAspect="1" noChangeArrowheads="1"/>
          </p:cNvPicPr>
          <p:nvPr/>
        </p:nvPicPr>
        <p:blipFill>
          <a:blip r:embed="rId24"/>
          <a:srcRect/>
          <a:stretch>
            <a:fillRect/>
          </a:stretch>
        </p:blipFill>
        <p:spPr bwMode="auto">
          <a:xfrm>
            <a:off x="10861705" y="5998846"/>
            <a:ext cx="894896" cy="461774"/>
          </a:xfrm>
          <a:prstGeom prst="rect">
            <a:avLst/>
          </a:prstGeom>
          <a:noFill/>
        </p:spPr>
      </p:pic>
      <p:pic>
        <p:nvPicPr>
          <p:cNvPr id="1026" name="Picture 2"/>
          <p:cNvPicPr>
            <a:picLocks noChangeAspect="1" noChangeArrowheads="1"/>
          </p:cNvPicPr>
          <p:nvPr/>
        </p:nvPicPr>
        <p:blipFill rotWithShape="1">
          <a:blip r:embed="rId25">
            <a:extLst>
              <a:ext uri="{28A0092B-C50C-407E-A947-70E740481C1C}">
                <a14:useLocalDpi xmlns:a14="http://schemas.microsoft.com/office/drawing/2010/main" val="0"/>
              </a:ext>
            </a:extLst>
          </a:blip>
          <a:srcRect l="18371" t="12000" r="17908" b="9500"/>
          <a:stretch/>
        </p:blipFill>
        <p:spPr bwMode="auto">
          <a:xfrm>
            <a:off x="11137211" y="1994491"/>
            <a:ext cx="601167" cy="48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descr="C:\Users\HP-RTS\Downloads\WhatsApp Image 2023-08-11 at 1.36.26 PM.png"/>
          <p:cNvPicPr>
            <a:picLocks noChangeAspect="1" noChangeArrowheads="1"/>
          </p:cNvPicPr>
          <p:nvPr/>
        </p:nvPicPr>
        <p:blipFill>
          <a:blip r:embed="rId26"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330414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4189024983"/>
              </p:ext>
            </p:extLst>
          </p:nvPr>
        </p:nvGraphicFramePr>
        <p:xfrm>
          <a:off x="209359" y="588285"/>
          <a:ext cx="11784933" cy="5930311"/>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latin typeface="Times New Roman" pitchFamily="18" charset="0"/>
                          <a:cs typeface="Times New Roman" pitchFamily="18" charset="0"/>
                        </a:rPr>
                        <a:t>Mettupalayam</a:t>
                      </a:r>
                      <a:r>
                        <a:rPr lang="en-US" sz="2200" baseline="0" dirty="0">
                          <a:latin typeface="Times New Roman" pitchFamily="18" charset="0"/>
                          <a:cs typeface="Times New Roman" pitchFamily="18" charset="0"/>
                        </a:rPr>
                        <a:t> Municipality - Coimbatore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Sathyamangalam</a:t>
                      </a:r>
                      <a:r>
                        <a:rPr lang="en-IN" sz="2200" dirty="0">
                          <a:latin typeface="Times New Roman" pitchFamily="18" charset="0"/>
                          <a:cs typeface="Times New Roman" pitchFamily="18" charset="0"/>
                        </a:rPr>
                        <a:t> Municipality – Erode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Erode Corporation - Erode </a:t>
                      </a: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Bhavani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Municicpality</a:t>
                      </a:r>
                      <a:r>
                        <a:rPr lang="en-IN" sz="2200" dirty="0">
                          <a:latin typeface="Times New Roman" pitchFamily="18" charset="0"/>
                          <a:cs typeface="Times New Roman" pitchFamily="18" charset="0"/>
                        </a:rPr>
                        <a:t>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Tirupur</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Gobichettipalayam</a:t>
                      </a:r>
                      <a:r>
                        <a:rPr lang="en-IN" sz="2200" dirty="0">
                          <a:latin typeface="Times New Roman" pitchFamily="18" charset="0"/>
                          <a:cs typeface="Times New Roman" pitchFamily="18" charset="0"/>
                        </a:rPr>
                        <a:t> Municipality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Kumaravalasu</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Panchayat-Chennimalai</a:t>
                      </a:r>
                      <a:r>
                        <a:rPr lang="en-IN" sz="2200" baseline="0" dirty="0">
                          <a:latin typeface="Times New Roman" pitchFamily="18" charset="0"/>
                          <a:cs typeface="Times New Roman" pitchFamily="18" charset="0"/>
                        </a:rPr>
                        <a:t> Union, </a:t>
                      </a:r>
                      <a:r>
                        <a:rPr lang="en-IN" sz="2200" baseline="0" dirty="0" err="1">
                          <a:latin typeface="Times New Roman" pitchFamily="18" charset="0"/>
                          <a:cs typeface="Times New Roman" pitchFamily="18" charset="0"/>
                        </a:rPr>
                        <a:t>Erd</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err="1">
                          <a:latin typeface="Times New Roman" pitchFamily="18" charset="0"/>
                          <a:cs typeface="Times New Roman" pitchFamily="18" charset="0"/>
                        </a:rPr>
                        <a:t>Arcot</a:t>
                      </a:r>
                      <a:r>
                        <a:rPr lang="en-IN" sz="2200" dirty="0">
                          <a:latin typeface="Times New Roman" pitchFamily="18" charset="0"/>
                          <a:cs typeface="Times New Roman" pitchFamily="18" charset="0"/>
                        </a:rPr>
                        <a:t> Municipality</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Ranipet</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Thirumalaigiri</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Salem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err="1">
                          <a:latin typeface="Times New Roman" pitchFamily="18" charset="0"/>
                          <a:cs typeface="Times New Roman" pitchFamily="18" charset="0"/>
                        </a:rPr>
                        <a:t>Kodaikanal</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Dindugal</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Vadakuthu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Cuddalore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err="1">
                          <a:latin typeface="Times New Roman" pitchFamily="18" charset="0"/>
                          <a:cs typeface="Times New Roman" pitchFamily="18" charset="0"/>
                        </a:rPr>
                        <a:t>Narasingapuram</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Salem</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Mangal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Thiruvanamalai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err="1">
                          <a:latin typeface="Times New Roman" pitchFamily="18" charset="0"/>
                          <a:cs typeface="Times New Roman" pitchFamily="18" charset="0"/>
                        </a:rPr>
                        <a:t>Musiri</a:t>
                      </a:r>
                      <a:r>
                        <a:rPr lang="en-IN" sz="2200" b="0" baseline="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Trichy</a:t>
                      </a:r>
                      <a:endParaRPr lang="en-IN" sz="22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Ponmudi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err="1">
                          <a:latin typeface="Times New Roman" pitchFamily="18" charset="0"/>
                          <a:cs typeface="Times New Roman" pitchFamily="18" charset="0"/>
                        </a:rPr>
                        <a:t>Udamalapet</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Thiruvachi</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Puliyampatti</a:t>
                      </a:r>
                      <a:r>
                        <a:rPr lang="en-IN" sz="2200" baseline="0" dirty="0">
                          <a:latin typeface="Times New Roman" pitchFamily="18" charset="0"/>
                          <a:cs typeface="Times New Roman" pitchFamily="18" charset="0"/>
                        </a:rPr>
                        <a:t> Municipality - Erode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Mullampatti</a:t>
                      </a:r>
                      <a:r>
                        <a:rPr lang="en-IN" sz="2200" baseline="0" dirty="0">
                          <a:latin typeface="Times New Roman" pitchFamily="18" charset="0"/>
                          <a:cs typeface="Times New Roman" pitchFamily="18" charset="0"/>
                        </a:rPr>
                        <a:t> </a:t>
                      </a:r>
                      <a:r>
                        <a:rPr lang="en-IN" sz="2200" dirty="0">
                          <a:latin typeface="Times New Roman" pitchFamily="18" charset="0"/>
                          <a:cs typeface="Times New Roman" pitchFamily="18" charset="0"/>
                        </a:rPr>
                        <a:t>Panchayat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752618" y="19822"/>
            <a:ext cx="86614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  </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1643" y="1301406"/>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57521" y="1944129"/>
            <a:ext cx="477888" cy="494292"/>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512386"/>
            <a:ext cx="477888" cy="523287"/>
          </a:xfrm>
          <a:prstGeom prst="rect">
            <a:avLst/>
          </a:prstGeom>
          <a:noFill/>
        </p:spPr>
      </p:pic>
      <p:pic>
        <p:nvPicPr>
          <p:cNvPr id="3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3991" y="3126114"/>
            <a:ext cx="477888" cy="523287"/>
          </a:xfrm>
          <a:prstGeom prst="rect">
            <a:avLst/>
          </a:prstGeom>
          <a:noFill/>
        </p:spPr>
      </p:pic>
      <p:pic>
        <p:nvPicPr>
          <p:cNvPr id="34"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8107" y="3731740"/>
            <a:ext cx="477888" cy="465485"/>
          </a:xfrm>
          <a:prstGeom prst="rect">
            <a:avLst/>
          </a:prstGeom>
          <a:noFill/>
        </p:spPr>
      </p:pic>
      <p:pic>
        <p:nvPicPr>
          <p:cNvPr id="3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2223" y="4287666"/>
            <a:ext cx="477888" cy="523287"/>
          </a:xfrm>
          <a:prstGeom prst="rect">
            <a:avLst/>
          </a:prstGeom>
          <a:noFill/>
        </p:spPr>
      </p:pic>
      <p:pic>
        <p:nvPicPr>
          <p:cNvPr id="36"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5086339" y="4868561"/>
            <a:ext cx="477888" cy="440787"/>
          </a:xfrm>
          <a:prstGeom prst="rect">
            <a:avLst/>
          </a:prstGeom>
          <a:noFill/>
        </p:spPr>
      </p:pic>
      <p:pic>
        <p:nvPicPr>
          <p:cNvPr id="37"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5111053" y="5354593"/>
            <a:ext cx="433012" cy="449035"/>
          </a:xfrm>
          <a:prstGeom prst="rect">
            <a:avLst/>
          </a:prstGeom>
          <a:noFill/>
        </p:spPr>
      </p:pic>
      <p:pic>
        <p:nvPicPr>
          <p:cNvPr id="3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102815" y="5898192"/>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3727" y="63825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7843" y="1301406"/>
            <a:ext cx="477888" cy="523287"/>
          </a:xfrm>
          <a:prstGeom prst="rect">
            <a:avLst/>
          </a:prstGeom>
          <a:noFill/>
        </p:spPr>
      </p:pic>
      <p:pic>
        <p:nvPicPr>
          <p:cNvPr id="28"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11483721" y="1944129"/>
            <a:ext cx="477888" cy="494292"/>
          </a:xfrm>
          <a:prstGeom prst="rect">
            <a:avLst/>
          </a:prstGeom>
          <a:noFill/>
        </p:spPr>
      </p:pic>
      <p:pic>
        <p:nvPicPr>
          <p:cNvPr id="2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96075" y="2512386"/>
            <a:ext cx="477888" cy="523287"/>
          </a:xfrm>
          <a:prstGeom prst="rect">
            <a:avLst/>
          </a:prstGeom>
          <a:noFill/>
        </p:spPr>
      </p:pic>
      <p:pic>
        <p:nvPicPr>
          <p:cNvPr id="3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0191" y="3126114"/>
            <a:ext cx="477888" cy="523287"/>
          </a:xfrm>
          <a:prstGeom prst="rect">
            <a:avLst/>
          </a:prstGeom>
          <a:noFill/>
        </p:spPr>
      </p:pic>
      <p:pic>
        <p:nvPicPr>
          <p:cNvPr id="49"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504307" y="3731740"/>
            <a:ext cx="477888" cy="465485"/>
          </a:xfrm>
          <a:prstGeom prst="rect">
            <a:avLst/>
          </a:prstGeom>
          <a:noFill/>
        </p:spPr>
      </p:pic>
      <p:pic>
        <p:nvPicPr>
          <p:cNvPr id="5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8423" y="4287666"/>
            <a:ext cx="477888" cy="523287"/>
          </a:xfrm>
          <a:prstGeom prst="rect">
            <a:avLst/>
          </a:prstGeom>
          <a:noFill/>
        </p:spPr>
      </p:pic>
      <p:pic>
        <p:nvPicPr>
          <p:cNvPr id="52"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11512539" y="4868561"/>
            <a:ext cx="477888" cy="440787"/>
          </a:xfrm>
          <a:prstGeom prst="rect">
            <a:avLst/>
          </a:prstGeom>
          <a:noFill/>
        </p:spPr>
      </p:pic>
      <p:pic>
        <p:nvPicPr>
          <p:cNvPr id="53"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11537253" y="5354593"/>
            <a:ext cx="433012" cy="449035"/>
          </a:xfrm>
          <a:prstGeom prst="rect">
            <a:avLst/>
          </a:prstGeom>
          <a:noFill/>
        </p:spPr>
      </p:pic>
      <p:pic>
        <p:nvPicPr>
          <p:cNvPr id="5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29015" y="5898192"/>
            <a:ext cx="477888" cy="523287"/>
          </a:xfrm>
          <a:prstGeom prst="rect">
            <a:avLst/>
          </a:prstGeom>
          <a:noFill/>
        </p:spPr>
      </p:pic>
    </p:spTree>
    <p:extLst>
      <p:ext uri="{BB962C8B-B14F-4D97-AF65-F5344CB8AC3E}">
        <p14:creationId xmlns:p14="http://schemas.microsoft.com/office/powerpoint/2010/main" val="3478499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821272616"/>
              </p:ext>
            </p:extLst>
          </p:nvPr>
        </p:nvGraphicFramePr>
        <p:xfrm>
          <a:off x="237934" y="523516"/>
          <a:ext cx="11784933" cy="5980154"/>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592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aseline="0" dirty="0" err="1">
                          <a:latin typeface="Times New Roman" pitchFamily="18" charset="0"/>
                          <a:cs typeface="Times New Roman" pitchFamily="18" charset="0"/>
                        </a:rPr>
                        <a:t>Devakottai</a:t>
                      </a:r>
                      <a:r>
                        <a:rPr lang="en-US" sz="2200" baseline="0" dirty="0">
                          <a:latin typeface="Times New Roman" pitchFamily="18" charset="0"/>
                          <a:cs typeface="Times New Roman" pitchFamily="18" charset="0"/>
                        </a:rPr>
                        <a:t> Municipality - </a:t>
                      </a:r>
                      <a:r>
                        <a:rPr kumimoji="0" lang="en-IN" sz="2400" b="0" i="0" kern="1200" dirty="0" err="1">
                          <a:solidFill>
                            <a:schemeClr val="dk1"/>
                          </a:solidFill>
                          <a:effectLst/>
                          <a:latin typeface="Times New Roman" pitchFamily="18" charset="0"/>
                          <a:ea typeface="+mn-ea"/>
                          <a:cs typeface="Times New Roman" pitchFamily="18" charset="0"/>
                        </a:rPr>
                        <a:t>Sivaganga</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a:latin typeface="Times New Roman" pitchFamily="18" charset="0"/>
                          <a:cs typeface="Times New Roman" pitchFamily="18" charset="0"/>
                        </a:rPr>
                        <a:t>Madurai Corporation - Madurai</a:t>
                      </a:r>
                    </a:p>
                  </a:txBody>
                  <a:tcPr marL="74295" marR="74295" anchor="ctr"/>
                </a:tc>
                <a:extLst>
                  <a:ext uri="{0D108BD9-81ED-4DB2-BD59-A6C34878D82A}">
                    <a16:rowId xmlns:a16="http://schemas.microsoft.com/office/drawing/2014/main" val="4208521853"/>
                  </a:ext>
                </a:extLst>
              </a:tr>
              <a:tr h="7544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Kuttapalayam</a:t>
                      </a:r>
                      <a:r>
                        <a:rPr lang="en-IN" sz="2200" baseline="0" dirty="0">
                          <a:latin typeface="Times New Roman" pitchFamily="18" charset="0"/>
                          <a:cs typeface="Times New Roman" pitchFamily="18" charset="0"/>
                        </a:rPr>
                        <a:t> Panchayat-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200" baseline="0" dirty="0" err="1">
                          <a:latin typeface="Times New Roman" pitchFamily="18" charset="0"/>
                          <a:cs typeface="Times New Roman" pitchFamily="18" charset="0"/>
                        </a:rPr>
                        <a:t>Chennimalai</a:t>
                      </a:r>
                      <a:r>
                        <a:rPr lang="en-IN" sz="2200" baseline="0" dirty="0">
                          <a:latin typeface="Times New Roman" pitchFamily="18" charset="0"/>
                          <a:cs typeface="Times New Roman" pitchFamily="18" charset="0"/>
                        </a:rPr>
                        <a:t> Union, Erode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Devanakuruchi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7544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Mooperi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Palayam</a:t>
                      </a:r>
                      <a:r>
                        <a:rPr lang="en-IN" sz="2200" dirty="0">
                          <a:latin typeface="Times New Roman" pitchFamily="18" charset="0"/>
                          <a:cs typeface="Times New Roman" pitchFamily="18" charset="0"/>
                        </a:rPr>
                        <a:t> Town Panchayat-</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Gajjal</a:t>
                      </a:r>
                      <a:r>
                        <a:rPr lang="en-US" sz="2200" baseline="0" dirty="0" err="1">
                          <a:latin typeface="Times New Roman" pitchFamily="18" charset="0"/>
                          <a:cs typeface="Times New Roman" pitchFamily="18" charset="0"/>
                        </a:rPr>
                        <a:t>nayakkanpatti</a:t>
                      </a:r>
                      <a:r>
                        <a:rPr lang="en-US" sz="2200" baseline="0" dirty="0">
                          <a:latin typeface="Times New Roman" pitchFamily="18" charset="0"/>
                          <a:cs typeface="Times New Roman" pitchFamily="18" charset="0"/>
                        </a:rPr>
                        <a:t> </a:t>
                      </a:r>
                      <a:r>
                        <a:rPr lang="en-US" sz="2200" baseline="0" dirty="0" err="1">
                          <a:latin typeface="Times New Roman" pitchFamily="18" charset="0"/>
                          <a:cs typeface="Times New Roman" pitchFamily="18" charset="0"/>
                        </a:rPr>
                        <a:t>Panchayat</a:t>
                      </a:r>
                      <a:r>
                        <a:rPr lang="en-US" sz="2200" baseline="0" dirty="0">
                          <a:latin typeface="Times New Roman" pitchFamily="18" charset="0"/>
                          <a:cs typeface="Times New Roman" pitchFamily="18" charset="0"/>
                        </a:rPr>
                        <a:t> - </a:t>
                      </a:r>
                      <a:r>
                        <a:rPr lang="en-US" sz="2200" baseline="0" dirty="0" err="1">
                          <a:latin typeface="Times New Roman" pitchFamily="18" charset="0"/>
                          <a:cs typeface="Times New Roman" pitchFamily="18" charset="0"/>
                        </a:rPr>
                        <a:t>Kallakuruchi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33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Pugalur</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Municipality-</a:t>
                      </a: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Karur</a:t>
                      </a: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Lakkampatti</a:t>
                      </a:r>
                      <a:r>
                        <a:rPr lang="en-IN" sz="2200" dirty="0">
                          <a:latin typeface="Times New Roman" pitchFamily="18" charset="0"/>
                          <a:cs typeface="Times New Roman" pitchFamily="18" charset="0"/>
                        </a:rPr>
                        <a:t> Town</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Gobi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90924">
                <a:tc>
                  <a:txBody>
                    <a:bodyPr/>
                    <a:lstStyle/>
                    <a:p>
                      <a:pPr algn="l"/>
                      <a:r>
                        <a:rPr lang="en-US" sz="2200" dirty="0" err="1">
                          <a:latin typeface="Times New Roman" pitchFamily="18" charset="0"/>
                          <a:cs typeface="Times New Roman" pitchFamily="18" charset="0"/>
                        </a:rPr>
                        <a:t>Pattukottai</a:t>
                      </a:r>
                      <a:r>
                        <a:rPr lang="en-US" sz="2200" baseline="0" dirty="0">
                          <a:latin typeface="Times New Roman" pitchFamily="18" charset="0"/>
                          <a:cs typeface="Times New Roman" pitchFamily="18" charset="0"/>
                        </a:rPr>
                        <a:t> Municipality-</a:t>
                      </a:r>
                      <a:r>
                        <a:rPr lang="en-US" sz="2200" baseline="0" dirty="0" err="1">
                          <a:latin typeface="Times New Roman" pitchFamily="18" charset="0"/>
                          <a:cs typeface="Times New Roman" pitchFamily="18" charset="0"/>
                        </a:rPr>
                        <a:t>Thanjavur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Kunnavakkam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08319">
                <a:tc>
                  <a:txBody>
                    <a:bodyPr/>
                    <a:lstStyle/>
                    <a:p>
                      <a:pPr algn="l"/>
                      <a:r>
                        <a:rPr lang="en-US" sz="2200" dirty="0" err="1">
                          <a:latin typeface="Times New Roman" pitchFamily="18" charset="0"/>
                          <a:cs typeface="Times New Roman" pitchFamily="18" charset="0"/>
                        </a:rPr>
                        <a:t>Srivilliputhur</a:t>
                      </a:r>
                      <a:r>
                        <a:rPr lang="en-US" sz="2200" dirty="0">
                          <a:latin typeface="Times New Roman" pitchFamily="18" charset="0"/>
                          <a:cs typeface="Times New Roman" pitchFamily="18" charset="0"/>
                        </a:rPr>
                        <a:t> Municipality-</a:t>
                      </a:r>
                      <a:r>
                        <a:rPr lang="en-US" sz="2200" dirty="0" err="1">
                          <a:latin typeface="Times New Roman" pitchFamily="18" charset="0"/>
                          <a:cs typeface="Times New Roman" pitchFamily="18" charset="0"/>
                        </a:rPr>
                        <a:t>Viruthunagar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Veerapuram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90924">
                <a:tc>
                  <a:txBody>
                    <a:bodyPr/>
                    <a:lstStyle/>
                    <a:p>
                      <a:pPr algn="l"/>
                      <a:r>
                        <a:rPr lang="en-US" sz="2200" b="0" dirty="0" err="1">
                          <a:solidFill>
                            <a:schemeClr val="tx1"/>
                          </a:solidFill>
                          <a:latin typeface="Times New Roman" pitchFamily="18" charset="0"/>
                          <a:cs typeface="Times New Roman" pitchFamily="18" charset="0"/>
                        </a:rPr>
                        <a:t>Pallapatti</a:t>
                      </a:r>
                      <a:r>
                        <a:rPr lang="en-US" sz="2200" b="0" baseline="0" dirty="0">
                          <a:solidFill>
                            <a:schemeClr val="tx1"/>
                          </a:solidFill>
                          <a:latin typeface="Times New Roman" pitchFamily="18" charset="0"/>
                          <a:cs typeface="Times New Roman" pitchFamily="18" charset="0"/>
                        </a:rPr>
                        <a:t> Municipality - </a:t>
                      </a:r>
                      <a:r>
                        <a:rPr lang="en-US" sz="2200" b="0" baseline="0" dirty="0" err="1">
                          <a:solidFill>
                            <a:schemeClr val="tx1"/>
                          </a:solidFill>
                          <a:latin typeface="Times New Roman" pitchFamily="18" charset="0"/>
                          <a:cs typeface="Times New Roman" pitchFamily="18" charset="0"/>
                        </a:rPr>
                        <a:t>Karur</a:t>
                      </a:r>
                      <a:endParaRPr lang="en-IN" sz="2200" b="0" dirty="0">
                        <a:solidFill>
                          <a:schemeClr val="tx1"/>
                        </a:solidFill>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Tambaram</a:t>
                      </a:r>
                      <a:r>
                        <a:rPr lang="en-IN" sz="2200" baseline="0" dirty="0">
                          <a:latin typeface="Times New Roman" pitchFamily="18" charset="0"/>
                          <a:cs typeface="Times New Roman" pitchFamily="18" charset="0"/>
                        </a:rPr>
                        <a:t> Corporation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56773">
                <a:tc>
                  <a:txBody>
                    <a:bodyPr/>
                    <a:lstStyle/>
                    <a:p>
                      <a:pPr algn="l"/>
                      <a:r>
                        <a:rPr lang="en-US" sz="2000" b="0" dirty="0" err="1">
                          <a:latin typeface="Times New Roman" pitchFamily="18" charset="0"/>
                          <a:cs typeface="Times New Roman" pitchFamily="18" charset="0"/>
                        </a:rPr>
                        <a:t>Perambalur</a:t>
                      </a:r>
                      <a:r>
                        <a:rPr lang="en-US" sz="2000" b="0" baseline="0" dirty="0">
                          <a:latin typeface="Times New Roman" pitchFamily="18" charset="0"/>
                          <a:cs typeface="Times New Roman" pitchFamily="18" charset="0"/>
                        </a:rPr>
                        <a:t> Municipality - </a:t>
                      </a:r>
                      <a:r>
                        <a:rPr lang="en-US" sz="2000" b="0" baseline="0" dirty="0" err="1">
                          <a:latin typeface="Times New Roman" pitchFamily="18" charset="0"/>
                          <a:cs typeface="Times New Roman" pitchFamily="18" charset="0"/>
                        </a:rPr>
                        <a:t>Perambalur</a:t>
                      </a:r>
                      <a:endParaRPr lang="en-IN" sz="20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Muthalipalayam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Coimbatore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65648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Coimbatore</a:t>
                      </a:r>
                      <a:r>
                        <a:rPr lang="en-IN" sz="2000" baseline="0" dirty="0">
                          <a:latin typeface="Times New Roman" pitchFamily="18" charset="0"/>
                          <a:cs typeface="Times New Roman" pitchFamily="18" charset="0"/>
                        </a:rPr>
                        <a:t> Corporation - Coimbatore</a:t>
                      </a:r>
                      <a:endParaRPr lang="en-IN" sz="20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Gudalur</a:t>
                      </a:r>
                      <a:r>
                        <a:rPr lang="en-IN" sz="2200" dirty="0">
                          <a:latin typeface="Times New Roman" pitchFamily="18" charset="0"/>
                          <a:cs typeface="Times New Roman" pitchFamily="18" charset="0"/>
                        </a:rPr>
                        <a:t> Municipality - Coimbatore</a:t>
                      </a:r>
                    </a:p>
                  </a:txBody>
                  <a:tcPr marL="74295" marR="74295" anchor="ctr"/>
                </a:tc>
                <a:extLst>
                  <a:ext uri="{0D108BD9-81ED-4DB2-BD59-A6C34878D82A}">
                    <a16:rowId xmlns:a16="http://schemas.microsoft.com/office/drawing/2014/main" val="2433702436"/>
                  </a:ext>
                </a:extLst>
              </a:tr>
              <a:tr h="361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667927" y="-22513"/>
            <a:ext cx="8805334"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29202" y="2040390"/>
            <a:ext cx="548542" cy="567371"/>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761106"/>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65982" y="1351433"/>
            <a:ext cx="477888" cy="494292"/>
          </a:xfrm>
          <a:prstGeom prst="rect">
            <a:avLst/>
          </a:prstGeom>
          <a:noFill/>
        </p:spPr>
      </p:pic>
      <p:pic>
        <p:nvPicPr>
          <p:cNvPr id="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3368386"/>
            <a:ext cx="477888" cy="523287"/>
          </a:xfrm>
          <a:prstGeom prst="rect">
            <a:avLst/>
          </a:prstGeom>
          <a:noFill/>
        </p:spPr>
      </p:pic>
      <p:pic>
        <p:nvPicPr>
          <p:cNvPr id="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9400" y="3908018"/>
            <a:ext cx="477888" cy="523287"/>
          </a:xfrm>
          <a:prstGeom prst="rect">
            <a:avLst/>
          </a:prstGeom>
          <a:noFill/>
        </p:spPr>
      </p:pic>
      <p:pic>
        <p:nvPicPr>
          <p:cNvPr id="1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4200" y="4466081"/>
            <a:ext cx="477888" cy="523287"/>
          </a:xfrm>
          <a:prstGeom prst="rect">
            <a:avLst/>
          </a:prstGeom>
          <a:noFill/>
        </p:spPr>
      </p:pic>
      <p:pic>
        <p:nvPicPr>
          <p:cNvPr id="1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4675" y="4989957"/>
            <a:ext cx="477888" cy="439294"/>
          </a:xfrm>
          <a:prstGeom prst="rect">
            <a:avLst/>
          </a:prstGeom>
          <a:noFill/>
        </p:spPr>
      </p:pic>
      <p:pic>
        <p:nvPicPr>
          <p:cNvPr id="13"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103821" y="5523930"/>
            <a:ext cx="477888" cy="439294"/>
          </a:xfrm>
          <a:prstGeom prst="rect">
            <a:avLst/>
          </a:prstGeom>
          <a:noFill/>
        </p:spPr>
      </p:pic>
      <p:pic>
        <p:nvPicPr>
          <p:cNvPr id="1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975414"/>
            <a:ext cx="477888" cy="523287"/>
          </a:xfrm>
          <a:prstGeom prst="rect">
            <a:avLst/>
          </a:prstGeom>
          <a:noFill/>
        </p:spPr>
      </p:pic>
      <p:pic>
        <p:nvPicPr>
          <p:cNvPr id="1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2668419"/>
            <a:ext cx="477888" cy="523287"/>
          </a:xfrm>
          <a:prstGeom prst="rect">
            <a:avLst/>
          </a:prstGeom>
          <a:noFill/>
        </p:spPr>
      </p:pic>
      <p:pic>
        <p:nvPicPr>
          <p:cNvPr id="1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23125" y="3306037"/>
            <a:ext cx="477888" cy="523287"/>
          </a:xfrm>
          <a:prstGeom prst="rect">
            <a:avLst/>
          </a:prstGeom>
          <a:noFill/>
        </p:spPr>
      </p:pic>
      <p:pic>
        <p:nvPicPr>
          <p:cNvPr id="2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44188" y="3874230"/>
            <a:ext cx="477888" cy="523287"/>
          </a:xfrm>
          <a:prstGeom prst="rect">
            <a:avLst/>
          </a:prstGeom>
          <a:noFill/>
        </p:spPr>
      </p:pic>
      <p:pic>
        <p:nvPicPr>
          <p:cNvPr id="2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426092"/>
            <a:ext cx="477888" cy="439294"/>
          </a:xfrm>
          <a:prstGeom prst="rect">
            <a:avLst/>
          </a:prstGeom>
          <a:noFill/>
        </p:spPr>
      </p:pic>
      <p:pic>
        <p:nvPicPr>
          <p:cNvPr id="22"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989368"/>
            <a:ext cx="477888" cy="439294"/>
          </a:xfrm>
          <a:prstGeom prst="rect">
            <a:avLst/>
          </a:prstGeom>
          <a:noFill/>
        </p:spPr>
      </p:pic>
      <p:pic>
        <p:nvPicPr>
          <p:cNvPr id="2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28302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2325" y="544538"/>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5523930"/>
            <a:ext cx="477888" cy="439294"/>
          </a:xfrm>
          <a:prstGeom prst="rect">
            <a:avLst/>
          </a:prstGeom>
          <a:noFill/>
        </p:spPr>
      </p:pic>
    </p:spTree>
    <p:extLst>
      <p:ext uri="{BB962C8B-B14F-4D97-AF65-F5344CB8AC3E}">
        <p14:creationId xmlns:p14="http://schemas.microsoft.com/office/powerpoint/2010/main" val="109847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5567" y="-40292"/>
            <a:ext cx="10363200" cy="759798"/>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5509200"/>
          </a:xfrm>
          <a:prstGeom prst="rect">
            <a:avLst/>
          </a:prstGeom>
        </p:spPr>
        <p:txBody>
          <a:bodyPr wrap="square">
            <a:spAutoFit/>
          </a:bodyPr>
          <a:lstStyle/>
          <a:p>
            <a:pPr algn="just"/>
            <a:r>
              <a:rPr lang="en-US" sz="2200" dirty="0">
                <a:latin typeface="Times New Roman" pitchFamily="18" charset="0"/>
                <a:cs typeface="Times New Roman" pitchFamily="18" charset="0"/>
              </a:rPr>
              <a:t>	  We are feeling very comfortable on managing water in tank by online monitoring, Advance 	knowledge on water level makes it further more efficient in handling and looking for an 	another installation at a new site.				</a:t>
            </a:r>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Palani</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Murugan</a:t>
            </a:r>
            <a:r>
              <a:rPr lang="en-US" sz="2200" b="1" dirty="0">
                <a:latin typeface="Times New Roman" pitchFamily="18" charset="0"/>
                <a:cs typeface="Times New Roman" pitchFamily="18" charset="0"/>
              </a:rPr>
              <a:t> Temple</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purpose for which we installed is accomplished by the </a:t>
            </a:r>
            <a:r>
              <a:rPr lang="en-US" sz="2200" dirty="0" err="1">
                <a:latin typeface="Times New Roman" pitchFamily="18" charset="0"/>
                <a:cs typeface="Times New Roman" pitchFamily="18" charset="0"/>
              </a:rPr>
              <a:t>iTank</a:t>
            </a:r>
            <a:r>
              <a:rPr lang="en-US" sz="2200" dirty="0">
                <a:latin typeface="Times New Roman" pitchFamily="18" charset="0"/>
                <a:cs typeface="Times New Roman" pitchFamily="18" charset="0"/>
              </a:rPr>
              <a:t>. The over flow</a:t>
            </a:r>
          </a:p>
          <a:p>
            <a:pPr algn="just"/>
            <a:r>
              <a:rPr lang="en-US" sz="2200" dirty="0">
                <a:latin typeface="Times New Roman" pitchFamily="18" charset="0"/>
                <a:cs typeface="Times New Roman" pitchFamily="18" charset="0"/>
              </a:rPr>
              <a:t> prevention, Prevention of unnecessary operation increases energy saving and reduces </a:t>
            </a:r>
          </a:p>
          <a:p>
            <a:pPr algn="just"/>
            <a:r>
              <a:rPr lang="en-US" sz="2200" dirty="0">
                <a:latin typeface="Times New Roman" pitchFamily="18" charset="0"/>
                <a:cs typeface="Times New Roman" pitchFamily="18" charset="0"/>
              </a:rPr>
              <a:t>water sourcing. Simple, User Friendly, Managing all the 54 tanks in a single web page </a:t>
            </a:r>
          </a:p>
          <a:p>
            <a:pPr algn="just"/>
            <a:r>
              <a:rPr lang="en-US" sz="2200" dirty="0">
                <a:latin typeface="Times New Roman" pitchFamily="18" charset="0"/>
                <a:cs typeface="Times New Roman" pitchFamily="18" charset="0"/>
              </a:rPr>
              <a:t>gives over all visibility instantly. We are having plans to extent the system for our host institutions.				 				            </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Kongu</a:t>
            </a:r>
            <a:r>
              <a:rPr lang="en-US" sz="2200" b="1" dirty="0">
                <a:latin typeface="Times New Roman" pitchFamily="18" charset="0"/>
                <a:cs typeface="Times New Roman" pitchFamily="18" charset="0"/>
              </a:rPr>
              <a:t> Engineering College</a:t>
            </a: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Better at conservation of water and energy by reducing overflow from tanks. A good solution 	to prevent rupturing of pipelines due to shut off valves and inadvertent staring of motor. 	Electrical team is totally relaxed of water management at running room.</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Erode Railway Junction</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216693" y="1103070"/>
            <a:ext cx="980286" cy="929141"/>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a:srcRect/>
          <a:stretch>
            <a:fillRect/>
          </a:stretch>
        </p:blipFill>
        <p:spPr bwMode="auto">
          <a:xfrm>
            <a:off x="10248149" y="2720126"/>
            <a:ext cx="1200150" cy="1009650"/>
          </a:xfrm>
          <a:prstGeom prst="rect">
            <a:avLst/>
          </a:prstGeom>
          <a:noFill/>
          <a:ln w="9525">
            <a:noFill/>
            <a:miter lim="800000"/>
            <a:headEnd/>
            <a:tailEnd/>
          </a:ln>
          <a:effectLst/>
        </p:spPr>
      </p:pic>
      <p:pic>
        <p:nvPicPr>
          <p:cNvPr id="10245" name="Picture 5"/>
          <p:cNvPicPr>
            <a:picLocks noChangeAspect="1" noChangeArrowheads="1"/>
          </p:cNvPicPr>
          <p:nvPr/>
        </p:nvPicPr>
        <p:blipFill>
          <a:blip r:embed="rId4"/>
          <a:srcRect/>
          <a:stretch>
            <a:fillRect/>
          </a:stretch>
        </p:blipFill>
        <p:spPr bwMode="auto">
          <a:xfrm>
            <a:off x="134713" y="4688114"/>
            <a:ext cx="1084906" cy="1121682"/>
          </a:xfrm>
          <a:prstGeom prst="rect">
            <a:avLst/>
          </a:prstGeom>
          <a:noFill/>
          <a:ln w="9525">
            <a:noFill/>
            <a:miter lim="800000"/>
            <a:headEnd/>
            <a:tailEnd/>
          </a:ln>
          <a:effectLst/>
        </p:spPr>
      </p:pic>
      <p:pic>
        <p:nvPicPr>
          <p:cNvPr id="7" name="Picture 2" descr="C:\Users\HP-RTS\Downloads\WhatsApp Image 2023-08-11 at 1.36.26 PM.png"/>
          <p:cNvPicPr>
            <a:picLocks noChangeAspect="1" noChangeArrowheads="1"/>
          </p:cNvPicPr>
          <p:nvPr/>
        </p:nvPicPr>
        <p:blipFill>
          <a:blip r:embed="rId5"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1728881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86590" y="94594"/>
            <a:ext cx="10363200" cy="633674"/>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4493538"/>
          </a:xfrm>
          <a:prstGeom prst="rect">
            <a:avLst/>
          </a:prstGeom>
        </p:spPr>
        <p:txBody>
          <a:bodyPr wrap="square">
            <a:spAutoFit/>
          </a:bodyPr>
          <a:lstStyle/>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Water over flow is completely under control, Consumption report makes us easier to </a:t>
            </a:r>
          </a:p>
          <a:p>
            <a:pPr algn="just"/>
            <a:r>
              <a:rPr lang="en-US" sz="2200" dirty="0">
                <a:latin typeface="Times New Roman" pitchFamily="18" charset="0"/>
                <a:cs typeface="Times New Roman" pitchFamily="18" charset="0"/>
              </a:rPr>
              <a:t>estimate the total intake. Feeling relaxed of water management. Having plans to extend</a:t>
            </a:r>
          </a:p>
          <a:p>
            <a:pPr algn="just"/>
            <a:r>
              <a:rPr lang="en-US" sz="2200" dirty="0">
                <a:latin typeface="Times New Roman" pitchFamily="18" charset="0"/>
                <a:cs typeface="Times New Roman" pitchFamily="18" charset="0"/>
              </a:rPr>
              <a:t> the solution in other institutions.                                                                   </a:t>
            </a:r>
            <a:r>
              <a:rPr lang="en-US" sz="2200" b="1" dirty="0">
                <a:latin typeface="Times New Roman" pitchFamily="18" charset="0"/>
                <a:cs typeface="Times New Roman" pitchFamily="18" charset="0"/>
              </a:rPr>
              <a:t> - The Indian Public School</a:t>
            </a:r>
          </a:p>
          <a:p>
            <a:endParaRPr lang="en-US" sz="2200" b="1" dirty="0">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By using of I tank our Poultry farm was reducing overflow from tanks. This system has an inbuilt 	motor auto-cut-off &amp; dry run functions, So we Prevents the motor &amp; Electrical persons work is 	reduced and simply working excellent. I will see the tank levels in my mobile itself no need to 	go farm. 	</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Mohanraj</a:t>
            </a:r>
            <a:r>
              <a:rPr lang="en-US" sz="2200" b="1" dirty="0">
                <a:latin typeface="Times New Roman" pitchFamily="18" charset="0"/>
                <a:cs typeface="Times New Roman" pitchFamily="18" charset="0"/>
              </a:rPr>
              <a:t> Poultry Farms</a:t>
            </a:r>
          </a:p>
          <a:p>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				 		</a:t>
            </a:r>
            <a:endParaRPr lang="en-US" sz="2200" b="1"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10334171" y="1745571"/>
            <a:ext cx="1262743" cy="638175"/>
          </a:xfrm>
          <a:prstGeom prst="rect">
            <a:avLst/>
          </a:prstGeom>
          <a:noFill/>
          <a:ln w="9525">
            <a:noFill/>
            <a:miter lim="800000"/>
            <a:headEnd/>
            <a:tailEnd/>
          </a:ln>
          <a:effectLst/>
        </p:spPr>
      </p:pic>
      <p:pic>
        <p:nvPicPr>
          <p:cNvPr id="12" name="Picture 11" descr="141819608-hen-incubate-eggs-in-the-nest-on-white-background-vector-logo-chicken-farm-products-from-chicken-mea.jpg"/>
          <p:cNvPicPr>
            <a:picLocks noChangeAspect="1"/>
          </p:cNvPicPr>
          <p:nvPr/>
        </p:nvPicPr>
        <p:blipFill>
          <a:blip r:embed="rId3" cstate="print"/>
          <a:stretch>
            <a:fillRect/>
          </a:stretch>
        </p:blipFill>
        <p:spPr>
          <a:xfrm>
            <a:off x="208342" y="3561115"/>
            <a:ext cx="996043" cy="1068756"/>
          </a:xfrm>
          <a:prstGeom prst="rect">
            <a:avLst/>
          </a:prstGeom>
        </p:spPr>
      </p:pic>
      <p:pic>
        <p:nvPicPr>
          <p:cNvPr id="6"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2303516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E2826-7339-461A-8458-A22F73DD3BC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822960" y="141508"/>
            <a:ext cx="4549025" cy="6545043"/>
          </a:xfrm>
          <a:prstGeom prst="rect">
            <a:avLst/>
          </a:prstGeom>
        </p:spPr>
      </p:pic>
      <p:pic>
        <p:nvPicPr>
          <p:cNvPr id="5" name="Picture 4">
            <a:extLst>
              <a:ext uri="{FF2B5EF4-FFF2-40B4-BE49-F238E27FC236}">
                <a16:creationId xmlns:a16="http://schemas.microsoft.com/office/drawing/2014/main" id="{681D01FF-6E9F-4056-B905-24F5CD3FA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7969" y="119858"/>
            <a:ext cx="4572001" cy="6588067"/>
          </a:xfrm>
          <a:prstGeom prst="rect">
            <a:avLst/>
          </a:prstGeom>
        </p:spPr>
      </p:pic>
      <p:sp>
        <p:nvSpPr>
          <p:cNvPr id="4" name="Rectangle 3"/>
          <p:cNvSpPr/>
          <p:nvPr/>
        </p:nvSpPr>
        <p:spPr>
          <a:xfrm>
            <a:off x="5772150" y="114300"/>
            <a:ext cx="480060" cy="6583680"/>
          </a:xfrm>
          <a:prstGeom prst="rect">
            <a:avLst/>
          </a:prstGeom>
          <a:solidFill>
            <a:srgbClr val="00CC6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r>
              <a:rPr lang="en-US" sz="1550" b="1" dirty="0">
                <a:solidFill>
                  <a:schemeClr val="tx1"/>
                </a:solidFill>
              </a:rPr>
              <a:t>TESTIMONIAL CERTIFICATE</a:t>
            </a:r>
          </a:p>
        </p:txBody>
      </p:sp>
    </p:spTree>
    <p:extLst>
      <p:ext uri="{BB962C8B-B14F-4D97-AF65-F5344CB8AC3E}">
        <p14:creationId xmlns:p14="http://schemas.microsoft.com/office/powerpoint/2010/main" val="6216946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AF44A7-0A0B-4E5C-8C20-C3C28A7A9361}"/>
              </a:ext>
            </a:extLst>
          </p:cNvPr>
          <p:cNvSpPr>
            <a:spLocks noGrp="1"/>
          </p:cNvSpPr>
          <p:nvPr>
            <p:ph type="ctrTitle"/>
          </p:nvPr>
        </p:nvSpPr>
        <p:spPr/>
        <p:txBody>
          <a:bodyPr>
            <a:normAutofit/>
          </a:bodyPr>
          <a:lstStyle/>
          <a:p>
            <a:r>
              <a:rPr lang="en-US" sz="4400" b="1" dirty="0">
                <a:latin typeface="Times New Roman" pitchFamily="18" charset="0"/>
                <a:cs typeface="Times New Roman" pitchFamily="18" charset="0"/>
              </a:rPr>
              <a:t>THANK YOU FOR THE OPPORTUNITY </a:t>
            </a:r>
            <a:endParaRPr lang="en-IN" sz="44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64FFA02F-96A8-41A7-A0E8-F5DBCDBB8E11}"/>
              </a:ext>
            </a:extLst>
          </p:cNvPr>
          <p:cNvSpPr txBox="1"/>
          <p:nvPr/>
        </p:nvSpPr>
        <p:spPr>
          <a:xfrm>
            <a:off x="3816366" y="3480839"/>
            <a:ext cx="5082101" cy="2800767"/>
          </a:xfrm>
          <a:prstGeom prst="rect">
            <a:avLst/>
          </a:prstGeom>
          <a:noFill/>
        </p:spPr>
        <p:txBody>
          <a:bodyPr wrap="square" rtlCol="0">
            <a:spAutoFit/>
          </a:bodyPr>
          <a:lstStyle/>
          <a:p>
            <a:pPr algn="ctr"/>
            <a:r>
              <a:rPr lang="en-IN" sz="3200" b="1" dirty="0">
                <a:solidFill>
                  <a:srgbClr val="00B050"/>
                </a:solidFill>
                <a:latin typeface="Times New Roman" pitchFamily="18" charset="0"/>
                <a:cs typeface="Times New Roman" pitchFamily="18" charset="0"/>
              </a:rPr>
              <a:t>REAL TECH SYSTEMS</a:t>
            </a:r>
          </a:p>
          <a:p>
            <a:pPr algn="ctr"/>
            <a:r>
              <a:rPr lang="en-IN" sz="2400" b="1" dirty="0">
                <a:solidFill>
                  <a:srgbClr val="002060"/>
                </a:solidFill>
                <a:latin typeface="Times New Roman" pitchFamily="18" charset="0"/>
                <a:cs typeface="Times New Roman" pitchFamily="18" charset="0"/>
              </a:rPr>
              <a:t>9, Erode Road Cross Street -1, </a:t>
            </a:r>
          </a:p>
          <a:p>
            <a:pPr algn="ctr"/>
            <a:r>
              <a:rPr lang="en-IN" sz="2400" b="1" dirty="0">
                <a:solidFill>
                  <a:srgbClr val="002060"/>
                </a:solidFill>
                <a:latin typeface="Times New Roman" pitchFamily="18" charset="0"/>
                <a:cs typeface="Times New Roman" pitchFamily="18" charset="0"/>
              </a:rPr>
              <a:t>Vengamedu, Perundurai, </a:t>
            </a:r>
          </a:p>
          <a:p>
            <a:pPr algn="ctr"/>
            <a:r>
              <a:rPr lang="en-IN" sz="2400" b="1" dirty="0">
                <a:solidFill>
                  <a:srgbClr val="002060"/>
                </a:solidFill>
                <a:latin typeface="Times New Roman" pitchFamily="18" charset="0"/>
                <a:cs typeface="Times New Roman" pitchFamily="18" charset="0"/>
              </a:rPr>
              <a:t>Tamil Nadu, 638052. </a:t>
            </a:r>
          </a:p>
          <a:p>
            <a:pPr algn="ctr"/>
            <a:r>
              <a:rPr lang="en-IN" sz="2400" b="1" dirty="0">
                <a:solidFill>
                  <a:srgbClr val="002060"/>
                </a:solidFill>
                <a:latin typeface="Times New Roman" pitchFamily="18" charset="0"/>
                <a:cs typeface="Times New Roman" pitchFamily="18" charset="0"/>
                <a:hlinkClick r:id="rId2"/>
              </a:rPr>
              <a:t>www.realtech.in</a:t>
            </a:r>
            <a:endParaRPr lang="en-IN" sz="2400" b="1" dirty="0">
              <a:solidFill>
                <a:srgbClr val="002060"/>
              </a:solidFill>
              <a:latin typeface="Times New Roman" pitchFamily="18" charset="0"/>
              <a:cs typeface="Times New Roman" pitchFamily="18" charset="0"/>
            </a:endParaRPr>
          </a:p>
          <a:p>
            <a:pPr algn="ctr"/>
            <a:endParaRPr lang="en-IN" sz="2400" b="1" dirty="0">
              <a:solidFill>
                <a:srgbClr val="002060"/>
              </a:solidFill>
              <a:latin typeface="Times New Roman" pitchFamily="18" charset="0"/>
              <a:cs typeface="Times New Roman" pitchFamily="18" charset="0"/>
            </a:endParaRPr>
          </a:p>
          <a:p>
            <a:pPr algn="ctr"/>
            <a:r>
              <a:rPr lang="en-IN" sz="2400" b="1" dirty="0">
                <a:solidFill>
                  <a:srgbClr val="002060"/>
                </a:solidFill>
                <a:latin typeface="Times New Roman" pitchFamily="18" charset="0"/>
                <a:cs typeface="Times New Roman" pitchFamily="18" charset="0"/>
              </a:rPr>
              <a:t>GSTIN: 33AAIFR6845A1ZD</a:t>
            </a:r>
            <a:r>
              <a:rPr lang="en-IN" b="1" dirty="0">
                <a:solidFill>
                  <a:srgbClr val="002060"/>
                </a:solidFill>
                <a:latin typeface="Times New Roman" pitchFamily="18" charset="0"/>
                <a:cs typeface="Times New Roman" pitchFamily="18" charset="0"/>
              </a:rPr>
              <a:t>.</a:t>
            </a:r>
          </a:p>
        </p:txBody>
      </p:sp>
      <p:pic>
        <p:nvPicPr>
          <p:cNvPr id="4"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0556260" y="5969480"/>
            <a:ext cx="1371636" cy="675366"/>
          </a:xfrm>
          <a:prstGeom prst="rect">
            <a:avLst/>
          </a:prstGeom>
          <a:noFill/>
        </p:spPr>
      </p:pic>
    </p:spTree>
    <p:extLst>
      <p:ext uri="{BB962C8B-B14F-4D97-AF65-F5344CB8AC3E}">
        <p14:creationId xmlns:p14="http://schemas.microsoft.com/office/powerpoint/2010/main" val="42591657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 Tank">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 Tank</Template>
  <TotalTime>13259</TotalTime>
  <Words>3675</Words>
  <Application>Microsoft Office PowerPoint</Application>
  <PresentationFormat>Widescreen</PresentationFormat>
  <Paragraphs>987</Paragraphs>
  <Slides>48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Times New Roman</vt:lpstr>
      <vt:lpstr>Wingdings 2</vt:lpstr>
      <vt:lpstr>I Tank</vt:lpstr>
      <vt:lpstr>YYYYYYYYYYYY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FLOWMETER – TEATMENT PLANT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THE OPPORTUNITY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RTS - iTANK</dc:title>
  <dc:creator>RTS - iTANK</dc:creator>
  <cp:lastModifiedBy>DELL</cp:lastModifiedBy>
  <cp:revision>2002</cp:revision>
  <cp:lastPrinted>2025-11-06T06:59:30Z</cp:lastPrinted>
  <dcterms:created xsi:type="dcterms:W3CDTF">2020-03-06T10:51:36Z</dcterms:created>
  <dcterms:modified xsi:type="dcterms:W3CDTF">2026-08-17T09:57:22Z</dcterms:modified>
</cp:coreProperties>
</file>